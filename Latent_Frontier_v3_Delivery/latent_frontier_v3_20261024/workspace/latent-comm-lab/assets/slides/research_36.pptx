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e0e1caa38a462b" /><Relationship Type="http://schemas.openxmlformats.org/officeDocument/2006/relationships/extended-properties" Target="/docProps/app.xml" Id="R4b345bc73fae4d9e" /><Relationship Type="http://schemas.openxmlformats.org/officeDocument/2006/relationships/officeDocument" Target="/ppt/presentation.xml" Id="R126643387b7b4d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359027082247cb"/>
  </p:sldMasterIdLst>
  <p:notesMasterIdLst>
    <p:notesMasterId xmlns:r="http://schemas.openxmlformats.org/officeDocument/2006/relationships" r:id="Rae10cb07a9a44272"/>
  </p:notesMasterIdLst>
  <p:sldIdLst>
    <p:sldId xmlns:r="http://schemas.openxmlformats.org/officeDocument/2006/relationships" id="256" r:id="Re6ff33b994834129"/>
    <p:sldId xmlns:r="http://schemas.openxmlformats.org/officeDocument/2006/relationships" id="257" r:id="Rc6919a4b63a14bca"/>
    <p:sldId xmlns:r="http://schemas.openxmlformats.org/officeDocument/2006/relationships" id="258" r:id="R744d9d65e0cd494c"/>
    <p:sldId xmlns:r="http://schemas.openxmlformats.org/officeDocument/2006/relationships" id="259" r:id="R064b53a3003444aa"/>
    <p:sldId xmlns:r="http://schemas.openxmlformats.org/officeDocument/2006/relationships" id="260" r:id="R5f3cb4ac83624aba"/>
    <p:sldId xmlns:r="http://schemas.openxmlformats.org/officeDocument/2006/relationships" id="261" r:id="R4ce9595bdbf04718"/>
    <p:sldId xmlns:r="http://schemas.openxmlformats.org/officeDocument/2006/relationships" id="262" r:id="R2bfbc4e37de449a3"/>
    <p:sldId xmlns:r="http://schemas.openxmlformats.org/officeDocument/2006/relationships" id="263" r:id="R89c57595f9314e80"/>
    <p:sldId xmlns:r="http://schemas.openxmlformats.org/officeDocument/2006/relationships" id="264" r:id="R0d8360a9e99d445c"/>
    <p:sldId xmlns:r="http://schemas.openxmlformats.org/officeDocument/2006/relationships" id="265" r:id="Rc362302a61ae4233"/>
    <p:sldId xmlns:r="http://schemas.openxmlformats.org/officeDocument/2006/relationships" id="266" r:id="R6ba770443c684de9"/>
    <p:sldId xmlns:r="http://schemas.openxmlformats.org/officeDocument/2006/relationships" id="267" r:id="Rfd2909d7d1f046d2"/>
    <p:sldId xmlns:r="http://schemas.openxmlformats.org/officeDocument/2006/relationships" id="268" r:id="R9b2820d4a8dc464c"/>
    <p:sldId xmlns:r="http://schemas.openxmlformats.org/officeDocument/2006/relationships" id="269" r:id="Rea169943207a4e45"/>
    <p:sldId xmlns:r="http://schemas.openxmlformats.org/officeDocument/2006/relationships" id="270" r:id="R64a1486da7d543c8"/>
    <p:sldId xmlns:r="http://schemas.openxmlformats.org/officeDocument/2006/relationships" id="271" r:id="Rc760672100aa4e53"/>
    <p:sldId xmlns:r="http://schemas.openxmlformats.org/officeDocument/2006/relationships" id="272" r:id="Rfa650eb4810542d5"/>
    <p:sldId xmlns:r="http://schemas.openxmlformats.org/officeDocument/2006/relationships" id="273" r:id="Rcd6d203786594823"/>
    <p:sldId xmlns:r="http://schemas.openxmlformats.org/officeDocument/2006/relationships" id="274" r:id="R59c03502372f4a5a"/>
    <p:sldId xmlns:r="http://schemas.openxmlformats.org/officeDocument/2006/relationships" id="275" r:id="R8ab22a2305bf4536"/>
    <p:sldId xmlns:r="http://schemas.openxmlformats.org/officeDocument/2006/relationships" id="276" r:id="R70b9cec6985d4b9f"/>
    <p:sldId xmlns:r="http://schemas.openxmlformats.org/officeDocument/2006/relationships" id="277" r:id="R47e1195c13f64383"/>
    <p:sldId xmlns:r="http://schemas.openxmlformats.org/officeDocument/2006/relationships" id="278" r:id="R8a2348f39c7844a4"/>
    <p:sldId xmlns:r="http://schemas.openxmlformats.org/officeDocument/2006/relationships" id="279" r:id="R5fa79a0b07c54868"/>
    <p:sldId xmlns:r="http://schemas.openxmlformats.org/officeDocument/2006/relationships" id="280" r:id="Rad099aa8563f42fb"/>
    <p:sldId xmlns:r="http://schemas.openxmlformats.org/officeDocument/2006/relationships" id="281" r:id="R3cfe574ec5394231"/>
    <p:sldId xmlns:r="http://schemas.openxmlformats.org/officeDocument/2006/relationships" id="282" r:id="Rce319787fe3c401c"/>
    <p:sldId xmlns:r="http://schemas.openxmlformats.org/officeDocument/2006/relationships" id="283" r:id="Rd93fb5f17bcd4585"/>
    <p:sldId xmlns:r="http://schemas.openxmlformats.org/officeDocument/2006/relationships" id="284" r:id="Rf9330bec8b4b4840"/>
    <p:sldId xmlns:r="http://schemas.openxmlformats.org/officeDocument/2006/relationships" id="285" r:id="R1820ba54b5df45e0"/>
    <p:sldId xmlns:r="http://schemas.openxmlformats.org/officeDocument/2006/relationships" id="286" r:id="Rb1fa85bb26634aab"/>
    <p:sldId xmlns:r="http://schemas.openxmlformats.org/officeDocument/2006/relationships" id="287" r:id="Re0d63c9fdb5d442f"/>
    <p:sldId xmlns:r="http://schemas.openxmlformats.org/officeDocument/2006/relationships" id="288" r:id="Rd6ac92d88ffc4281"/>
    <p:sldId xmlns:r="http://schemas.openxmlformats.org/officeDocument/2006/relationships" id="289" r:id="R07bae611e68b4459"/>
    <p:sldId xmlns:r="http://schemas.openxmlformats.org/officeDocument/2006/relationships" id="290" r:id="R91dc1a248cc94c38"/>
    <p:sldId xmlns:r="http://schemas.openxmlformats.org/officeDocument/2006/relationships" id="291" r:id="Rda06d077acc046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e572a7cd7a40ac" /><Relationship Type="http://schemas.openxmlformats.org/officeDocument/2006/relationships/slideMaster" Target="/ppt/slideMasters/slideMaster1.xml" Id="R2e359027082247cb" /><Relationship Type="http://schemas.openxmlformats.org/officeDocument/2006/relationships/notesMaster" Target="/ppt/notesMasters/notesMaster1.xml" Id="Rae10cb07a9a44272" /><Relationship Type="http://schemas.openxmlformats.org/officeDocument/2006/relationships/presProps" Target="/ppt/presProps.xml" Id="R44effc2e076940f1" /><Relationship Type="http://schemas.openxmlformats.org/officeDocument/2006/relationships/tableStyles" Target="/ppt/tableStyles.xml" Id="Rd534951cb04d4aba" /><Relationship Type="http://schemas.openxmlformats.org/officeDocument/2006/relationships/slide" Target="/ppt/slides/slide1.xml" Id="Re6ff33b994834129" /><Relationship Type="http://schemas.openxmlformats.org/officeDocument/2006/relationships/slide" Target="/ppt/slides/slide2.xml" Id="Rc6919a4b63a14bca" /><Relationship Type="http://schemas.openxmlformats.org/officeDocument/2006/relationships/slide" Target="/ppt/slides/slide3.xml" Id="R744d9d65e0cd494c" /><Relationship Type="http://schemas.openxmlformats.org/officeDocument/2006/relationships/slide" Target="/ppt/slides/slide4.xml" Id="R064b53a3003444aa" /><Relationship Type="http://schemas.openxmlformats.org/officeDocument/2006/relationships/slide" Target="/ppt/slides/slide5.xml" Id="R5f3cb4ac83624aba" /><Relationship Type="http://schemas.openxmlformats.org/officeDocument/2006/relationships/slide" Target="/ppt/slides/slide6.xml" Id="R4ce9595bdbf04718" /><Relationship Type="http://schemas.openxmlformats.org/officeDocument/2006/relationships/slide" Target="/ppt/slides/slide7.xml" Id="R2bfbc4e37de449a3" /><Relationship Type="http://schemas.openxmlformats.org/officeDocument/2006/relationships/slide" Target="/ppt/slides/slide8.xml" Id="R89c57595f9314e80" /><Relationship Type="http://schemas.openxmlformats.org/officeDocument/2006/relationships/slide" Target="/ppt/slides/slide9.xml" Id="R0d8360a9e99d445c" /><Relationship Type="http://schemas.openxmlformats.org/officeDocument/2006/relationships/slide" Target="/ppt/slides/slide10.xml" Id="Rc362302a61ae4233" /><Relationship Type="http://schemas.openxmlformats.org/officeDocument/2006/relationships/slide" Target="/ppt/slides/slide11.xml" Id="R6ba770443c684de9" /><Relationship Type="http://schemas.openxmlformats.org/officeDocument/2006/relationships/slide" Target="/ppt/slides/slide12.xml" Id="Rfd2909d7d1f046d2" /><Relationship Type="http://schemas.openxmlformats.org/officeDocument/2006/relationships/slide" Target="/ppt/slides/slide13.xml" Id="R9b2820d4a8dc464c" /><Relationship Type="http://schemas.openxmlformats.org/officeDocument/2006/relationships/slide" Target="/ppt/slides/slide14.xml" Id="Rea169943207a4e45" /><Relationship Type="http://schemas.openxmlformats.org/officeDocument/2006/relationships/slide" Target="/ppt/slides/slide15.xml" Id="R64a1486da7d543c8" /><Relationship Type="http://schemas.openxmlformats.org/officeDocument/2006/relationships/slide" Target="/ppt/slides/slide16.xml" Id="Rc760672100aa4e53" /><Relationship Type="http://schemas.openxmlformats.org/officeDocument/2006/relationships/slide" Target="/ppt/slides/slide17.xml" Id="Rfa650eb4810542d5" /><Relationship Type="http://schemas.openxmlformats.org/officeDocument/2006/relationships/slide" Target="/ppt/slides/slide18.xml" Id="Rcd6d203786594823" /><Relationship Type="http://schemas.openxmlformats.org/officeDocument/2006/relationships/slide" Target="/ppt/slides/slide19.xml" Id="R59c03502372f4a5a" /><Relationship Type="http://schemas.openxmlformats.org/officeDocument/2006/relationships/slide" Target="/ppt/slides/slide20.xml" Id="R8ab22a2305bf4536" /><Relationship Type="http://schemas.openxmlformats.org/officeDocument/2006/relationships/slide" Target="/ppt/slides/slide21.xml" Id="R70b9cec6985d4b9f" /><Relationship Type="http://schemas.openxmlformats.org/officeDocument/2006/relationships/slide" Target="/ppt/slides/slide22.xml" Id="R47e1195c13f64383" /><Relationship Type="http://schemas.openxmlformats.org/officeDocument/2006/relationships/slide" Target="/ppt/slides/slide23.xml" Id="R8a2348f39c7844a4" /><Relationship Type="http://schemas.openxmlformats.org/officeDocument/2006/relationships/slide" Target="/ppt/slides/slide24.xml" Id="R5fa79a0b07c54868" /><Relationship Type="http://schemas.openxmlformats.org/officeDocument/2006/relationships/slide" Target="/ppt/slides/slide25.xml" Id="Rad099aa8563f42fb" /><Relationship Type="http://schemas.openxmlformats.org/officeDocument/2006/relationships/slide" Target="/ppt/slides/slide26.xml" Id="R3cfe574ec5394231" /><Relationship Type="http://schemas.openxmlformats.org/officeDocument/2006/relationships/slide" Target="/ppt/slides/slide27.xml" Id="Rce319787fe3c401c" /><Relationship Type="http://schemas.openxmlformats.org/officeDocument/2006/relationships/slide" Target="/ppt/slides/slide28.xml" Id="Rd93fb5f17bcd4585" /><Relationship Type="http://schemas.openxmlformats.org/officeDocument/2006/relationships/slide" Target="/ppt/slides/slide29.xml" Id="Rf9330bec8b4b4840" /><Relationship Type="http://schemas.openxmlformats.org/officeDocument/2006/relationships/slide" Target="/ppt/slides/slide30.xml" Id="R1820ba54b5df45e0" /><Relationship Type="http://schemas.openxmlformats.org/officeDocument/2006/relationships/slide" Target="/ppt/slides/slide31.xml" Id="Rb1fa85bb26634aab" /><Relationship Type="http://schemas.openxmlformats.org/officeDocument/2006/relationships/slide" Target="/ppt/slides/slide32.xml" Id="Re0d63c9fdb5d442f" /><Relationship Type="http://schemas.openxmlformats.org/officeDocument/2006/relationships/slide" Target="/ppt/slides/slide33.xml" Id="Rd6ac92d88ffc4281" /><Relationship Type="http://schemas.openxmlformats.org/officeDocument/2006/relationships/slide" Target="/ppt/slides/slide34.xml" Id="R07bae611e68b4459" /><Relationship Type="http://schemas.openxmlformats.org/officeDocument/2006/relationships/slide" Target="/ppt/slides/slide35.xml" Id="R91dc1a248cc94c38" /><Relationship Type="http://schemas.openxmlformats.org/officeDocument/2006/relationships/slide" Target="/ppt/slides/slide36.xml" Id="Rda06d077acc046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a9da5bd8ae4b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629a00de3e4fc8" /><Relationship Type="http://schemas.openxmlformats.org/officeDocument/2006/relationships/notesMaster" Target="/ppt/notesMasters/notesMaster1.xml" Id="Re9243f076f1e42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d45b2c9fac4e6c" /><Relationship Type="http://schemas.openxmlformats.org/officeDocument/2006/relationships/notesMaster" Target="/ppt/notesMasters/notesMaster1.xml" Id="Re679b01d5c894c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61191b8e5543c5" /><Relationship Type="http://schemas.openxmlformats.org/officeDocument/2006/relationships/notesMaster" Target="/ppt/notesMasters/notesMaster1.xml" Id="R0be517721ff240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88c60ed19b4164" /><Relationship Type="http://schemas.openxmlformats.org/officeDocument/2006/relationships/notesMaster" Target="/ppt/notesMasters/notesMaster1.xml" Id="Re9128534094247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f28f7d2d554912" /><Relationship Type="http://schemas.openxmlformats.org/officeDocument/2006/relationships/notesMaster" Target="/ppt/notesMasters/notesMaster1.xml" Id="R93be65f39a144e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a3593bf75148a6" /><Relationship Type="http://schemas.openxmlformats.org/officeDocument/2006/relationships/notesMaster" Target="/ppt/notesMasters/notesMaster1.xml" Id="Rbd7aa293484e49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f7533983d74f35" /><Relationship Type="http://schemas.openxmlformats.org/officeDocument/2006/relationships/notesMaster" Target="/ppt/notesMasters/notesMaster1.xml" Id="Ra6ff0da53c6946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51913e0e8c464f" /><Relationship Type="http://schemas.openxmlformats.org/officeDocument/2006/relationships/notesMaster" Target="/ppt/notesMasters/notesMaster1.xml" Id="Rb9b3c3909fb64a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deef6203c64503" /><Relationship Type="http://schemas.openxmlformats.org/officeDocument/2006/relationships/notesMaster" Target="/ppt/notesMasters/notesMaster1.xml" Id="R8c4f999d512948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2c583b17c8420d" /><Relationship Type="http://schemas.openxmlformats.org/officeDocument/2006/relationships/notesMaster" Target="/ppt/notesMasters/notesMaster1.xml" Id="R6853ae356c1348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e149b601ee4ca0" /><Relationship Type="http://schemas.openxmlformats.org/officeDocument/2006/relationships/notesMaster" Target="/ppt/notesMasters/notesMaster1.xml" Id="Rbaba87b415034e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8a145049074ab0" /><Relationship Type="http://schemas.openxmlformats.org/officeDocument/2006/relationships/notesMaster" Target="/ppt/notesMasters/notesMaster1.xml" Id="Ra336c8592d2f46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549c0d1a37d4b17" /><Relationship Type="http://schemas.openxmlformats.org/officeDocument/2006/relationships/notesMaster" Target="/ppt/notesMasters/notesMaster1.xml" Id="Rf99b026073164f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c615c4c5ca4946" /><Relationship Type="http://schemas.openxmlformats.org/officeDocument/2006/relationships/notesMaster" Target="/ppt/notesMasters/notesMaster1.xml" Id="Rf64d3548d7d04c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a6ea0f7e8bf4ce0" /><Relationship Type="http://schemas.openxmlformats.org/officeDocument/2006/relationships/notesMaster" Target="/ppt/notesMasters/notesMaster1.xml" Id="R0af2e7593a7c42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4cd89174e8e4bcb" /><Relationship Type="http://schemas.openxmlformats.org/officeDocument/2006/relationships/notesMaster" Target="/ppt/notesMasters/notesMaster1.xml" Id="R5bdf2437f4824cb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00e68c585124814" /><Relationship Type="http://schemas.openxmlformats.org/officeDocument/2006/relationships/notesMaster" Target="/ppt/notesMasters/notesMaster1.xml" Id="Ra8aa9a64e948495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57ea419adf4c05" /><Relationship Type="http://schemas.openxmlformats.org/officeDocument/2006/relationships/notesMaster" Target="/ppt/notesMasters/notesMaster1.xml" Id="R83d5f966ebe8438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4f327a4b1eb48cb" /><Relationship Type="http://schemas.openxmlformats.org/officeDocument/2006/relationships/notesMaster" Target="/ppt/notesMasters/notesMaster1.xml" Id="Rf88838931cf748d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89f557ea79948dd" /><Relationship Type="http://schemas.openxmlformats.org/officeDocument/2006/relationships/notesMaster" Target="/ppt/notesMasters/notesMaster1.xml" Id="R8789f670da5d48a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ab41969232f48ca" /><Relationship Type="http://schemas.openxmlformats.org/officeDocument/2006/relationships/notesMaster" Target="/ppt/notesMasters/notesMaster1.xml" Id="Ra98ed379d20e4ca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19dd4d8c81b42a6" /><Relationship Type="http://schemas.openxmlformats.org/officeDocument/2006/relationships/notesMaster" Target="/ppt/notesMasters/notesMaster1.xml" Id="R873c7d97b6f84e5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e3405f01a1946bc" /><Relationship Type="http://schemas.openxmlformats.org/officeDocument/2006/relationships/notesMaster" Target="/ppt/notesMasters/notesMaster1.xml" Id="Rcca2687227944c6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0bcaaad0bf44b9d" /><Relationship Type="http://schemas.openxmlformats.org/officeDocument/2006/relationships/notesMaster" Target="/ppt/notesMasters/notesMaster1.xml" Id="R36049ced8744486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66dd303fa0f4a9f" /><Relationship Type="http://schemas.openxmlformats.org/officeDocument/2006/relationships/notesMaster" Target="/ppt/notesMasters/notesMaster1.xml" Id="R766b3c8facf9463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850b3a3b19e4c97" /><Relationship Type="http://schemas.openxmlformats.org/officeDocument/2006/relationships/notesMaster" Target="/ppt/notesMasters/notesMaster1.xml" Id="R8abbde9a31884b3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c1912fd8afa4bc8" /><Relationship Type="http://schemas.openxmlformats.org/officeDocument/2006/relationships/notesMaster" Target="/ppt/notesMasters/notesMaster1.xml" Id="Rcaf0e32feae94ea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4237a93f91e43a0" /><Relationship Type="http://schemas.openxmlformats.org/officeDocument/2006/relationships/notesMaster" Target="/ppt/notesMasters/notesMaster1.xml" Id="R040547b0a3f0442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751ffa7cbe24b3f" /><Relationship Type="http://schemas.openxmlformats.org/officeDocument/2006/relationships/notesMaster" Target="/ppt/notesMasters/notesMaster1.xml" Id="Rc0916de6e5904b6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39d1a56ee22432a" /><Relationship Type="http://schemas.openxmlformats.org/officeDocument/2006/relationships/notesMaster" Target="/ppt/notesMasters/notesMaster1.xml" Id="R019e516276c64f9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95a5a8c38db4aea" /><Relationship Type="http://schemas.openxmlformats.org/officeDocument/2006/relationships/notesMaster" Target="/ppt/notesMasters/notesMaster1.xml" Id="Red13399c9d5d4f5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cd8b50cbd354fa3" /><Relationship Type="http://schemas.openxmlformats.org/officeDocument/2006/relationships/notesMaster" Target="/ppt/notesMasters/notesMaster1.xml" Id="R88e7e0942bdc457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1d004ec2a5643ab" /><Relationship Type="http://schemas.openxmlformats.org/officeDocument/2006/relationships/notesMaster" Target="/ppt/notesMasters/notesMaster1.xml" Id="R0d02b422718c4ed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119da69a7e742dd" /><Relationship Type="http://schemas.openxmlformats.org/officeDocument/2006/relationships/notesMaster" Target="/ppt/notesMasters/notesMaster1.xml" Id="Rbf4077f0ce8947e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c09b48dbd2e4dce" /><Relationship Type="http://schemas.openxmlformats.org/officeDocument/2006/relationships/notesMaster" Target="/ppt/notesMasters/notesMaster1.xml" Id="Reb64d0269f30442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59d152adf6a4d67" /><Relationship Type="http://schemas.openxmlformats.org/officeDocument/2006/relationships/notesMaster" Target="/ppt/notesMasters/notesMaster1.xml" Id="R9c0b3102895a47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这份计划不是要证明两个现有模型现在能涨多少分，而是提出一套更大的研究对象：交流可否改变认知的组织方式。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原稿画面要求：左侧消息箭头，右侧概念/问题/学习/世界四对象；封面角标“研究提案·未做模型实测”。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media/01_36页研究版逐页脚本.md#第01页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开放研究内部结构，不等于开放账号或权限。模型可以改内部概念，但不能私自改用户任务。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原稿画面要求：四个锁依次打开，外层权限/用户目标边框保持不动。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media/01_36页研究版逐页脚本.md#第02页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保留原方案。它使接收者得到可继续操作的东西，而不是只能读一段解释。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原稿画面要求：状态、算子、响应、信念、约束、续接六类小图。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media/01_36页研究版逐页脚本.md#第03页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最关键的跃迁不是发送更好的向量，而是扩大系统能够表达、提出和学习的对象。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原稿画面要求：原有状态空间网格上出现新轴、新类型和新操作。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media/01_36页研究版逐页脚本.md#第04页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图谱表示研究覆盖，不表示性能排名。各机制允许不同数学语义，不强行压成一种接口。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原稿画面要求：三层图谱：基础、认知结构、终局；H编号可读。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media/01_36页研究版逐页脚本.md#第05页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两方都叫它钥匙，并不意味着现有语言足以解释行为差异。新概念需要带定义和后果。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原稿画面要求：钥匙例：形状相同，权限有效期不同。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media/01_36页研究版逐页脚本.md#第06页</a:t>
            </a:r>
          </a:p>
          <a:p xmlns:a="http://schemas.openxmlformats.org/drawingml/2006/main">
            <a:r>
              <a:t>hypotheses/H26_不可全局拼合的语义层.md</a:t>
            </a:r>
          </a:p>
          <a:p xmlns:a="http://schemas.openxmlformats.org/drawingml/2006/main">
            <a:r>
              <a:t>hypotheses/H27_交互中诞生的新概念.md</a:t>
            </a:r>
          </a:p>
          <a:p xmlns:a="http://schemas.openxmlformats.org/drawingml/2006/main">
            <a:r>
              <a:t>hypotheses/H36_以分歧生产结构的认知博弈.md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https://arxiv.org/abs/2202.04579</a:t>
            </a:r>
          </a:p>
          <a:p xmlns:a="http://schemas.openxmlformats.org/drawingml/2006/main">
            <a:r>
              <a:t>https://arxiv.org/abs/2605.11178</a:t>
            </a:r>
          </a:p>
          <a:p xmlns:a="http://schemas.openxmlformats.org/drawingml/2006/main">
            <a:r>
              <a:t>https://arxiv.org/abs/2006.08381</a:t>
            </a:r>
          </a:p>
          <a:p xmlns:a="http://schemas.openxmlformats.org/drawingml/2006/main">
            <a:r>
              <a:t>https://dspace.mit.edu/entities/publication/5377b306-4ecc-4687-b1f5-78cbb4a0543a</a:t>
            </a:r>
          </a:p>
          <a:p xmlns:a="http://schemas.openxmlformats.org/drawingml/2006/main">
            <a:r>
              <a:t>https://people.csail.mit.edu/asolar/SynthesisCourse2020/Lecture10.htm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这不是模型实验。解析例说明：有些冲突无法通过平均消失。系统需要保留冲突结构。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原稿画面要求：三点约束x−y=0、y−z=0、z−x=1，最后显示0=1。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media/01_36页研究版逐页脚本.md#第07页</a:t>
            </a:r>
          </a:p>
          <a:p xmlns:a="http://schemas.openxmlformats.org/drawingml/2006/main">
            <a:r>
              <a:t>hypotheses/H26_不可全局拼合的语义层.md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https://arxiv.org/abs/2202.04579</a:t>
            </a:r>
          </a:p>
          <a:p xmlns:a="http://schemas.openxmlformats.org/drawingml/2006/main">
            <a:r>
              <a:t>https://arxiv.org/abs/2605.11178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多一位批评者不自动增加真相。反例要说明在哪个域内、怎样使原命题失败。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原稿画面要求：命题→候选反例→执行检查→修订，文字争论旁路标未证。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media/01_36页研究版逐页脚本.md#第08页</a:t>
            </a:r>
          </a:p>
          <a:p xmlns:a="http://schemas.openxmlformats.org/drawingml/2006/main">
            <a:r>
              <a:t>hypotheses/H36_以分歧生产结构的认知博弈.md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https://people.csail.mit.edu/asolar/SynthesisCourse2020/Lecture10.htm</a:t>
            </a:r>
          </a:p>
          <a:p xmlns:a="http://schemas.openxmlformats.org/drawingml/2006/main">
            <a:r>
              <a:t>https://arxiv.org/abs/2006.08381</a:t>
            </a:r>
          </a:p>
          <a:p xmlns:a="http://schemas.openxmlformats.org/drawingml/2006/main">
            <a:r>
              <a:t>https://dspace.mit.edu/entities/publication/5377b306-4ecc-4687-b1f5-78cbb4a0543a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只给失败钥匙起一个新名字没有价值。引入有效期条件，才增加了可区分的结构。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原稿画面要求：钥匙授权时间谓词AST与两个输出。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media/01_36页研究版逐页脚本.md#第09页</a:t>
            </a:r>
          </a:p>
          <a:p xmlns:a="http://schemas.openxmlformats.org/drawingml/2006/main">
            <a:r>
              <a:t>hypotheses/H27_交互中诞生的新概念.md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https://arxiv.org/abs/2006.08381</a:t>
            </a:r>
          </a:p>
          <a:p xmlns:a="http://schemas.openxmlformats.org/drawingml/2006/main">
            <a:r>
              <a:t>https://dspace.mit.edu/entities/publication/5377b306-4ecc-4687-b1f5-78cbb4a0543a</a:t>
            </a:r>
          </a:p>
          <a:p xmlns:a="http://schemas.openxmlformats.org/drawingml/2006/main">
            <a:r>
              <a:t>https://people.csail.mit.edu/asolar/SynthesisCourse2020/Lecture10.htm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指令集可以演化，但新宏必须能解释和降低到已知语义，不能是一个神秘函数。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原稿画面要求：三段重复程序折叠为宏，显示lower到旧ISA。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media/01_36页研究版逐页脚本.md#第10页</a:t>
            </a:r>
          </a:p>
          <a:p xmlns:a="http://schemas.openxmlformats.org/drawingml/2006/main">
            <a:r>
              <a:t>hypotheses/H40_自举的潜指令集.md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https://arxiv.org/abs/2006.08381</a:t>
            </a:r>
          </a:p>
          <a:p xmlns:a="http://schemas.openxmlformats.org/drawingml/2006/main">
            <a:r>
              <a:t>https://www.cs.utexas.edu/~EWD/transcriptions/EWD04xx/EWD472.html</a:t>
            </a:r>
          </a:p>
          <a:p xmlns:a="http://schemas.openxmlformats.org/drawingml/2006/main">
            <a:r>
              <a:t>https://people.csail.mit.edu/asolar/SynthesisCourse2020/Lecture10.htm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这条链的研究命题是交流产生新语言。概念生成失败时允许保留多域，不假装达成共识。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原稿画面要求：四个带输入/输出类型的方框，保留未解决分支。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media/01_36页研究版逐页脚本.md#第11页</a:t>
            </a:r>
          </a:p>
          <a:p xmlns:a="http://schemas.openxmlformats.org/drawingml/2006/main">
            <a:r>
              <a:t>hypotheses/H26_不可全局拼合的语义层.md</a:t>
            </a:r>
          </a:p>
          <a:p xmlns:a="http://schemas.openxmlformats.org/drawingml/2006/main">
            <a:r>
              <a:t>hypotheses/H27_交互中诞生的新概念.md</a:t>
            </a:r>
          </a:p>
          <a:p xmlns:a="http://schemas.openxmlformats.org/drawingml/2006/main">
            <a:r>
              <a:t>hypotheses/H36_以分歧生产结构的认知博弈.md</a:t>
            </a:r>
          </a:p>
          <a:p xmlns:a="http://schemas.openxmlformats.org/drawingml/2006/main">
            <a:r>
              <a:t>hypotheses/H40_自举的潜指令集.md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https://arxiv.org/abs/2202.04579</a:t>
            </a:r>
          </a:p>
          <a:p xmlns:a="http://schemas.openxmlformats.org/drawingml/2006/main">
            <a:r>
              <a:t>https://arxiv.org/abs/2605.11178</a:t>
            </a:r>
          </a:p>
          <a:p xmlns:a="http://schemas.openxmlformats.org/drawingml/2006/main">
            <a:r>
              <a:t>https://arxiv.org/abs/2006.08381</a:t>
            </a:r>
          </a:p>
          <a:p xmlns:a="http://schemas.openxmlformats.org/drawingml/2006/main">
            <a:r>
              <a:t>https://dspace.mit.edu/entities/publication/5377b306-4ecc-4687-b1f5-78cbb4a0543a</a:t>
            </a:r>
          </a:p>
          <a:p xmlns:a="http://schemas.openxmlformats.org/drawingml/2006/main">
            <a:r>
              <a:t>https://people.csail.mit.edu/asolar/SynthesisCourse2020/Lecture10.htm</a:t>
            </a:r>
          </a:p>
          <a:p xmlns:a="http://schemas.openxmlformats.org/drawingml/2006/main">
            <a:r>
              <a:t>https://www.cs.utexas.edu/~EWD/transcriptions/EWD04xx/EWD472.html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参数不同不代表不能交换学习效应；但必须先找到共同可观测的行为坐标。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原稿画面要求：答案消息、行为方向、更新规则三个不同对象。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media/01_36页研究版逐页脚本.md#第12页</a:t>
            </a:r>
          </a:p>
          <a:p xmlns:a="http://schemas.openxmlformats.org/drawingml/2006/main">
            <a:r>
              <a:t>hypotheses/H37_跨模型学习方向运输.md</a:t>
            </a:r>
          </a:p>
          <a:p xmlns:a="http://schemas.openxmlformats.org/drawingml/2006/main">
            <a:r>
              <a:t>hypotheses/H38_可传递的可塑性规则.md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https://arxiv.org/abs/1503.02531</a:t>
            </a:r>
          </a:p>
          <a:p xmlns:a="http://schemas.openxmlformats.org/drawingml/2006/main">
            <a:r>
              <a:t>https://arxiv.org/abs/1606.04474</a:t>
            </a:r>
          </a:p>
          <a:p xmlns:a="http://schemas.openxmlformats.org/drawingml/2006/main">
            <a:r>
              <a:t>https://arxiv.org/abs/2106.02997</a:t>
            </a:r>
          </a:p>
          <a:p xmlns:a="http://schemas.openxmlformats.org/drawingml/2006/main">
            <a:r>
              <a:t>https://papers.agoric.com/assets/pdf/papers/capability-myths-demolished.pdf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不是把两个模型参数直接相加，而是在行为层面投影更新效果。不可达部分必须保留为残差。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原稿画面要求：v=J_AΔθ_A；目标解最小二乘，箭头区分可达与残差。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media/01_36页研究版逐页脚本.md#第13页</a:t>
            </a:r>
          </a:p>
          <a:p xmlns:a="http://schemas.openxmlformats.org/drawingml/2006/main">
            <a:r>
              <a:t>hypotheses/H37_跨模型学习方向运输.md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https://arxiv.org/abs/1503.02531</a:t>
            </a:r>
          </a:p>
          <a:p xmlns:a="http://schemas.openxmlformats.org/drawingml/2006/main">
            <a:r>
              <a:t>https://arxiv.org/abs/1606.04474</a:t>
            </a:r>
          </a:p>
          <a:p xmlns:a="http://schemas.openxmlformats.org/drawingml/2006/main">
            <a:r>
              <a:t>https://arxiv.org/abs/2106.02997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这个例子只检查公式含义，不证明真实模型之间存在所需行为对应。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原稿画面要求：数轴4×.25=1；加入λ=1显示4/17，标解析示意。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media/01_36页研究版逐页脚本.md#第14页</a:t>
            </a:r>
          </a:p>
          <a:p xmlns:a="http://schemas.openxmlformats.org/drawingml/2006/main">
            <a:r>
              <a:t>hypotheses/H37_跨模型学习方向运输.md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https://arxiv.org/abs/1503.02531</a:t>
            </a:r>
          </a:p>
          <a:p xmlns:a="http://schemas.openxmlformats.org/drawingml/2006/main">
            <a:r>
              <a:t>https://arxiv.org/abs/1606.04474</a:t>
            </a:r>
          </a:p>
          <a:p xmlns:a="http://schemas.openxmlformats.org/drawingml/2006/main">
            <a:r>
              <a:t>https://arxiv.org/abs/2106.02997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学习规则可以有参数，也可以离散选择。support和query隔离，否则所谓学习能力可能只是泄漏。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原稿画面要求：support→规则AST→局部更新→query损失；标签边隔离。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media/01_36页研究版逐页脚本.md#第15页</a:t>
            </a:r>
          </a:p>
          <a:p xmlns:a="http://schemas.openxmlformats.org/drawingml/2006/main">
            <a:r>
              <a:t>hypotheses/H38_可传递的可塑性规则.md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https://arxiv.org/abs/1606.04474</a:t>
            </a:r>
          </a:p>
          <a:p xmlns:a="http://schemas.openxmlformats.org/drawingml/2006/main">
            <a:r>
              <a:t>https://papers.agoric.com/assets/pdf/papers/capability-myths-demolished.pdf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这里的事务是组织工具，不被包装为全新数学。它让长期结构演化保留可追溯历史。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原稿画面要求：概念、ISA、adapter三张版本卡在同一事务边界。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media/01_36页研究版逐页脚本.md#第16页</a:t>
            </a:r>
          </a:p>
          <a:p xmlns:a="http://schemas.openxmlformats.org/drawingml/2006/main">
            <a:r>
              <a:t>hypotheses/H39_可回滚的跨模型认知事务.md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https://arxiv.org/abs/cs/0408036</a:t>
            </a:r>
          </a:p>
          <a:p xmlns:a="http://schemas.openxmlformats.org/drawingml/2006/main">
            <a:r>
              <a:t>https://dspace.mit.edu/entities/publication/5377b306-4ecc-4687-b1f5-78cbb4a0543a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本轮把这些程序与接口写完整，但不运行训练。更远的目标是让系统交换形成能力的方法。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原稿画面要求：三模块图，外层模型研究入口显示锁定。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media/01_36页研究版逐页脚本.md#第17页</a:t>
            </a:r>
          </a:p>
          <a:p xmlns:a="http://schemas.openxmlformats.org/drawingml/2006/main">
            <a:r>
              <a:t>hypotheses/H37_跨模型学习方向运输.md</a:t>
            </a:r>
          </a:p>
          <a:p xmlns:a="http://schemas.openxmlformats.org/drawingml/2006/main">
            <a:r>
              <a:t>hypotheses/H38_可传递的可塑性规则.md</a:t>
            </a:r>
          </a:p>
          <a:p xmlns:a="http://schemas.openxmlformats.org/drawingml/2006/main">
            <a:r>
              <a:t>hypotheses/H39_可回滚的跨模型认知事务.md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https://arxiv.org/abs/1503.02531</a:t>
            </a:r>
          </a:p>
          <a:p xmlns:a="http://schemas.openxmlformats.org/drawingml/2006/main">
            <a:r>
              <a:t>https://arxiv.org/abs/1606.04474</a:t>
            </a:r>
          </a:p>
          <a:p xmlns:a="http://schemas.openxmlformats.org/drawingml/2006/main">
            <a:r>
              <a:t>https://arxiv.org/abs/2106.02997</a:t>
            </a:r>
          </a:p>
          <a:p xmlns:a="http://schemas.openxmlformats.org/drawingml/2006/main">
            <a:r>
              <a:t>https://papers.agoric.com/assets/pdf/papers/capability-myths-demolished.pdf</a:t>
            </a:r>
          </a:p>
          <a:p xmlns:a="http://schemas.openxmlformats.org/drawingml/2006/main">
            <a:r>
              <a:t>https://arxiv.org/abs/cs/0408036</a:t>
            </a:r>
          </a:p>
          <a:p xmlns:a="http://schemas.openxmlformats.org/drawingml/2006/main">
            <a:r>
              <a:t>https://dspace.mit.edu/entities/publication/5377b306-4ecc-4687-b1f5-78cbb4a0543a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共享世界不只是共同写故事，而是定义可执行状态变化和观测。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原稿画面要求：两个局部转移核拼出新世界，注释synthetic。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media/01_36页研究版逐页脚本.md#第18页</a:t>
            </a:r>
          </a:p>
          <a:p xmlns:a="http://schemas.openxmlformats.org/drawingml/2006/main">
            <a:r>
              <a:t>hypotheses/H43_可交换的世界动力学核.md</a:t>
            </a:r>
          </a:p>
          <a:p xmlns:a="http://schemas.openxmlformats.org/drawingml/2006/main">
            <a:r>
              <a:t>hypotheses/H44_共同构造的反事实梦境.md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https://arxiv.org/abs/2106.02997</a:t>
            </a:r>
          </a:p>
          <a:p xmlns:a="http://schemas.openxmlformats.org/drawingml/2006/main">
            <a:r>
              <a:t>https://arxiv.org/abs/2602.16612</a:t>
            </a:r>
          </a:p>
          <a:p xmlns:a="http://schemas.openxmlformats.org/drawingml/2006/main">
            <a:r>
              <a:t>https://arxiv.org/abs/1803.10122</a:t>
            </a:r>
          </a:p>
          <a:p xmlns:a="http://schemas.openxmlformats.org/drawingml/2006/main">
            <a:r>
              <a:t>https://arxiv.org/abs/1901.01753</a:t>
            </a:r>
          </a:p>
          <a:p xmlns:a="http://schemas.openxmlformats.org/drawingml/2006/main">
            <a:r>
              <a:t>https://arxiv.org/abs/2012.02096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模块接得上，必须因为结构契约成立，而不是维度恰巧相同。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原稿画面要求：y=2x接入z=y+1，显示边界与共享噪声标记。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media/01_36页研究版逐页脚本.md#第19页</a:t>
            </a:r>
          </a:p>
          <a:p xmlns:a="http://schemas.openxmlformats.org/drawingml/2006/main">
            <a:r>
              <a:t>hypotheses/H31_因果机制移植.md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https://arxiv.org/abs/2106.02997</a:t>
            </a:r>
          </a:p>
          <a:p xmlns:a="http://schemas.openxmlformats.org/drawingml/2006/main">
            <a:r>
              <a:t>https://arxiv.org/abs/2602.16612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两个模块引用同一个随机因素时，简单相乘会丢掉依赖结构。世界组合必须保留这一点。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原稿画面要求：共享噪声节点分叉到两个动力学盒；与错误独立图对照。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media/01_36页研究版逐页脚本.md#第20页</a:t>
            </a:r>
          </a:p>
          <a:p xmlns:a="http://schemas.openxmlformats.org/drawingml/2006/main">
            <a:r>
              <a:t>hypotheses/H43_可交换的世界动力学核.md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https://arxiv.org/abs/2106.02997</a:t>
            </a:r>
          </a:p>
          <a:p xmlns:a="http://schemas.openxmlformats.org/drawingml/2006/main">
            <a:r>
              <a:t>https://arxiv.org/abs/2602.16612</a:t>
            </a:r>
          </a:p>
          <a:p xmlns:a="http://schemas.openxmlformats.org/drawingml/2006/main">
            <a:r>
              <a:t>https://arxiv.org/abs/1803.10122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合成世界可以启发抽象，但不能自己生成证据后宣布现实也如此。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原稿画面要求：新世界→可行动轨迹→新问题；现实证据区单独框。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media/01_36页研究版逐页脚本.md#第21页</a:t>
            </a:r>
          </a:p>
          <a:p xmlns:a="http://schemas.openxmlformats.org/drawingml/2006/main">
            <a:r>
              <a:t>hypotheses/H44_共同构造的反事实梦境.md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https://arxiv.org/abs/1803.10122</a:t>
            </a:r>
          </a:p>
          <a:p xmlns:a="http://schemas.openxmlformats.org/drawingml/2006/main">
            <a:r>
              <a:t>https://arxiv.org/abs/1901.01753</a:t>
            </a:r>
          </a:p>
          <a:p xmlns:a="http://schemas.openxmlformats.org/drawingml/2006/main">
            <a:r>
              <a:t>https://arxiv.org/abs/2012.02096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借鉴已有开放式学习思想，进一步让协议和概念一起进入演化。开放式不等于无限运行。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原稿画面要求：world/ontology/ISA/population四版本循环，标每轮预算。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media/01_36页研究版逐页脚本.md#第22页</a:t>
            </a:r>
          </a:p>
          <a:p xmlns:a="http://schemas.openxmlformats.org/drawingml/2006/main">
            <a:r>
              <a:t>hypotheses/H42_模型与任务的共演化生态.md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https://arxiv.org/abs/1901.01753</a:t>
            </a:r>
          </a:p>
          <a:p xmlns:a="http://schemas.openxmlformats.org/drawingml/2006/main">
            <a:r>
              <a:t>https://arxiv.org/abs/2012.02096</a:t>
            </a:r>
          </a:p>
          <a:p xmlns:a="http://schemas.openxmlformats.org/drawingml/2006/main">
            <a:r>
              <a:t>https://arxiv.org/abs/2006.08381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这里最远的方向是系统自己制造有生产力的问题空间，而不是只回答人类给定的旧问题。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原稿画面要求：五节点环，分离现实与synthetic命名空间。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media/01_36页研究版逐页脚本.md#第23页</a:t>
            </a:r>
          </a:p>
          <a:p xmlns:a="http://schemas.openxmlformats.org/drawingml/2006/main">
            <a:r>
              <a:t>hypotheses/H42_模型与任务的共演化生态.md</a:t>
            </a:r>
          </a:p>
          <a:p xmlns:a="http://schemas.openxmlformats.org/drawingml/2006/main">
            <a:r>
              <a:t>hypotheses/H43_可交换的世界动力学核.md</a:t>
            </a:r>
          </a:p>
          <a:p xmlns:a="http://schemas.openxmlformats.org/drawingml/2006/main">
            <a:r>
              <a:t>hypotheses/H44_共同构造的反事实梦境.md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https://arxiv.org/abs/1901.01753</a:t>
            </a:r>
          </a:p>
          <a:p xmlns:a="http://schemas.openxmlformats.org/drawingml/2006/main">
            <a:r>
              <a:t>https://arxiv.org/abs/2012.02096</a:t>
            </a:r>
          </a:p>
          <a:p xmlns:a="http://schemas.openxmlformats.org/drawingml/2006/main">
            <a:r>
              <a:t>https://arxiv.org/abs/2006.08381</a:t>
            </a:r>
          </a:p>
          <a:p xmlns:a="http://schemas.openxmlformats.org/drawingml/2006/main">
            <a:r>
              <a:t>https://arxiv.org/abs/2106.02997</a:t>
            </a:r>
          </a:p>
          <a:p xmlns:a="http://schemas.openxmlformats.org/drawingml/2006/main">
            <a:r>
              <a:t>https://arxiv.org/abs/2602.16612</a:t>
            </a:r>
          </a:p>
          <a:p xmlns:a="http://schemas.openxmlformats.org/drawingml/2006/main">
            <a:r>
              <a:t>https://arxiv.org/abs/1803.10122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保持计算作用可能比找到统一向量坐标更重要。但真实模型是否支持这种结构是额外假设。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原稿画面要求：两套坐标的同一算子，显示T′=GTG⁻¹。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media/01_36页研究版逐页脚本.md#第24页</a:t>
            </a:r>
          </a:p>
          <a:p xmlns:a="http://schemas.openxmlformats.org/drawingml/2006/main">
            <a:r>
              <a:t>hypotheses/H25_规范协变的认知接口.md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https://arxiv.org/abs/1902.04615</a:t>
            </a:r>
          </a:p>
          <a:p xmlns:a="http://schemas.openxmlformats.org/drawingml/2006/main">
            <a:r>
              <a:t>https://arxiv.org/abs/2610.27813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等价是相对于明确问题族而言。新问题能创造新差别，不能要求粗表示凭空恢复已丢信息。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原稿画面要求：奇偶分组{1,3}/{2,4}；新增&gt;2查询后细分。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media/01_36页研究版逐页脚本.md#第25页</a:t>
            </a:r>
          </a:p>
          <a:p xmlns:a="http://schemas.openxmlformats.org/drawingml/2006/main">
            <a:r>
              <a:t>hypotheses/H35_跨尺度语义重整化.md</a:t>
            </a:r>
          </a:p>
          <a:p xmlns:a="http://schemas.openxmlformats.org/drawingml/2006/main">
            <a:r>
              <a:t>hypotheses/H47_任务相对的语义商空间.md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https://arxiv.org/abs/1207.4114</a:t>
            </a:r>
          </a:p>
          <a:p xmlns:a="http://schemas.openxmlformats.org/drawingml/2006/main">
            <a:r>
              <a:t>https://arxiv.org/abs/physics/0004057</a:t>
            </a:r>
          </a:p>
          <a:p xmlns:a="http://schemas.openxmlformats.org/drawingml/2006/main">
            <a:r>
              <a:t>https://isl.stanford.edu/~cover/papers/paper94.pdf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普通任务分解并不等于问题演算。每条变换要说明保持全部解、部分解还是只提供启发。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原稿画面要求：x²=4展开为±2，错误只保留+2用虚线排除。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media/01_36页研究版逐页脚本.md#第26页</a:t>
            </a:r>
          </a:p>
          <a:p xmlns:a="http://schemas.openxmlformats.org/drawingml/2006/main">
            <a:r>
              <a:t>hypotheses/H29_问题生成的潜演算.md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https://www.cs.utexas.edu/~EWD/transcriptions/EWD04xx/EWD472.html</a:t>
            </a:r>
          </a:p>
          <a:p xmlns:a="http://schemas.openxmlformats.org/drawingml/2006/main">
            <a:r>
              <a:t>https://arxiv.org/abs/2006.08381</a:t>
            </a:r>
          </a:p>
          <a:p xmlns:a="http://schemas.openxmlformats.org/drawingml/2006/main">
            <a:r>
              <a:t>https://arxiv.org/abs/1807.03480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可执行类比要映射对象、操作和复合关系。局部成立就只声明局部。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原稿画面要求：f(x)=2x的交换方块，源加1映为目标加2。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media/01_36页研究版逐页脚本.md#第27页</a:t>
            </a:r>
          </a:p>
          <a:p xmlns:a="http://schemas.openxmlformats.org/drawingml/2006/main">
            <a:r>
              <a:t>hypotheses/H30_类比态射编译器.md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https://groups.psych.northwestern.edu/gentner/papers/Gentner83.2b.pdf</a:t>
            </a:r>
          </a:p>
          <a:p xmlns:a="http://schemas.openxmlformats.org/drawingml/2006/main">
            <a:r>
              <a:t>https://arxiv.org/abs/2106.02997</a:t>
            </a:r>
          </a:p>
          <a:p xmlns:a="http://schemas.openxmlformats.org/drawingml/2006/main">
            <a:r>
              <a:t>https://arxiv.org/abs/2602.16612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有些计算可以从相位、顺序和路径结构读出。不收敛不必等于失败，但数值发散不能被美化。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原稿画面要求：稳定圆周路径和双端约束路径并置；不画未来信息。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media/01_36页研究版逐页脚本.md#第28页</a:t>
            </a:r>
          </a:p>
          <a:p xmlns:a="http://schemas.openxmlformats.org/drawingml/2006/main">
            <a:r>
              <a:t>hypotheses/H33_非梯度的互构认知动力学.md</a:t>
            </a:r>
          </a:p>
          <a:p xmlns:a="http://schemas.openxmlformats.org/drawingml/2006/main">
            <a:r>
              <a:t>hypotheses/H34_双边边界条件推理.md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https://arxiv.org/abs/1909.01377</a:t>
            </a:r>
          </a:p>
          <a:p xmlns:a="http://schemas.openxmlformats.org/drawingml/2006/main">
            <a:r>
              <a:t>https://www.ee.ucla.edu/~tabuada/Papers/EventTriggered.pdf</a:t>
            </a:r>
          </a:p>
          <a:p xmlns:a="http://schemas.openxmlformats.org/drawingml/2006/main">
            <a:r>
              <a:t>https://www.isiweb.ee.ethz.ch/papers/arch/aloe-2001-1.pdf</a:t>
            </a:r>
          </a:p>
          <a:p xmlns:a="http://schemas.openxmlformats.org/drawingml/2006/main">
            <a:r>
              <a:t>https://www.cs.utexas.edu/~EWD/transcriptions/EWD04xx/EWD472.html</a:t>
            </a:r>
          </a:p>
          <a:p xmlns:a="http://schemas.openxmlformats.org/drawingml/2006/main">
            <a:r>
              <a:t>https://arxiv.org/abs/1807.03480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这是一条研究结构分岔的路线。解析势能的分岔不意味着已经发现神经智能的物理相变。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原稿画面要求：势能V=z⁴/4−αz²/2的三幅解析形状。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media/01_36页研究版逐页脚本.md#第29页</a:t>
            </a:r>
          </a:p>
          <a:p xmlns:a="http://schemas.openxmlformats.org/drawingml/2006/main">
            <a:r>
              <a:t>hypotheses/H28_语义结构的分岔与相变.md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https://arxiv.org/abs/1909.01377</a:t>
            </a:r>
          </a:p>
          <a:p xmlns:a="http://schemas.openxmlformats.org/drawingml/2006/main">
            <a:r>
              <a:t>https://www.ee.ucla.edu/~tabuada/Papers/EventTriggered.pdf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超时没有找到不等于不可能。没有合法查询时，保持未知比制造确定性更准确。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原稿画面要求：候选假设→查询分割→条件排除，unknown保留。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media/01_36页研究版逐页脚本.md#第30页</a:t>
            </a:r>
          </a:p>
          <a:p xmlns:a="http://schemas.openxmlformats.org/drawingml/2006/main">
            <a:r>
              <a:t>hypotheses/H45_主动可识别性协议.md</a:t>
            </a:r>
          </a:p>
          <a:p xmlns:a="http://schemas.openxmlformats.org/drawingml/2006/main">
            <a:r>
              <a:t>hypotheses/H46_不可行域与负知识胶囊.md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https://arxiv.org/abs/1112.5745</a:t>
            </a:r>
          </a:p>
          <a:p xmlns:a="http://schemas.openxmlformats.org/drawingml/2006/main">
            <a:r>
              <a:t>https://arxiv.org/abs/2106.02997</a:t>
            </a:r>
          </a:p>
          <a:p xmlns:a="http://schemas.openxmlformats.org/drawingml/2006/main">
            <a:r>
              <a:t>https://dspace.mit.edu/entities/publication/5377b306-4ecc-4687-b1f5-78cbb4a0543a</a:t>
            </a:r>
          </a:p>
          <a:p xmlns:a="http://schemas.openxmlformats.org/drawingml/2006/main">
            <a:r>
              <a:t>https://people.csail.mit.edu/asolar/SynthesisCourse2020/Lecture10.htm</a:t>
            </a:r>
          </a:p>
          <a:p xmlns:a="http://schemas.openxmlformats.org/drawingml/2006/main">
            <a:r>
              <a:t>https://www.cs.utexas.edu/~EWD/transcriptions/EWD04xx/EWD472.html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谱系不保证来源真实，但能避免把重复声音误当独立支持。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原稿画面要求：两个转述共同指向e，P=.8；独立误算.96划掉。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media/01_36页研究版逐页脚本.md#第31页</a:t>
            </a:r>
          </a:p>
          <a:p xmlns:a="http://schemas.openxmlformats.org/drawingml/2006/main">
            <a:r>
              <a:t>hypotheses/H48_相关证据的认知谱系代数.md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https://arxiv.org/abs/1910.07910</a:t>
            </a:r>
          </a:p>
          <a:p xmlns:a="http://schemas.openxmlformats.org/drawingml/2006/main">
            <a:r>
              <a:t>https://dspace.mit.edu/entities/publication/5377b306-4ecc-4687-b1f5-78cbb4a0543a</a:t>
            </a:r>
          </a:p>
          <a:p xmlns:a="http://schemas.openxmlformats.org/drawingml/2006/main">
            <a:r>
              <a:t>https://www.isiweb.ee.ethz.ch/papers/arch/aloe-2001-1.pdf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这些是远期架构方向，而非又增加12项已实现算法。每个都有假设链与有限化入口。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原稿画面要求：12张短卡三列四行，字号可读，不堆段落。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media/01_36页研究版逐页脚本.md#第32页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任务图调度Dot写程序，研究图调度未来计算。两者不可混为同一个通过标准。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原稿画面要求：源码树＋typed IR＋任务DAG，分清三层。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media/01_36页研究版逐页脚本.md#第33页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自动化应减少用户指挥，不是取消边界。应用生态规模不代表所有应用已有授权。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原稿画面要求：四个控制组件；公开发布/付费/模型运行三把锁。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media/01_36页研究版逐页脚本.md#第34页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本计划包已经给出研究设计和执行指令。Dot完成的是目标仓库；模型结论留给未来真实研究。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原稿画面要求：已设计／交Dot实现／研究未运行三列。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media/01_36页研究版逐页脚本.md#第35页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真正想推进的不是一张榜单，而是让多模型系统能够改变自己可思考的对象集合。这是研究命题，不是已验证宣告。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原稿画面要求：概念、问题、更新、世界四对象再组合；结尾not_run角标。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media/01_36页研究版逐页脚本.md#第36页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51e4f74bf04e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edecd2954a42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048dbd88e64ef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d8100e83d43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380c3a4f21430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986b17d90647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B6144D-2E36-4379-9802-7CDFAC793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B3FE944-A81D-4E91-A345-795D5312F0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EFB6566-CC97-473C-A278-E92C2E170C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5E7D59-5BCE-4688-9A57-4C26336ED6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669EBAC-AB2B-495D-B50D-87E22EBCDB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E6D0DA-87FD-4107-A100-5745E70575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B691FE-807E-4C1C-B418-F329243A38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EBF48FC-00F9-4B3E-9531-495027DAA4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189053-C6D8-4CDD-8C52-27E1A2E4F7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79BE34-69CE-4F94-91D7-935D4B428E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bb03f00d474a60" /><Relationship Type="http://schemas.openxmlformats.org/officeDocument/2006/relationships/slideLayout" Target="/ppt/slideLayouts/slideLayout1.xml" Id="R4f38750ea6544dc1" /><Relationship Type="http://schemas.openxmlformats.org/officeDocument/2006/relationships/slideLayout" Target="/ppt/slideLayouts/slideLayout2.xml" Id="R2ae986a6924840e6" /><Relationship Type="http://schemas.openxmlformats.org/officeDocument/2006/relationships/slideLayout" Target="/ppt/slideLayouts/slideLayout3.xml" Id="R858ef161ada849ec" /><Relationship Type="http://schemas.openxmlformats.org/officeDocument/2006/relationships/slideLayout" Target="/ppt/slideLayouts/slideLayout4.xml" Id="R78301ca555954c96" /><Relationship Type="http://schemas.openxmlformats.org/officeDocument/2006/relationships/slideLayout" Target="/ppt/slideLayouts/slideLayout5.xml" Id="R8da2503801554018" /><Relationship Type="http://schemas.openxmlformats.org/officeDocument/2006/relationships/slideLayout" Target="/ppt/slideLayouts/slideLayout6.xml" Id="R7ce741f881af4d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38750ea6544dc1"/>
    <p:sldLayoutId xmlns:r="http://schemas.openxmlformats.org/officeDocument/2006/relationships" id="2147483650" r:id="R2ae986a6924840e6"/>
    <p:sldLayoutId xmlns:r="http://schemas.openxmlformats.org/officeDocument/2006/relationships" id="2147483651" r:id="R858ef161ada849ec"/>
    <p:sldLayoutId xmlns:r="http://schemas.openxmlformats.org/officeDocument/2006/relationships" id="2147483652" r:id="R78301ca555954c96"/>
    <p:sldLayoutId xmlns:r="http://schemas.openxmlformats.org/officeDocument/2006/relationships" id="2147483653" r:id="R8da2503801554018"/>
    <p:sldLayoutId xmlns:r="http://schemas.openxmlformats.org/officeDocument/2006/relationships" id="2147483654" r:id="R7ce741f881af4d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b6f8f2bc7b455b" /><Relationship Type="http://schemas.openxmlformats.org/officeDocument/2006/relationships/notesSlide" Target="/ppt/notesSlides/notesSlide1.xml" Id="Rec0bfc6f8acf43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1a47bb7c404c62" /><Relationship Type="http://schemas.openxmlformats.org/officeDocument/2006/relationships/notesSlide" Target="/ppt/notesSlides/notesSlide2.xml" Id="R4331174c6bc245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efe7a375ab44a7" /><Relationship Type="http://schemas.openxmlformats.org/officeDocument/2006/relationships/notesSlide" Target="/ppt/notesSlides/notesSlide3.xml" Id="Rfa6fb49935c843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e07dc0d0cf4c50" /><Relationship Type="http://schemas.openxmlformats.org/officeDocument/2006/relationships/notesSlide" Target="/ppt/notesSlides/notesSlide4.xml" Id="R94c339161a654b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ba3d5142a84a43" /><Relationship Type="http://schemas.openxmlformats.org/officeDocument/2006/relationships/notesSlide" Target="/ppt/notesSlides/notesSlide5.xml" Id="Rc7bbdae45a7b48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6e93cfeb304ceb" /><Relationship Type="http://schemas.openxmlformats.org/officeDocument/2006/relationships/notesSlide" Target="/ppt/notesSlides/notesSlide6.xml" Id="Re9616e2851334b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a31dc8c38c4abe" /><Relationship Type="http://schemas.openxmlformats.org/officeDocument/2006/relationships/notesSlide" Target="/ppt/notesSlides/notesSlide7.xml" Id="Rfa06d1e9b6e042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cb7fc44db048a6" /><Relationship Type="http://schemas.openxmlformats.org/officeDocument/2006/relationships/notesSlide" Target="/ppt/notesSlides/notesSlide8.xml" Id="R32c989f8bc3340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6c4a55a6c94f75" /><Relationship Type="http://schemas.openxmlformats.org/officeDocument/2006/relationships/notesSlide" Target="/ppt/notesSlides/notesSlide9.xml" Id="R09165621e91549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634344bc8d43aa" /><Relationship Type="http://schemas.openxmlformats.org/officeDocument/2006/relationships/notesSlide" Target="/ppt/notesSlides/notesSlide10.xml" Id="R3aae6567f2d142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580fe72cea4e6e" /><Relationship Type="http://schemas.openxmlformats.org/officeDocument/2006/relationships/notesSlide" Target="/ppt/notesSlides/notesSlide11.xml" Id="R0d3bc423758d40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e1927e372e4d14" /><Relationship Type="http://schemas.openxmlformats.org/officeDocument/2006/relationships/notesSlide" Target="/ppt/notesSlides/notesSlide12.xml" Id="R79ff160b22ad49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6db562b78140ba" /><Relationship Type="http://schemas.openxmlformats.org/officeDocument/2006/relationships/notesSlide" Target="/ppt/notesSlides/notesSlide13.xml" Id="R98ea1fa4abe04d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9c6d959864614" /><Relationship Type="http://schemas.openxmlformats.org/officeDocument/2006/relationships/notesSlide" Target="/ppt/notesSlides/notesSlide14.xml" Id="R7d40c04aa6554d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adcfa6fb704e4d" /><Relationship Type="http://schemas.openxmlformats.org/officeDocument/2006/relationships/notesSlide" Target="/ppt/notesSlides/notesSlide15.xml" Id="Rc96d90c7113e40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0ccc97484d4d77" /><Relationship Type="http://schemas.openxmlformats.org/officeDocument/2006/relationships/notesSlide" Target="/ppt/notesSlides/notesSlide16.xml" Id="R235b547cb83d454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a6b02d3d0b4c92" /><Relationship Type="http://schemas.openxmlformats.org/officeDocument/2006/relationships/notesSlide" Target="/ppt/notesSlides/notesSlide17.xml" Id="Rda94cd88873e418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28a6b5bff04a9a" /><Relationship Type="http://schemas.openxmlformats.org/officeDocument/2006/relationships/notesSlide" Target="/ppt/notesSlides/notesSlide18.xml" Id="R4c5d3e4190e94a6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1c39c597534fad" /><Relationship Type="http://schemas.openxmlformats.org/officeDocument/2006/relationships/notesSlide" Target="/ppt/notesSlides/notesSlide19.xml" Id="R2d24facccdaf422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bc99c6de3544c5" /><Relationship Type="http://schemas.openxmlformats.org/officeDocument/2006/relationships/notesSlide" Target="/ppt/notesSlides/notesSlide20.xml" Id="R4c8b50848cf347a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b74b1ff2624ed6" /><Relationship Type="http://schemas.openxmlformats.org/officeDocument/2006/relationships/notesSlide" Target="/ppt/notesSlides/notesSlide21.xml" Id="Rf7ac4072e8ea4ac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cf891f0d5d4fdc" /><Relationship Type="http://schemas.openxmlformats.org/officeDocument/2006/relationships/notesSlide" Target="/ppt/notesSlides/notesSlide22.xml" Id="Rd46585898a594a9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bd4b1d3535428c" /><Relationship Type="http://schemas.openxmlformats.org/officeDocument/2006/relationships/notesSlide" Target="/ppt/notesSlides/notesSlide23.xml" Id="R0f24a3de10b7436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73857c668642be" /><Relationship Type="http://schemas.openxmlformats.org/officeDocument/2006/relationships/notesSlide" Target="/ppt/notesSlides/notesSlide24.xml" Id="Rdff13ea789dd4fe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676a74a3fa4e2f" /><Relationship Type="http://schemas.openxmlformats.org/officeDocument/2006/relationships/notesSlide" Target="/ppt/notesSlides/notesSlide25.xml" Id="Rc54a85cb2ad3431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f672e4f6a14fc7" /><Relationship Type="http://schemas.openxmlformats.org/officeDocument/2006/relationships/notesSlide" Target="/ppt/notesSlides/notesSlide26.xml" Id="R4ec69a581c164af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57db7f7f8a41bc" /><Relationship Type="http://schemas.openxmlformats.org/officeDocument/2006/relationships/notesSlide" Target="/ppt/notesSlides/notesSlide27.xml" Id="Rf3d7e6fe3fa34ce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ac1cb8c83b4e4e" /><Relationship Type="http://schemas.openxmlformats.org/officeDocument/2006/relationships/notesSlide" Target="/ppt/notesSlides/notesSlide28.xml" Id="R0978bc36f14c4a5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9c3d115bf44700" /><Relationship Type="http://schemas.openxmlformats.org/officeDocument/2006/relationships/notesSlide" Target="/ppt/notesSlides/notesSlide29.xml" Id="R1a9c93c01b504b0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318e58726648e9" /><Relationship Type="http://schemas.openxmlformats.org/officeDocument/2006/relationships/notesSlide" Target="/ppt/notesSlides/notesSlide30.xml" Id="R3fc487c64b564b5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78b105e0414dc8" /><Relationship Type="http://schemas.openxmlformats.org/officeDocument/2006/relationships/notesSlide" Target="/ppt/notesSlides/notesSlide31.xml" Id="Rfb6a983e7545487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d3daa860ee43c1" /><Relationship Type="http://schemas.openxmlformats.org/officeDocument/2006/relationships/notesSlide" Target="/ppt/notesSlides/notesSlide32.xml" Id="Rd3d5db1ca772470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aaa6d8afeb415e" /><Relationship Type="http://schemas.openxmlformats.org/officeDocument/2006/relationships/notesSlide" Target="/ppt/notesSlides/notesSlide33.xml" Id="R3caeaf29da44409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9636d51d264a56" /><Relationship Type="http://schemas.openxmlformats.org/officeDocument/2006/relationships/notesSlide" Target="/ppt/notesSlides/notesSlide34.xml" Id="Rbcd2d0b535e0438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ed851d73e146e7" /><Relationship Type="http://schemas.openxmlformats.org/officeDocument/2006/relationships/notesSlide" Target="/ppt/notesSlides/notesSlide35.xml" Id="R43335644d22248e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db19bb6bd646df" /><Relationship Type="http://schemas.openxmlformats.org/officeDocument/2006/relationships/notesSlide" Target="/ppt/notesSlides/notesSlide36.xml" Id="R83bd63e7fffe4a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001_Semantic&#10;Becoming">
            <a:extLst xmlns:a="http://schemas.openxmlformats.org/drawingml/2006/main">
              <a:ext uri="{FF2B5EF4-FFF2-40B4-BE49-F238E27FC236}">
                <a16:creationId xmlns:a16="http://schemas.microsoft.com/office/drawing/2014/main" id="{7AB23DFF-6D61-4901-9570-83C6CCAF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6191250" cy="1825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Semantic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Becoming</a:t>
            </a:r>
          </a:p>
        </p:txBody>
      </p:sp>
      <p:sp>
        <p:nvSpPr>
          <p:cNvPr id="2" name="e002_可改写认知的&#10;跨模型计算">
            <a:extLst xmlns:a="http://schemas.openxmlformats.org/drawingml/2006/main">
              <a:ext uri="{FF2B5EF4-FFF2-40B4-BE49-F238E27FC236}">
                <a16:creationId xmlns:a16="http://schemas.microsoft.com/office/drawing/2014/main" id="{E58E514A-F51F-46C7-9165-748178F7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66675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可改写认知的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跨模型计算</a:t>
            </a:r>
          </a:p>
        </p:txBody>
      </p:sp>
      <p:sp>
        <p:nvSpPr>
          <p:cNvPr id="3" name="e003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C41E6CE5-7A71-4F65-8FDD-1632DFE4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666750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4" name="e004_rect">
            <a:extLst xmlns:a="http://schemas.openxmlformats.org/drawingml/2006/main">
              <a:ext uri="{FF2B5EF4-FFF2-40B4-BE49-F238E27FC236}">
                <a16:creationId xmlns:a16="http://schemas.microsoft.com/office/drawing/2014/main" id="{B112253C-97F9-4D8E-A705-5F143212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809625"/>
            <a:ext cx="3619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5" name="e005_概念">
            <a:extLst xmlns:a="http://schemas.openxmlformats.org/drawingml/2006/main">
              <a:ext uri="{FF2B5EF4-FFF2-40B4-BE49-F238E27FC236}">
                <a16:creationId xmlns:a16="http://schemas.microsoft.com/office/drawing/2014/main" id="{12ED2649-BE2D-4BC9-B048-B1A4DA82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52500"/>
            <a:ext cx="3333750" cy="435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概念</a:t>
            </a:r>
          </a:p>
        </p:txBody>
      </p:sp>
      <p:sp>
        <p:nvSpPr>
          <p:cNvPr id="6" name="e006_可计算区分">
            <a:extLst xmlns:a="http://schemas.openxmlformats.org/drawingml/2006/main">
              <a:ext uri="{FF2B5EF4-FFF2-40B4-BE49-F238E27FC236}">
                <a16:creationId xmlns:a16="http://schemas.microsoft.com/office/drawing/2014/main" id="{A9E2C7D8-6B80-4231-8FDE-3C216D8B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09700"/>
            <a:ext cx="33337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可计算区分</a:t>
            </a:r>
          </a:p>
        </p:txBody>
      </p:sp>
      <p:sp>
        <p:nvSpPr>
          <p:cNvPr id="7" name="e007_rect">
            <a:extLst xmlns:a="http://schemas.openxmlformats.org/drawingml/2006/main">
              <a:ext uri="{FF2B5EF4-FFF2-40B4-BE49-F238E27FC236}">
                <a16:creationId xmlns:a16="http://schemas.microsoft.com/office/drawing/2014/main" id="{9F543E72-8297-4C49-9CBE-57334FE4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66925"/>
            <a:ext cx="3619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8" name="e008_问题">
            <a:extLst xmlns:a="http://schemas.openxmlformats.org/drawingml/2006/main">
              <a:ext uri="{FF2B5EF4-FFF2-40B4-BE49-F238E27FC236}">
                <a16:creationId xmlns:a16="http://schemas.microsoft.com/office/drawing/2014/main" id="{F08F6DA7-A2B8-486F-9369-06244E03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333750" cy="435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9" name="e009_答案关系">
            <a:extLst xmlns:a="http://schemas.openxmlformats.org/drawingml/2006/main">
              <a:ext uri="{FF2B5EF4-FFF2-40B4-BE49-F238E27FC236}">
                <a16:creationId xmlns:a16="http://schemas.microsoft.com/office/drawing/2014/main" id="{18B1C5E3-DCED-4322-87A8-E97FC0B5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33337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答案关系</a:t>
            </a:r>
          </a:p>
        </p:txBody>
      </p:sp>
      <p:sp>
        <p:nvSpPr>
          <p:cNvPr id="10" name="e010_rect">
            <a:extLst xmlns:a="http://schemas.openxmlformats.org/drawingml/2006/main">
              <a:ext uri="{FF2B5EF4-FFF2-40B4-BE49-F238E27FC236}">
                <a16:creationId xmlns:a16="http://schemas.microsoft.com/office/drawing/2014/main" id="{C478A842-6A3A-4508-ADE4-3A7B3B8C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24225"/>
            <a:ext cx="3619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11" name="e011_学习">
            <a:extLst xmlns:a="http://schemas.openxmlformats.org/drawingml/2006/main">
              <a:ext uri="{FF2B5EF4-FFF2-40B4-BE49-F238E27FC236}">
                <a16:creationId xmlns:a16="http://schemas.microsoft.com/office/drawing/2014/main" id="{AE7E1E74-1658-416E-BBFB-F38FB3A7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67100"/>
            <a:ext cx="3333750" cy="435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学习</a:t>
            </a:r>
          </a:p>
        </p:txBody>
      </p:sp>
      <p:sp>
        <p:nvSpPr>
          <p:cNvPr id="12" name="e012_更新规则">
            <a:extLst xmlns:a="http://schemas.openxmlformats.org/drawingml/2006/main">
              <a:ext uri="{FF2B5EF4-FFF2-40B4-BE49-F238E27FC236}">
                <a16:creationId xmlns:a16="http://schemas.microsoft.com/office/drawing/2014/main" id="{64012752-B82E-46D1-B4C4-F1A4EAA5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33337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更新规则</a:t>
            </a:r>
          </a:p>
        </p:txBody>
      </p:sp>
      <p:sp>
        <p:nvSpPr>
          <p:cNvPr id="13" name="e013_rect">
            <a:extLst xmlns:a="http://schemas.openxmlformats.org/drawingml/2006/main">
              <a:ext uri="{FF2B5EF4-FFF2-40B4-BE49-F238E27FC236}">
                <a16:creationId xmlns:a16="http://schemas.microsoft.com/office/drawing/2014/main" id="{ABF18FF1-E630-42DC-8C53-1FF6CC03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81525"/>
            <a:ext cx="3619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9E1EC"/>
          </a:solidFill>
          <a:ln xmlns:a="http://schemas.openxmlformats.org/drawingml/2006/main" w="19050">
            <a:solidFill>
              <a:srgbClr val="725D7C"/>
            </a:solidFill>
            <a:prstDash val="solid"/>
          </a:ln>
        </p:spPr>
      </p:sp>
      <p:sp>
        <p:nvSpPr>
          <p:cNvPr id="14" name="e014_世界">
            <a:extLst xmlns:a="http://schemas.openxmlformats.org/drawingml/2006/main">
              <a:ext uri="{FF2B5EF4-FFF2-40B4-BE49-F238E27FC236}">
                <a16:creationId xmlns:a16="http://schemas.microsoft.com/office/drawing/2014/main" id="{2D85F494-F0D0-42F2-86A0-27CFD902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24400"/>
            <a:ext cx="3333750" cy="435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世界</a:t>
            </a:r>
          </a:p>
        </p:txBody>
      </p:sp>
      <p:sp>
        <p:nvSpPr>
          <p:cNvPr id="15" name="e015_可执行动力学">
            <a:extLst xmlns:a="http://schemas.openxmlformats.org/drawingml/2006/main">
              <a:ext uri="{FF2B5EF4-FFF2-40B4-BE49-F238E27FC236}">
                <a16:creationId xmlns:a16="http://schemas.microsoft.com/office/drawing/2014/main" id="{B2529C64-A093-41A0-B987-86F17900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81600"/>
            <a:ext cx="33337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可执行动力学</a:t>
            </a:r>
          </a:p>
        </p:txBody>
      </p:sp>
      <p:sp>
        <p:nvSpPr>
          <p:cNvPr id="16" name="e016_polyline">
            <a:extLst xmlns:a="http://schemas.openxmlformats.org/drawingml/2006/main">
              <a:ext uri="{FF2B5EF4-FFF2-40B4-BE49-F238E27FC236}">
                <a16:creationId xmlns:a16="http://schemas.microsoft.com/office/drawing/2014/main" id="{60CFE6BF-7244-4DCC-B142-0306B1B8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7" name="e017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D088C78C-508B-4A1D-BEC7-DBB9A1EC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18" name="e018_01 / 36">
            <a:extLst xmlns:a="http://schemas.openxmlformats.org/drawingml/2006/main">
              <a:ext uri="{FF2B5EF4-FFF2-40B4-BE49-F238E27FC236}">
                <a16:creationId xmlns:a16="http://schemas.microsoft.com/office/drawing/2014/main" id="{BF37B9BF-F322-4CDF-9872-C54F3939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01 / 36</a:t>
            </a:r>
          </a:p>
        </p:txBody>
      </p:sp>
    </p:spTree>
    <p:extLst>
      <p:ext uri="{BB962C8B-B14F-4D97-AF65-F5344CB8AC3E}">
        <p14:creationId xmlns:p14="http://schemas.microsoft.com/office/powerpoint/2010/main" val="7436241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001_我们究竟放开哪些假设">
            <a:extLst xmlns:a="http://schemas.openxmlformats.org/drawingml/2006/main">
              <a:ext uri="{FF2B5EF4-FFF2-40B4-BE49-F238E27FC236}">
                <a16:creationId xmlns:a16="http://schemas.microsoft.com/office/drawing/2014/main" id="{669284D9-0826-4929-B43D-B2547669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我们究竟放开哪些假设</a:t>
            </a:r>
          </a:p>
        </p:txBody>
      </p:sp>
      <p:sp>
        <p:nvSpPr>
          <p:cNvPr id="2" name="e002_固定模型、固定词汇、固定问题、固定更新规则都不是唯一选择">
            <a:extLst xmlns:a="http://schemas.openxmlformats.org/drawingml/2006/main">
              <a:ext uri="{FF2B5EF4-FFF2-40B4-BE49-F238E27FC236}">
                <a16:creationId xmlns:a16="http://schemas.microsoft.com/office/drawing/2014/main" id="{115650BB-0425-49BD-BBE6-AB5EC2B5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固定模型、固定词汇、固定问题、固定更新规则都不是唯一选择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5293229E-E9AA-4F97-A6D1-7635BBDF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3EA6093E-E54F-4C04-B360-82056736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02 / 36">
            <a:extLst xmlns:a="http://schemas.openxmlformats.org/drawingml/2006/main">
              <a:ext uri="{FF2B5EF4-FFF2-40B4-BE49-F238E27FC236}">
                <a16:creationId xmlns:a16="http://schemas.microsoft.com/office/drawing/2014/main" id="{FF85BB47-B095-44B5-9AA4-DA93A867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02 / 36</a:t>
            </a:r>
          </a:p>
        </p:txBody>
      </p:sp>
      <p:sp>
        <p:nvSpPr>
          <p:cNvPr id="6" name="e006_可改写">
            <a:extLst xmlns:a="http://schemas.openxmlformats.org/drawingml/2006/main">
              <a:ext uri="{FF2B5EF4-FFF2-40B4-BE49-F238E27FC236}">
                <a16:creationId xmlns:a16="http://schemas.microsoft.com/office/drawing/2014/main" id="{FF7BD34B-1DAA-4F8C-96DD-4B22F6A8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190750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可改写</a:t>
            </a:r>
          </a:p>
        </p:txBody>
      </p:sp>
      <p:sp>
        <p:nvSpPr>
          <p:cNvPr id="7" name="e007_模型个体">
            <a:extLst xmlns:a="http://schemas.openxmlformats.org/drawingml/2006/main">
              <a:ext uri="{FF2B5EF4-FFF2-40B4-BE49-F238E27FC236}">
                <a16:creationId xmlns:a16="http://schemas.microsoft.com/office/drawing/2014/main" id="{61012307-45E6-4C6F-A341-F95D9EEC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190750" cy="503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模型个体</a:t>
            </a:r>
          </a:p>
        </p:txBody>
      </p:sp>
      <p:sp>
        <p:nvSpPr>
          <p:cNvPr id="8" name="e008_可改写">
            <a:extLst xmlns:a="http://schemas.openxmlformats.org/drawingml/2006/main">
              <a:ext uri="{FF2B5EF4-FFF2-40B4-BE49-F238E27FC236}">
                <a16:creationId xmlns:a16="http://schemas.microsoft.com/office/drawing/2014/main" id="{767E3DA9-385C-4E03-9F19-6EB258B7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62250"/>
            <a:ext cx="2190750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可改写</a:t>
            </a:r>
          </a:p>
        </p:txBody>
      </p:sp>
      <p:sp>
        <p:nvSpPr>
          <p:cNvPr id="9" name="e009_概念词汇">
            <a:extLst xmlns:a="http://schemas.openxmlformats.org/drawingml/2006/main">
              <a:ext uri="{FF2B5EF4-FFF2-40B4-BE49-F238E27FC236}">
                <a16:creationId xmlns:a16="http://schemas.microsoft.com/office/drawing/2014/main" id="{5ECE48FA-C8BB-4C8F-8013-3FA23A17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2190750" cy="503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概念词汇</a:t>
            </a:r>
          </a:p>
        </p:txBody>
      </p:sp>
      <p:sp>
        <p:nvSpPr>
          <p:cNvPr id="10" name="e010_可改写">
            <a:extLst xmlns:a="http://schemas.openxmlformats.org/drawingml/2006/main">
              <a:ext uri="{FF2B5EF4-FFF2-40B4-BE49-F238E27FC236}">
                <a16:creationId xmlns:a16="http://schemas.microsoft.com/office/drawing/2014/main" id="{938D9A81-54D6-4E0D-ADAA-F21FE4BF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2190750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可改写</a:t>
            </a:r>
          </a:p>
        </p:txBody>
      </p:sp>
      <p:sp>
        <p:nvSpPr>
          <p:cNvPr id="11" name="e011_问题集合">
            <a:extLst xmlns:a="http://schemas.openxmlformats.org/drawingml/2006/main">
              <a:ext uri="{FF2B5EF4-FFF2-40B4-BE49-F238E27FC236}">
                <a16:creationId xmlns:a16="http://schemas.microsoft.com/office/drawing/2014/main" id="{4A91F7C2-8F55-4ECC-929C-9A7B8525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2190750" cy="503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问题集合</a:t>
            </a:r>
          </a:p>
        </p:txBody>
      </p:sp>
      <p:sp>
        <p:nvSpPr>
          <p:cNvPr id="12" name="e012_可改写">
            <a:extLst xmlns:a="http://schemas.openxmlformats.org/drawingml/2006/main">
              <a:ext uri="{FF2B5EF4-FFF2-40B4-BE49-F238E27FC236}">
                <a16:creationId xmlns:a16="http://schemas.microsoft.com/office/drawing/2014/main" id="{52D6A911-162D-4E7A-9EA7-0A42BDA6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62250"/>
            <a:ext cx="2190750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可改写</a:t>
            </a:r>
          </a:p>
        </p:txBody>
      </p:sp>
      <p:sp>
        <p:nvSpPr>
          <p:cNvPr id="13" name="e013_更新规则">
            <a:extLst xmlns:a="http://schemas.openxmlformats.org/drawingml/2006/main">
              <a:ext uri="{FF2B5EF4-FFF2-40B4-BE49-F238E27FC236}">
                <a16:creationId xmlns:a16="http://schemas.microsoft.com/office/drawing/2014/main" id="{38A37314-0B1E-417E-B718-6760A7CB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0"/>
            <a:ext cx="2190750" cy="503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77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更新规则</a:t>
            </a:r>
          </a:p>
        </p:txBody>
      </p:sp>
      <p:sp>
        <p:nvSpPr>
          <p:cNvPr id="14" name="e014_rect">
            <a:extLst xmlns:a="http://schemas.openxmlformats.org/drawingml/2006/main">
              <a:ext uri="{FF2B5EF4-FFF2-40B4-BE49-F238E27FC236}">
                <a16:creationId xmlns:a16="http://schemas.microsoft.com/office/drawing/2014/main" id="{1758799F-196F-484B-A101-841379F1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728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2A25"/>
            </a:solidFill>
            <a:prstDash val="solid"/>
          </a:ln>
        </p:spPr>
      </p:sp>
      <p:sp>
        <p:nvSpPr>
          <p:cNvPr id="15" name="e015_外层不变：用户目标、权限和运行预算">
            <a:extLst xmlns:a="http://schemas.openxmlformats.org/drawingml/2006/main">
              <a:ext uri="{FF2B5EF4-FFF2-40B4-BE49-F238E27FC236}">
                <a16:creationId xmlns:a16="http://schemas.microsoft.com/office/drawing/2014/main" id="{A8DDF267-C768-45B6-A348-7273E80F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10477500" cy="463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5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外层不变：用户目标、权限和运行预算</a:t>
            </a:r>
          </a:p>
        </p:txBody>
      </p:sp>
      <p:sp>
        <p:nvSpPr>
          <p:cNvPr id="16" name="e016_开放内部结构，不授予系统修改用户任务或账号权限的权力">
            <a:extLst xmlns:a="http://schemas.openxmlformats.org/drawingml/2006/main">
              <a:ext uri="{FF2B5EF4-FFF2-40B4-BE49-F238E27FC236}">
                <a16:creationId xmlns:a16="http://schemas.microsoft.com/office/drawing/2014/main" id="{0A6BF0C9-8C31-4CAB-9CDB-4242117B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开放内部结构，不授予系统修改用户任务或账号权限的权力</a:t>
            </a:r>
          </a:p>
        </p:txBody>
      </p:sp>
    </p:spTree>
    <p:extLst>
      <p:ext uri="{BB962C8B-B14F-4D97-AF65-F5344CB8AC3E}">
        <p14:creationId xmlns:p14="http://schemas.microsoft.com/office/powerpoint/2010/main" val="20999748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001_原来的24项解决什么">
            <a:extLst xmlns:a="http://schemas.openxmlformats.org/drawingml/2006/main">
              <a:ext uri="{FF2B5EF4-FFF2-40B4-BE49-F238E27FC236}">
                <a16:creationId xmlns:a16="http://schemas.microsoft.com/office/drawing/2014/main" id="{1B9CC550-3ACF-480D-9518-9EA3FC91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原来的24项解决什么</a:t>
            </a:r>
          </a:p>
        </p:txBody>
      </p:sp>
      <p:sp>
        <p:nvSpPr>
          <p:cNvPr id="2" name="e002_把文字消息升级为可计算对象">
            <a:extLst xmlns:a="http://schemas.openxmlformats.org/drawingml/2006/main">
              <a:ext uri="{FF2B5EF4-FFF2-40B4-BE49-F238E27FC236}">
                <a16:creationId xmlns:a16="http://schemas.microsoft.com/office/drawing/2014/main" id="{2CA1746F-2B24-4CC8-80CD-8AF32D68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把文字消息升级为可计算对象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FDC72D73-F759-4FDF-83CD-82D27195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764BB6CD-41F7-48A2-B724-A89CAAD5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03 / 36">
            <a:extLst xmlns:a="http://schemas.openxmlformats.org/drawingml/2006/main">
              <a:ext uri="{FF2B5EF4-FFF2-40B4-BE49-F238E27FC236}">
                <a16:creationId xmlns:a16="http://schemas.microsoft.com/office/drawing/2014/main" id="{ED05B805-862B-4BE7-9A29-D8A5FAA7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03 / 36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9AF47B62-9A71-49B6-98DB-B0DB6D5F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467100" cy="1266825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7" name="e007_状态">
            <a:extLst xmlns:a="http://schemas.openxmlformats.org/drawingml/2006/main">
              <a:ext uri="{FF2B5EF4-FFF2-40B4-BE49-F238E27FC236}">
                <a16:creationId xmlns:a16="http://schemas.microsoft.com/office/drawing/2014/main" id="{A0FAF1A4-3D97-4AEA-A800-7327B19F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33625"/>
            <a:ext cx="3181350" cy="463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状态</a:t>
            </a:r>
          </a:p>
        </p:txBody>
      </p:sp>
      <p:sp>
        <p:nvSpPr>
          <p:cNvPr id="8" name="e008_可续接的内部对象">
            <a:extLst xmlns:a="http://schemas.openxmlformats.org/drawingml/2006/main">
              <a:ext uri="{FF2B5EF4-FFF2-40B4-BE49-F238E27FC236}">
                <a16:creationId xmlns:a16="http://schemas.microsoft.com/office/drawing/2014/main" id="{FFC154C6-1F3B-467F-A4B5-A4ECBF1F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14638"/>
            <a:ext cx="31813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可续接的内部对象</a:t>
            </a:r>
          </a:p>
        </p:txBody>
      </p:sp>
      <p:sp>
        <p:nvSpPr>
          <p:cNvPr id="9" name="e009_rect">
            <a:extLst xmlns:a="http://schemas.openxmlformats.org/drawingml/2006/main">
              <a:ext uri="{FF2B5EF4-FFF2-40B4-BE49-F238E27FC236}">
                <a16:creationId xmlns:a16="http://schemas.microsoft.com/office/drawing/2014/main" id="{2A241870-063E-4DEF-905D-06ED8D13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90750"/>
            <a:ext cx="3467100" cy="1266825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0" name="e010_算子">
            <a:extLst xmlns:a="http://schemas.openxmlformats.org/drawingml/2006/main">
              <a:ext uri="{FF2B5EF4-FFF2-40B4-BE49-F238E27FC236}">
                <a16:creationId xmlns:a16="http://schemas.microsoft.com/office/drawing/2014/main" id="{287D6FFF-5839-4D91-A434-FF92848B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33625"/>
            <a:ext cx="3181350" cy="463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算子</a:t>
            </a:r>
          </a:p>
        </p:txBody>
      </p:sp>
      <p:sp>
        <p:nvSpPr>
          <p:cNvPr id="11" name="e011_有序复合的作用">
            <a:extLst xmlns:a="http://schemas.openxmlformats.org/drawingml/2006/main">
              <a:ext uri="{FF2B5EF4-FFF2-40B4-BE49-F238E27FC236}">
                <a16:creationId xmlns:a16="http://schemas.microsoft.com/office/drawing/2014/main" id="{3825127A-86B6-4AD9-BDED-AA6B8563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814638"/>
            <a:ext cx="31813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有序复合的作用</a:t>
            </a:r>
          </a:p>
        </p:txBody>
      </p:sp>
      <p:sp>
        <p:nvSpPr>
          <p:cNvPr id="12" name="e012_rect">
            <a:extLst xmlns:a="http://schemas.openxmlformats.org/drawingml/2006/main">
              <a:ext uri="{FF2B5EF4-FFF2-40B4-BE49-F238E27FC236}">
                <a16:creationId xmlns:a16="http://schemas.microsoft.com/office/drawing/2014/main" id="{B51FCAEA-9B2E-4CE0-BB25-E1DC106D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90750"/>
            <a:ext cx="3467100" cy="1266825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13" name="e013_响应">
            <a:extLst xmlns:a="http://schemas.openxmlformats.org/drawingml/2006/main">
              <a:ext uri="{FF2B5EF4-FFF2-40B4-BE49-F238E27FC236}">
                <a16:creationId xmlns:a16="http://schemas.microsoft.com/office/drawing/2014/main" id="{6494164C-CBE3-4B93-A233-282EC1FB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333625"/>
            <a:ext cx="3181350" cy="463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响应</a:t>
            </a:r>
          </a:p>
        </p:txBody>
      </p:sp>
      <p:sp>
        <p:nvSpPr>
          <p:cNvPr id="14" name="e014_带局部有效域">
            <a:extLst xmlns:a="http://schemas.openxmlformats.org/drawingml/2006/main">
              <a:ext uri="{FF2B5EF4-FFF2-40B4-BE49-F238E27FC236}">
                <a16:creationId xmlns:a16="http://schemas.microsoft.com/office/drawing/2014/main" id="{F72DBCC0-E6CF-43CE-B129-EEE93D80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14638"/>
            <a:ext cx="31813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带局部有效域</a:t>
            </a:r>
          </a:p>
        </p:txBody>
      </p:sp>
      <p:sp>
        <p:nvSpPr>
          <p:cNvPr id="15" name="e015_rect">
            <a:extLst xmlns:a="http://schemas.openxmlformats.org/drawingml/2006/main">
              <a:ext uri="{FF2B5EF4-FFF2-40B4-BE49-F238E27FC236}">
                <a16:creationId xmlns:a16="http://schemas.microsoft.com/office/drawing/2014/main" id="{E3527491-5030-4C59-936E-74D442FD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3467100" cy="1266825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E9E1EC"/>
          </a:solidFill>
          <a:ln xmlns:a="http://schemas.openxmlformats.org/drawingml/2006/main" w="19050">
            <a:solidFill>
              <a:srgbClr val="725D7C"/>
            </a:solidFill>
            <a:prstDash val="solid"/>
          </a:ln>
        </p:spPr>
      </p:sp>
      <p:sp>
        <p:nvSpPr>
          <p:cNvPr id="16" name="e016_信念">
            <a:extLst xmlns:a="http://schemas.openxmlformats.org/drawingml/2006/main">
              <a:ext uri="{FF2B5EF4-FFF2-40B4-BE49-F238E27FC236}">
                <a16:creationId xmlns:a16="http://schemas.microsoft.com/office/drawing/2014/main" id="{E115DEAA-769D-457D-B968-9959C6ED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05250"/>
            <a:ext cx="3181350" cy="463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信念</a:t>
            </a:r>
          </a:p>
        </p:txBody>
      </p:sp>
      <p:sp>
        <p:nvSpPr>
          <p:cNvPr id="17" name="e017_保留不确定性">
            <a:extLst xmlns:a="http://schemas.openxmlformats.org/drawingml/2006/main">
              <a:ext uri="{FF2B5EF4-FFF2-40B4-BE49-F238E27FC236}">
                <a16:creationId xmlns:a16="http://schemas.microsoft.com/office/drawing/2014/main" id="{8B0387F1-D87B-4B64-925F-945453BB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86263"/>
            <a:ext cx="31813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保留不确定性</a:t>
            </a:r>
          </a:p>
        </p:txBody>
      </p:sp>
      <p:sp>
        <p:nvSpPr>
          <p:cNvPr id="18" name="e018_rect">
            <a:extLst xmlns:a="http://schemas.openxmlformats.org/drawingml/2006/main">
              <a:ext uri="{FF2B5EF4-FFF2-40B4-BE49-F238E27FC236}">
                <a16:creationId xmlns:a16="http://schemas.microsoft.com/office/drawing/2014/main" id="{2496C23F-B248-446E-9025-2ABCDB84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62375"/>
            <a:ext cx="3467100" cy="1266825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19" name="e019_约束">
            <a:extLst xmlns:a="http://schemas.openxmlformats.org/drawingml/2006/main">
              <a:ext uri="{FF2B5EF4-FFF2-40B4-BE49-F238E27FC236}">
                <a16:creationId xmlns:a16="http://schemas.microsoft.com/office/drawing/2014/main" id="{407E6488-1ADF-4083-8B70-E8256617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905250"/>
            <a:ext cx="3181350" cy="463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约束</a:t>
            </a:r>
          </a:p>
        </p:txBody>
      </p:sp>
      <p:sp>
        <p:nvSpPr>
          <p:cNvPr id="20" name="e020_限制可行域">
            <a:extLst xmlns:a="http://schemas.openxmlformats.org/drawingml/2006/main">
              <a:ext uri="{FF2B5EF4-FFF2-40B4-BE49-F238E27FC236}">
                <a16:creationId xmlns:a16="http://schemas.microsoft.com/office/drawing/2014/main" id="{6ECB7052-FB35-4467-B017-F32DFCA9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386263"/>
            <a:ext cx="31813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限制可行域</a:t>
            </a:r>
          </a:p>
        </p:txBody>
      </p:sp>
      <p:sp>
        <p:nvSpPr>
          <p:cNvPr id="21" name="e021_rect">
            <a:extLst xmlns:a="http://schemas.openxmlformats.org/drawingml/2006/main">
              <a:ext uri="{FF2B5EF4-FFF2-40B4-BE49-F238E27FC236}">
                <a16:creationId xmlns:a16="http://schemas.microsoft.com/office/drawing/2014/main" id="{B9F9A6AA-8EAE-4BD3-80B7-52943AA4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62375"/>
            <a:ext cx="3467100" cy="1266825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22" name="e022_续接">
            <a:extLst xmlns:a="http://schemas.openxmlformats.org/drawingml/2006/main">
              <a:ext uri="{FF2B5EF4-FFF2-40B4-BE49-F238E27FC236}">
                <a16:creationId xmlns:a16="http://schemas.microsoft.com/office/drawing/2014/main" id="{46EA8175-F648-4467-83B5-A75C2172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905250"/>
            <a:ext cx="3181350" cy="463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续接</a:t>
            </a:r>
          </a:p>
        </p:txBody>
      </p:sp>
      <p:sp>
        <p:nvSpPr>
          <p:cNvPr id="23" name="e023_移交未完成计算">
            <a:extLst xmlns:a="http://schemas.openxmlformats.org/drawingml/2006/main">
              <a:ext uri="{FF2B5EF4-FFF2-40B4-BE49-F238E27FC236}">
                <a16:creationId xmlns:a16="http://schemas.microsoft.com/office/drawing/2014/main" id="{37DAB993-064F-484B-A36A-36499229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386263"/>
            <a:ext cx="31813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移交未完成计算</a:t>
            </a:r>
          </a:p>
        </p:txBody>
      </p:sp>
      <p:sp>
        <p:nvSpPr>
          <p:cNvPr id="24" name="e024_H01–H24 保留：消息到达后，接收方能继续操作">
            <a:extLst xmlns:a="http://schemas.openxmlformats.org/drawingml/2006/main">
              <a:ext uri="{FF2B5EF4-FFF2-40B4-BE49-F238E27FC236}">
                <a16:creationId xmlns:a16="http://schemas.microsoft.com/office/drawing/2014/main" id="{7533C861-2C54-4244-BC5F-E5AA3A8A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H01–H24 保留：消息到达后，接收方能继续操作</a:t>
            </a:r>
          </a:p>
        </p:txBody>
      </p:sp>
    </p:spTree>
    <p:extLst>
      <p:ext uri="{BB962C8B-B14F-4D97-AF65-F5344CB8AC3E}">
        <p14:creationId xmlns:p14="http://schemas.microsoft.com/office/powerpoint/2010/main" val="14186260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001_本轮再向前一层">
            <a:extLst xmlns:a="http://schemas.openxmlformats.org/drawingml/2006/main">
              <a:ext uri="{FF2B5EF4-FFF2-40B4-BE49-F238E27FC236}">
                <a16:creationId xmlns:a16="http://schemas.microsoft.com/office/drawing/2014/main" id="{F6035D82-2F53-4C3E-A0F6-5FF8C42C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本轮再向前一层</a:t>
            </a:r>
          </a:p>
        </p:txBody>
      </p:sp>
      <p:sp>
        <p:nvSpPr>
          <p:cNvPr id="2" name="e002_通信可以改变表达空间本身">
            <a:extLst xmlns:a="http://schemas.openxmlformats.org/drawingml/2006/main">
              <a:ext uri="{FF2B5EF4-FFF2-40B4-BE49-F238E27FC236}">
                <a16:creationId xmlns:a16="http://schemas.microsoft.com/office/drawing/2014/main" id="{BCACECC2-556D-435E-BB41-D2B43F20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通信可以改变表达空间本身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5BE661C5-6ED9-4A9F-AA1F-7E89A94B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7735BD82-B84F-4677-B908-BC3AF091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04 / 36">
            <a:extLst xmlns:a="http://schemas.openxmlformats.org/drawingml/2006/main">
              <a:ext uri="{FF2B5EF4-FFF2-40B4-BE49-F238E27FC236}">
                <a16:creationId xmlns:a16="http://schemas.microsoft.com/office/drawing/2014/main" id="{D0146DA8-8B49-45DC-A92C-F48E990F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04 / 36</a:t>
            </a:r>
          </a:p>
        </p:txBody>
      </p:sp>
      <p:sp>
        <p:nvSpPr>
          <p:cNvPr id="6" name="e006_polyline">
            <a:extLst xmlns:a="http://schemas.openxmlformats.org/drawingml/2006/main">
              <a:ext uri="{FF2B5EF4-FFF2-40B4-BE49-F238E27FC236}">
                <a16:creationId xmlns:a16="http://schemas.microsoft.com/office/drawing/2014/main" id="{833C8934-6C3F-415D-9197-B9E71201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95" cy="2714625"/>
          </a:xfrm>
          <a:custGeom xmlns:a="http://schemas.openxmlformats.org/drawingml/2006/main">
            <a:pathLst>
              <a:path w="95" h="2714625">
                <a:moveTo>
                  <a:pt x="0" y="0"/>
                </a:moveTo>
                <a:lnTo>
                  <a:pt x="0" y="2714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7" name="e007_polyline">
            <a:extLst xmlns:a="http://schemas.openxmlformats.org/drawingml/2006/main">
              <a:ext uri="{FF2B5EF4-FFF2-40B4-BE49-F238E27FC236}">
                <a16:creationId xmlns:a16="http://schemas.microsoft.com/office/drawing/2014/main" id="{8F7C6CEA-A104-4DE9-BF3D-BB92D81D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38375"/>
            <a:ext cx="95" cy="2714625"/>
          </a:xfrm>
          <a:custGeom xmlns:a="http://schemas.openxmlformats.org/drawingml/2006/main">
            <a:pathLst>
              <a:path w="95" h="2714625">
                <a:moveTo>
                  <a:pt x="0" y="0"/>
                </a:moveTo>
                <a:lnTo>
                  <a:pt x="0" y="2714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8" name="e008_polyline">
            <a:extLst xmlns:a="http://schemas.openxmlformats.org/drawingml/2006/main">
              <a:ext uri="{FF2B5EF4-FFF2-40B4-BE49-F238E27FC236}">
                <a16:creationId xmlns:a16="http://schemas.microsoft.com/office/drawing/2014/main" id="{23C526CC-1D78-41AC-8AA6-E03DC2C4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38375"/>
            <a:ext cx="95" cy="2714625"/>
          </a:xfrm>
          <a:custGeom xmlns:a="http://schemas.openxmlformats.org/drawingml/2006/main">
            <a:pathLst>
              <a:path w="95" h="2714625">
                <a:moveTo>
                  <a:pt x="0" y="0"/>
                </a:moveTo>
                <a:lnTo>
                  <a:pt x="0" y="2714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B3DDA1F2-AAD3-4932-8F8B-DECDF0ED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95" cy="2714625"/>
          </a:xfrm>
          <a:custGeom xmlns:a="http://schemas.openxmlformats.org/drawingml/2006/main">
            <a:pathLst>
              <a:path w="95" h="2714625">
                <a:moveTo>
                  <a:pt x="0" y="0"/>
                </a:moveTo>
                <a:lnTo>
                  <a:pt x="0" y="2714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998BACBE-8D8D-425E-A796-4DBD0BFE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38375"/>
            <a:ext cx="95" cy="2714625"/>
          </a:xfrm>
          <a:custGeom xmlns:a="http://schemas.openxmlformats.org/drawingml/2006/main">
            <a:pathLst>
              <a:path w="95" h="2714625">
                <a:moveTo>
                  <a:pt x="0" y="0"/>
                </a:moveTo>
                <a:lnTo>
                  <a:pt x="0" y="2714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1" name="e011_polyline">
            <a:extLst xmlns:a="http://schemas.openxmlformats.org/drawingml/2006/main">
              <a:ext uri="{FF2B5EF4-FFF2-40B4-BE49-F238E27FC236}">
                <a16:creationId xmlns:a16="http://schemas.microsoft.com/office/drawing/2014/main" id="{C80EF9D0-5D11-4A23-B74E-04301663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95" cy="2714625"/>
          </a:xfrm>
          <a:custGeom xmlns:a="http://schemas.openxmlformats.org/drawingml/2006/main">
            <a:pathLst>
              <a:path w="95" h="2714625">
                <a:moveTo>
                  <a:pt x="0" y="0"/>
                </a:moveTo>
                <a:lnTo>
                  <a:pt x="0" y="2714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2" name="e012_polyline">
            <a:extLst xmlns:a="http://schemas.openxmlformats.org/drawingml/2006/main">
              <a:ext uri="{FF2B5EF4-FFF2-40B4-BE49-F238E27FC236}">
                <a16:creationId xmlns:a16="http://schemas.microsoft.com/office/drawing/2014/main" id="{71E4F7F5-4D63-42E8-BA73-5D17A12F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38375"/>
            <a:ext cx="95" cy="2714625"/>
          </a:xfrm>
          <a:custGeom xmlns:a="http://schemas.openxmlformats.org/drawingml/2006/main">
            <a:pathLst>
              <a:path w="95" h="2714625">
                <a:moveTo>
                  <a:pt x="0" y="0"/>
                </a:moveTo>
                <a:lnTo>
                  <a:pt x="0" y="2714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3" name="e013_polyline">
            <a:extLst xmlns:a="http://schemas.openxmlformats.org/drawingml/2006/main">
              <a:ext uri="{FF2B5EF4-FFF2-40B4-BE49-F238E27FC236}">
                <a16:creationId xmlns:a16="http://schemas.microsoft.com/office/drawing/2014/main" id="{F3FC87FF-15E9-4B4A-A62A-E789C302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667250" cy="95"/>
          </a:xfrm>
          <a:custGeom xmlns:a="http://schemas.openxmlformats.org/drawingml/2006/main">
            <a:pathLst>
              <a:path w="4667250" h="9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B37D06F2-087A-42E1-8035-28111F86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4667250" cy="95"/>
          </a:xfrm>
          <a:custGeom xmlns:a="http://schemas.openxmlformats.org/drawingml/2006/main">
            <a:pathLst>
              <a:path w="4667250" h="9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7FF4C5E5-0F92-46F7-948D-00CD0996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4667250" cy="95"/>
          </a:xfrm>
          <a:custGeom xmlns:a="http://schemas.openxmlformats.org/drawingml/2006/main">
            <a:pathLst>
              <a:path w="4667250" h="9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6" name="e016_polyline">
            <a:extLst xmlns:a="http://schemas.openxmlformats.org/drawingml/2006/main">
              <a:ext uri="{FF2B5EF4-FFF2-40B4-BE49-F238E27FC236}">
                <a16:creationId xmlns:a16="http://schemas.microsoft.com/office/drawing/2014/main" id="{E08B3C94-2688-488B-8E63-9EB13233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4667250" cy="95"/>
          </a:xfrm>
          <a:custGeom xmlns:a="http://schemas.openxmlformats.org/drawingml/2006/main">
            <a:pathLst>
              <a:path w="4667250" h="9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7" name="e017_polyline">
            <a:extLst xmlns:a="http://schemas.openxmlformats.org/drawingml/2006/main">
              <a:ext uri="{FF2B5EF4-FFF2-40B4-BE49-F238E27FC236}">
                <a16:creationId xmlns:a16="http://schemas.microsoft.com/office/drawing/2014/main" id="{C0BF68F8-958D-49BC-9865-2768142D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667250" cy="95"/>
          </a:xfrm>
          <a:custGeom xmlns:a="http://schemas.openxmlformats.org/drawingml/2006/main">
            <a:pathLst>
              <a:path w="4667250" h="9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8" name="e018_polyline">
            <a:extLst xmlns:a="http://schemas.openxmlformats.org/drawingml/2006/main">
              <a:ext uri="{FF2B5EF4-FFF2-40B4-BE49-F238E27FC236}">
                <a16:creationId xmlns:a16="http://schemas.microsoft.com/office/drawing/2014/main" id="{6C48711C-C5C5-4AC0-80EA-F403D7FC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667250" cy="95"/>
          </a:xfrm>
          <a:custGeom xmlns:a="http://schemas.openxmlformats.org/drawingml/2006/main">
            <a:pathLst>
              <a:path w="4667250" h="9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19" name="e019_polyline">
            <a:extLst xmlns:a="http://schemas.openxmlformats.org/drawingml/2006/main">
              <a:ext uri="{FF2B5EF4-FFF2-40B4-BE49-F238E27FC236}">
                <a16:creationId xmlns:a16="http://schemas.microsoft.com/office/drawing/2014/main" id="{930A442F-84D1-4863-83A1-FFAAB79C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05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20" name="e020_polyline">
            <a:extLst xmlns:a="http://schemas.openxmlformats.org/drawingml/2006/main">
              <a:ext uri="{FF2B5EF4-FFF2-40B4-BE49-F238E27FC236}">
                <a16:creationId xmlns:a16="http://schemas.microsoft.com/office/drawing/2014/main" id="{8B5BBDA8-7DB0-4EBD-A20B-46361F97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5" cy="2809875"/>
          </a:xfrm>
          <a:custGeom xmlns:a="http://schemas.openxmlformats.org/drawingml/2006/main">
            <a:pathLst>
              <a:path w="95" h="2809875">
                <a:moveTo>
                  <a:pt x="0" y="2809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21" name="e021_polyline">
            <a:extLst xmlns:a="http://schemas.openxmlformats.org/drawingml/2006/main">
              <a:ext uri="{FF2B5EF4-FFF2-40B4-BE49-F238E27FC236}">
                <a16:creationId xmlns:a16="http://schemas.microsoft.com/office/drawing/2014/main" id="{AEDBBE0B-F621-47A2-A2D5-5225B217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3125"/>
            <a:ext cx="95250" cy="114300"/>
          </a:xfrm>
          <a:custGeom xmlns:a="http://schemas.openxmlformats.org/drawingml/2006/main">
            <a:pathLst>
              <a:path w="95250" h="114300">
                <a:moveTo>
                  <a:pt x="0" y="114300"/>
                </a:moveTo>
                <a:lnTo>
                  <a:pt x="47625" y="0"/>
                </a:lnTo>
                <a:lnTo>
                  <a:pt x="9525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22" name="e022_原有表示空间">
            <a:extLst xmlns:a="http://schemas.openxmlformats.org/drawingml/2006/main">
              <a:ext uri="{FF2B5EF4-FFF2-40B4-BE49-F238E27FC236}">
                <a16:creationId xmlns:a16="http://schemas.microsoft.com/office/drawing/2014/main" id="{3B4ED88B-74CB-4AAE-BBE4-81975292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4381500" cy="367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0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原有表示空间</a:t>
            </a:r>
          </a:p>
        </p:txBody>
      </p:sp>
      <p:sp>
        <p:nvSpPr>
          <p:cNvPr id="23" name="e023_polyline">
            <a:extLst xmlns:a="http://schemas.openxmlformats.org/drawingml/2006/main">
              <a:ext uri="{FF2B5EF4-FFF2-40B4-BE49-F238E27FC236}">
                <a16:creationId xmlns:a16="http://schemas.microsoft.com/office/drawing/2014/main" id="{48E22741-D8D2-42BC-A044-EF0CF093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952500" cy="95"/>
          </a:xfrm>
          <a:custGeom xmlns:a="http://schemas.openxmlformats.org/drawingml/2006/main">
            <a:pathLst>
              <a:path w="952500" h="9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C5138"/>
            </a:solidFill>
            <a:prstDash val="solid"/>
          </a:ln>
        </p:spPr>
      </p:sp>
      <p:sp>
        <p:nvSpPr>
          <p:cNvPr id="24" name="e024_polyline">
            <a:extLst xmlns:a="http://schemas.openxmlformats.org/drawingml/2006/main">
              <a:ext uri="{FF2B5EF4-FFF2-40B4-BE49-F238E27FC236}">
                <a16:creationId xmlns:a16="http://schemas.microsoft.com/office/drawing/2014/main" id="{5FDF84B7-5407-4763-8B47-F1CA9D87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2425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C5138"/>
            </a:solidFill>
            <a:prstDash val="solid"/>
          </a:ln>
        </p:spPr>
      </p:sp>
      <p:sp>
        <p:nvSpPr>
          <p:cNvPr id="25" name="e025_新增可计算区分">
            <a:extLst xmlns:a="http://schemas.openxmlformats.org/drawingml/2006/main">
              <a:ext uri="{FF2B5EF4-FFF2-40B4-BE49-F238E27FC236}">
                <a16:creationId xmlns:a16="http://schemas.microsoft.com/office/drawing/2014/main" id="{003905CE-069E-4CAD-B56A-0FA3F2C9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381000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7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7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7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7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7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7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7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7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7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7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rPr>
              <a:t>新增可计算区分</a:t>
            </a:r>
          </a:p>
        </p:txBody>
      </p:sp>
      <p:sp>
        <p:nvSpPr>
          <p:cNvPr id="26" name="e026_新变量&#10;新类型&#10;新操作">
            <a:extLst xmlns:a="http://schemas.openxmlformats.org/drawingml/2006/main">
              <a:ext uri="{FF2B5EF4-FFF2-40B4-BE49-F238E27FC236}">
                <a16:creationId xmlns:a16="http://schemas.microsoft.com/office/drawing/2014/main" id="{CD997AF5-A652-435F-8BF3-DEE03C89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3810000" cy="1430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新变量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新类型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新操作</a:t>
            </a:r>
          </a:p>
        </p:txBody>
      </p:sp>
      <p:sp>
        <p:nvSpPr>
          <p:cNvPr id="27" name="e027_结构变化须给出定义与迁移，不能只添一根装饰性坐标轴">
            <a:extLst xmlns:a="http://schemas.openxmlformats.org/drawingml/2006/main">
              <a:ext uri="{FF2B5EF4-FFF2-40B4-BE49-F238E27FC236}">
                <a16:creationId xmlns:a16="http://schemas.microsoft.com/office/drawing/2014/main" id="{F7A9B616-3915-4C7C-A412-2F3B039A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结构变化须给出定义与迁移，不能只添一根装饰性坐标轴</a:t>
            </a:r>
          </a:p>
        </p:txBody>
      </p:sp>
    </p:spTree>
    <p:extLst>
      <p:ext uri="{BB962C8B-B14F-4D97-AF65-F5344CB8AC3E}">
        <p14:creationId xmlns:p14="http://schemas.microsoft.com/office/powerpoint/2010/main" val="19770607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e001_48项机制的全景">
            <a:extLst xmlns:a="http://schemas.openxmlformats.org/drawingml/2006/main">
              <a:ext uri="{FF2B5EF4-FFF2-40B4-BE49-F238E27FC236}">
                <a16:creationId xmlns:a16="http://schemas.microsoft.com/office/drawing/2014/main" id="{0E7B8FDD-40CE-4BDB-8B89-A69EA543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48项机制的全景</a:t>
            </a:r>
          </a:p>
        </p:txBody>
      </p:sp>
      <p:sp>
        <p:nvSpPr>
          <p:cNvPr id="2" name="e002_基础24＋新增24，不是48项已证成果">
            <a:extLst xmlns:a="http://schemas.openxmlformats.org/drawingml/2006/main">
              <a:ext uri="{FF2B5EF4-FFF2-40B4-BE49-F238E27FC236}">
                <a16:creationId xmlns:a16="http://schemas.microsoft.com/office/drawing/2014/main" id="{EB6DA1A2-CF73-4963-B78D-A1CC98E1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基础24＋新增24，不是48项已证成果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EF426D57-CB25-44ED-A381-1ED3D02F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35EFE3DD-1889-4F47-B03A-77954526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05 / 36">
            <a:extLst xmlns:a="http://schemas.openxmlformats.org/drawingml/2006/main">
              <a:ext uri="{FF2B5EF4-FFF2-40B4-BE49-F238E27FC236}">
                <a16:creationId xmlns:a16="http://schemas.microsoft.com/office/drawing/2014/main" id="{141625F4-6D2D-44BD-8E5C-04E8DA94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05 / 36</a:t>
            </a:r>
          </a:p>
        </p:txBody>
      </p:sp>
      <p:sp>
        <p:nvSpPr>
          <p:cNvPr id="6" name="e006_基础对象">
            <a:extLst xmlns:a="http://schemas.openxmlformats.org/drawingml/2006/main">
              <a:ext uri="{FF2B5EF4-FFF2-40B4-BE49-F238E27FC236}">
                <a16:creationId xmlns:a16="http://schemas.microsoft.com/office/drawing/2014/main" id="{B63DDCAE-72E8-4265-A013-71693269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00025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基础对象</a:t>
            </a:r>
          </a:p>
        </p:txBody>
      </p:sp>
      <p:sp>
        <p:nvSpPr>
          <p:cNvPr id="7" name="e007_H01">
            <a:extLst xmlns:a="http://schemas.openxmlformats.org/drawingml/2006/main">
              <a:ext uri="{FF2B5EF4-FFF2-40B4-BE49-F238E27FC236}">
                <a16:creationId xmlns:a16="http://schemas.microsoft.com/office/drawing/2014/main" id="{2EF24CE6-CB1B-4B2E-A3C6-4412138D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478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H01</a:t>
            </a:r>
          </a:p>
        </p:txBody>
      </p:sp>
      <p:sp>
        <p:nvSpPr>
          <p:cNvPr id="8" name="e008_H02">
            <a:extLst xmlns:a="http://schemas.openxmlformats.org/drawingml/2006/main">
              <a:ext uri="{FF2B5EF4-FFF2-40B4-BE49-F238E27FC236}">
                <a16:creationId xmlns:a16="http://schemas.microsoft.com/office/drawing/2014/main" id="{3B7ACEBB-4678-4A2B-84E3-F9690038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478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H02</a:t>
            </a:r>
          </a:p>
        </p:txBody>
      </p:sp>
      <p:sp>
        <p:nvSpPr>
          <p:cNvPr id="9" name="e009_H03">
            <a:extLst xmlns:a="http://schemas.openxmlformats.org/drawingml/2006/main">
              <a:ext uri="{FF2B5EF4-FFF2-40B4-BE49-F238E27FC236}">
                <a16:creationId xmlns:a16="http://schemas.microsoft.com/office/drawing/2014/main" id="{558D277F-5664-4AA7-A7FD-91B7196A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0478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H03</a:t>
            </a:r>
          </a:p>
        </p:txBody>
      </p:sp>
      <p:sp>
        <p:nvSpPr>
          <p:cNvPr id="10" name="e010_H04">
            <a:extLst xmlns:a="http://schemas.openxmlformats.org/drawingml/2006/main">
              <a:ext uri="{FF2B5EF4-FFF2-40B4-BE49-F238E27FC236}">
                <a16:creationId xmlns:a16="http://schemas.microsoft.com/office/drawing/2014/main" id="{49E5A029-0501-4B5E-8163-C8E88B19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478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H04</a:t>
            </a:r>
          </a:p>
        </p:txBody>
      </p:sp>
      <p:sp>
        <p:nvSpPr>
          <p:cNvPr id="11" name="e011_H05">
            <a:extLst xmlns:a="http://schemas.openxmlformats.org/drawingml/2006/main">
              <a:ext uri="{FF2B5EF4-FFF2-40B4-BE49-F238E27FC236}">
                <a16:creationId xmlns:a16="http://schemas.microsoft.com/office/drawing/2014/main" id="{C6548CC3-01FB-49B7-8846-C307712D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478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H05</a:t>
            </a:r>
          </a:p>
        </p:txBody>
      </p:sp>
      <p:sp>
        <p:nvSpPr>
          <p:cNvPr id="12" name="e012_H06">
            <a:extLst xmlns:a="http://schemas.openxmlformats.org/drawingml/2006/main">
              <a:ext uri="{FF2B5EF4-FFF2-40B4-BE49-F238E27FC236}">
                <a16:creationId xmlns:a16="http://schemas.microsoft.com/office/drawing/2014/main" id="{1EBB90E8-CE54-4A36-8050-549391B9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H06</a:t>
            </a:r>
          </a:p>
        </p:txBody>
      </p:sp>
      <p:sp>
        <p:nvSpPr>
          <p:cNvPr id="13" name="e013_H07">
            <a:extLst xmlns:a="http://schemas.openxmlformats.org/drawingml/2006/main">
              <a:ext uri="{FF2B5EF4-FFF2-40B4-BE49-F238E27FC236}">
                <a16:creationId xmlns:a16="http://schemas.microsoft.com/office/drawing/2014/main" id="{94CD7C79-9F93-40D6-B8CE-5AE3A953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478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H07</a:t>
            </a:r>
          </a:p>
        </p:txBody>
      </p:sp>
      <p:sp>
        <p:nvSpPr>
          <p:cNvPr id="14" name="e014_H08">
            <a:extLst xmlns:a="http://schemas.openxmlformats.org/drawingml/2006/main">
              <a:ext uri="{FF2B5EF4-FFF2-40B4-BE49-F238E27FC236}">
                <a16:creationId xmlns:a16="http://schemas.microsoft.com/office/drawing/2014/main" id="{63E46FCF-2376-45CC-8C16-5C138ACD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478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H08</a:t>
            </a:r>
          </a:p>
        </p:txBody>
      </p:sp>
      <p:sp>
        <p:nvSpPr>
          <p:cNvPr id="15" name="e015_H09">
            <a:extLst xmlns:a="http://schemas.openxmlformats.org/drawingml/2006/main">
              <a:ext uri="{FF2B5EF4-FFF2-40B4-BE49-F238E27FC236}">
                <a16:creationId xmlns:a16="http://schemas.microsoft.com/office/drawing/2014/main" id="{62BB082A-6DD2-4275-9BB9-63337C0C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478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H09</a:t>
            </a:r>
          </a:p>
        </p:txBody>
      </p:sp>
      <p:sp>
        <p:nvSpPr>
          <p:cNvPr id="16" name="e016_H10">
            <a:extLst xmlns:a="http://schemas.openxmlformats.org/drawingml/2006/main">
              <a:ext uri="{FF2B5EF4-FFF2-40B4-BE49-F238E27FC236}">
                <a16:creationId xmlns:a16="http://schemas.microsoft.com/office/drawing/2014/main" id="{81B9FC1D-1974-4023-BC26-D37088D9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478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H10</a:t>
            </a:r>
          </a:p>
        </p:txBody>
      </p:sp>
      <p:sp>
        <p:nvSpPr>
          <p:cNvPr id="17" name="e017_H11">
            <a:extLst xmlns:a="http://schemas.openxmlformats.org/drawingml/2006/main">
              <a:ext uri="{FF2B5EF4-FFF2-40B4-BE49-F238E27FC236}">
                <a16:creationId xmlns:a16="http://schemas.microsoft.com/office/drawing/2014/main" id="{2318F1AC-5D85-4DCA-A822-1577387B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478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H11</a:t>
            </a:r>
          </a:p>
        </p:txBody>
      </p:sp>
      <p:sp>
        <p:nvSpPr>
          <p:cNvPr id="18" name="e018_H12">
            <a:extLst xmlns:a="http://schemas.openxmlformats.org/drawingml/2006/main">
              <a:ext uri="{FF2B5EF4-FFF2-40B4-BE49-F238E27FC236}">
                <a16:creationId xmlns:a16="http://schemas.microsoft.com/office/drawing/2014/main" id="{7321B8BA-8E3B-4582-B76C-F9D294F3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0478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H12</a:t>
            </a:r>
          </a:p>
        </p:txBody>
      </p:sp>
      <p:sp>
        <p:nvSpPr>
          <p:cNvPr id="19" name="e019_H13">
            <a:extLst xmlns:a="http://schemas.openxmlformats.org/drawingml/2006/main">
              <a:ext uri="{FF2B5EF4-FFF2-40B4-BE49-F238E27FC236}">
                <a16:creationId xmlns:a16="http://schemas.microsoft.com/office/drawing/2014/main" id="{A4116499-F84A-46B3-BBC4-E217092E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5745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H13</a:t>
            </a:r>
          </a:p>
        </p:txBody>
      </p:sp>
      <p:sp>
        <p:nvSpPr>
          <p:cNvPr id="20" name="e020_H14">
            <a:extLst xmlns:a="http://schemas.openxmlformats.org/drawingml/2006/main">
              <a:ext uri="{FF2B5EF4-FFF2-40B4-BE49-F238E27FC236}">
                <a16:creationId xmlns:a16="http://schemas.microsoft.com/office/drawing/2014/main" id="{E0C024E1-5D11-43BA-AFC7-25B9CA7C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5745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H14</a:t>
            </a:r>
          </a:p>
        </p:txBody>
      </p:sp>
      <p:sp>
        <p:nvSpPr>
          <p:cNvPr id="21" name="e021_H15">
            <a:extLst xmlns:a="http://schemas.openxmlformats.org/drawingml/2006/main">
              <a:ext uri="{FF2B5EF4-FFF2-40B4-BE49-F238E27FC236}">
                <a16:creationId xmlns:a16="http://schemas.microsoft.com/office/drawing/2014/main" id="{20382A91-5983-4F24-AC1C-71E3838C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5745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H15</a:t>
            </a:r>
          </a:p>
        </p:txBody>
      </p:sp>
      <p:sp>
        <p:nvSpPr>
          <p:cNvPr id="22" name="e022_H16">
            <a:extLst xmlns:a="http://schemas.openxmlformats.org/drawingml/2006/main">
              <a:ext uri="{FF2B5EF4-FFF2-40B4-BE49-F238E27FC236}">
                <a16:creationId xmlns:a16="http://schemas.microsoft.com/office/drawing/2014/main" id="{D327F1A1-DA6C-47CB-B945-C6B8B1AB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5745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H16</a:t>
            </a:r>
          </a:p>
        </p:txBody>
      </p:sp>
      <p:sp>
        <p:nvSpPr>
          <p:cNvPr id="23" name="e023_H17">
            <a:extLst xmlns:a="http://schemas.openxmlformats.org/drawingml/2006/main">
              <a:ext uri="{FF2B5EF4-FFF2-40B4-BE49-F238E27FC236}">
                <a16:creationId xmlns:a16="http://schemas.microsoft.com/office/drawing/2014/main" id="{121C3FCA-6F83-4F40-ACE6-CEA6FC11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5745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H17</a:t>
            </a:r>
          </a:p>
        </p:txBody>
      </p:sp>
      <p:sp>
        <p:nvSpPr>
          <p:cNvPr id="24" name="e024_H18">
            <a:extLst xmlns:a="http://schemas.openxmlformats.org/drawingml/2006/main">
              <a:ext uri="{FF2B5EF4-FFF2-40B4-BE49-F238E27FC236}">
                <a16:creationId xmlns:a16="http://schemas.microsoft.com/office/drawing/2014/main" id="{F712A08B-B0A6-424A-B214-1A35AB7B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H18</a:t>
            </a:r>
          </a:p>
        </p:txBody>
      </p:sp>
      <p:sp>
        <p:nvSpPr>
          <p:cNvPr id="25" name="e025_H19">
            <a:extLst xmlns:a="http://schemas.openxmlformats.org/drawingml/2006/main">
              <a:ext uri="{FF2B5EF4-FFF2-40B4-BE49-F238E27FC236}">
                <a16:creationId xmlns:a16="http://schemas.microsoft.com/office/drawing/2014/main" id="{B6E816C3-3C2D-4E13-895A-4DB74EF1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H19</a:t>
            </a:r>
          </a:p>
        </p:txBody>
      </p:sp>
      <p:sp>
        <p:nvSpPr>
          <p:cNvPr id="26" name="e026_H20">
            <a:extLst xmlns:a="http://schemas.openxmlformats.org/drawingml/2006/main">
              <a:ext uri="{FF2B5EF4-FFF2-40B4-BE49-F238E27FC236}">
                <a16:creationId xmlns:a16="http://schemas.microsoft.com/office/drawing/2014/main" id="{446EF2C1-BF93-41FB-8E5A-24C349F6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5745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H20</a:t>
            </a:r>
          </a:p>
        </p:txBody>
      </p:sp>
      <p:sp>
        <p:nvSpPr>
          <p:cNvPr id="27" name="e027_H21">
            <a:extLst xmlns:a="http://schemas.openxmlformats.org/drawingml/2006/main">
              <a:ext uri="{FF2B5EF4-FFF2-40B4-BE49-F238E27FC236}">
                <a16:creationId xmlns:a16="http://schemas.microsoft.com/office/drawing/2014/main" id="{F1EBDCA6-7047-4D3A-B829-ACE8081A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H21</a:t>
            </a:r>
          </a:p>
        </p:txBody>
      </p:sp>
      <p:sp>
        <p:nvSpPr>
          <p:cNvPr id="28" name="e028_H22">
            <a:extLst xmlns:a="http://schemas.openxmlformats.org/drawingml/2006/main">
              <a:ext uri="{FF2B5EF4-FFF2-40B4-BE49-F238E27FC236}">
                <a16:creationId xmlns:a16="http://schemas.microsoft.com/office/drawing/2014/main" id="{CBA91D3F-4EE8-42AF-B88D-D8529342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H22</a:t>
            </a:r>
          </a:p>
        </p:txBody>
      </p:sp>
      <p:sp>
        <p:nvSpPr>
          <p:cNvPr id="29" name="e029_H23">
            <a:extLst xmlns:a="http://schemas.openxmlformats.org/drawingml/2006/main">
              <a:ext uri="{FF2B5EF4-FFF2-40B4-BE49-F238E27FC236}">
                <a16:creationId xmlns:a16="http://schemas.microsoft.com/office/drawing/2014/main" id="{26A0D97F-70FF-445D-AF34-85B23F74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5745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H23</a:t>
            </a:r>
          </a:p>
        </p:txBody>
      </p:sp>
      <p:sp>
        <p:nvSpPr>
          <p:cNvPr id="30" name="e030_H24">
            <a:extLst xmlns:a="http://schemas.openxmlformats.org/drawingml/2006/main">
              <a:ext uri="{FF2B5EF4-FFF2-40B4-BE49-F238E27FC236}">
                <a16:creationId xmlns:a16="http://schemas.microsoft.com/office/drawing/2014/main" id="{3EDA2746-0015-4EC7-B70C-D3DBF5AA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45745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H24</a:t>
            </a:r>
          </a:p>
        </p:txBody>
      </p:sp>
      <p:sp>
        <p:nvSpPr>
          <p:cNvPr id="31" name="e031_认知结构">
            <a:extLst xmlns:a="http://schemas.openxmlformats.org/drawingml/2006/main">
              <a:ext uri="{FF2B5EF4-FFF2-40B4-BE49-F238E27FC236}">
                <a16:creationId xmlns:a16="http://schemas.microsoft.com/office/drawing/2014/main" id="{A4119139-6037-437C-A171-7456889D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00025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认知结构</a:t>
            </a:r>
          </a:p>
        </p:txBody>
      </p:sp>
      <p:sp>
        <p:nvSpPr>
          <p:cNvPr id="32" name="e032_H25">
            <a:extLst xmlns:a="http://schemas.openxmlformats.org/drawingml/2006/main">
              <a:ext uri="{FF2B5EF4-FFF2-40B4-BE49-F238E27FC236}">
                <a16:creationId xmlns:a16="http://schemas.microsoft.com/office/drawing/2014/main" id="{678644E4-3843-4236-AF1C-E2C85EC6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385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H25</a:t>
            </a:r>
          </a:p>
        </p:txBody>
      </p:sp>
      <p:sp>
        <p:nvSpPr>
          <p:cNvPr id="33" name="e033_H26">
            <a:extLst xmlns:a="http://schemas.openxmlformats.org/drawingml/2006/main">
              <a:ext uri="{FF2B5EF4-FFF2-40B4-BE49-F238E27FC236}">
                <a16:creationId xmlns:a16="http://schemas.microsoft.com/office/drawing/2014/main" id="{68F9A6F6-E30F-47A7-8C8D-0E14DCFE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385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H26</a:t>
            </a:r>
          </a:p>
        </p:txBody>
      </p:sp>
      <p:sp>
        <p:nvSpPr>
          <p:cNvPr id="34" name="e034_H27">
            <a:extLst xmlns:a="http://schemas.openxmlformats.org/drawingml/2006/main">
              <a:ext uri="{FF2B5EF4-FFF2-40B4-BE49-F238E27FC236}">
                <a16:creationId xmlns:a16="http://schemas.microsoft.com/office/drawing/2014/main" id="{FEE4D15B-DA4C-4BE6-9ADD-855F814C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2385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H27</a:t>
            </a:r>
          </a:p>
        </p:txBody>
      </p:sp>
      <p:sp>
        <p:nvSpPr>
          <p:cNvPr id="35" name="e035_H28">
            <a:extLst xmlns:a="http://schemas.openxmlformats.org/drawingml/2006/main">
              <a:ext uri="{FF2B5EF4-FFF2-40B4-BE49-F238E27FC236}">
                <a16:creationId xmlns:a16="http://schemas.microsoft.com/office/drawing/2014/main" id="{D9F7B441-AC3C-462E-B921-A719468C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385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H28</a:t>
            </a:r>
          </a:p>
        </p:txBody>
      </p:sp>
      <p:sp>
        <p:nvSpPr>
          <p:cNvPr id="36" name="e036_H29">
            <a:extLst xmlns:a="http://schemas.openxmlformats.org/drawingml/2006/main">
              <a:ext uri="{FF2B5EF4-FFF2-40B4-BE49-F238E27FC236}">
                <a16:creationId xmlns:a16="http://schemas.microsoft.com/office/drawing/2014/main" id="{997105AB-7648-4E3F-BF29-185E104E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385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H29</a:t>
            </a:r>
          </a:p>
        </p:txBody>
      </p:sp>
      <p:sp>
        <p:nvSpPr>
          <p:cNvPr id="37" name="e037_H30">
            <a:extLst xmlns:a="http://schemas.openxmlformats.org/drawingml/2006/main">
              <a:ext uri="{FF2B5EF4-FFF2-40B4-BE49-F238E27FC236}">
                <a16:creationId xmlns:a16="http://schemas.microsoft.com/office/drawing/2014/main" id="{8E11168D-35F2-4835-A7C7-B74EA8DB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H30</a:t>
            </a:r>
          </a:p>
        </p:txBody>
      </p:sp>
      <p:sp>
        <p:nvSpPr>
          <p:cNvPr id="38" name="e038_H31">
            <a:extLst xmlns:a="http://schemas.openxmlformats.org/drawingml/2006/main">
              <a:ext uri="{FF2B5EF4-FFF2-40B4-BE49-F238E27FC236}">
                <a16:creationId xmlns:a16="http://schemas.microsoft.com/office/drawing/2014/main" id="{4F823E3F-281B-4A3F-8A9F-1DC0FACE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385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H31</a:t>
            </a:r>
          </a:p>
        </p:txBody>
      </p:sp>
      <p:sp>
        <p:nvSpPr>
          <p:cNvPr id="39" name="e039_H32">
            <a:extLst xmlns:a="http://schemas.openxmlformats.org/drawingml/2006/main">
              <a:ext uri="{FF2B5EF4-FFF2-40B4-BE49-F238E27FC236}">
                <a16:creationId xmlns:a16="http://schemas.microsoft.com/office/drawing/2014/main" id="{46C4E1C4-B98A-4CFF-B140-9BD52EB1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385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H32</a:t>
            </a:r>
          </a:p>
        </p:txBody>
      </p:sp>
      <p:sp>
        <p:nvSpPr>
          <p:cNvPr id="40" name="e040_H33">
            <a:extLst xmlns:a="http://schemas.openxmlformats.org/drawingml/2006/main">
              <a:ext uri="{FF2B5EF4-FFF2-40B4-BE49-F238E27FC236}">
                <a16:creationId xmlns:a16="http://schemas.microsoft.com/office/drawing/2014/main" id="{2D0DA202-9E67-4809-AECF-C3869D53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385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H33</a:t>
            </a:r>
          </a:p>
        </p:txBody>
      </p:sp>
      <p:sp>
        <p:nvSpPr>
          <p:cNvPr id="41" name="e041_H34">
            <a:extLst xmlns:a="http://schemas.openxmlformats.org/drawingml/2006/main">
              <a:ext uri="{FF2B5EF4-FFF2-40B4-BE49-F238E27FC236}">
                <a16:creationId xmlns:a16="http://schemas.microsoft.com/office/drawing/2014/main" id="{5BFFC448-D19C-4713-9EAF-5F2AD364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385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H34</a:t>
            </a:r>
          </a:p>
        </p:txBody>
      </p:sp>
      <p:sp>
        <p:nvSpPr>
          <p:cNvPr id="42" name="e042_H35">
            <a:extLst xmlns:a="http://schemas.openxmlformats.org/drawingml/2006/main">
              <a:ext uri="{FF2B5EF4-FFF2-40B4-BE49-F238E27FC236}">
                <a16:creationId xmlns:a16="http://schemas.microsoft.com/office/drawing/2014/main" id="{15D264D6-BF38-455F-B32D-1D201126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385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H35</a:t>
            </a:r>
          </a:p>
        </p:txBody>
      </p:sp>
      <p:sp>
        <p:nvSpPr>
          <p:cNvPr id="43" name="e043_H36">
            <a:extLst xmlns:a="http://schemas.openxmlformats.org/drawingml/2006/main">
              <a:ext uri="{FF2B5EF4-FFF2-40B4-BE49-F238E27FC236}">
                <a16:creationId xmlns:a16="http://schemas.microsoft.com/office/drawing/2014/main" id="{2D7C86EC-5E0E-40EF-B3F7-F9FC4322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2385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H36</a:t>
            </a:r>
          </a:p>
        </p:txBody>
      </p:sp>
      <p:sp>
        <p:nvSpPr>
          <p:cNvPr id="44" name="e044_H37">
            <a:extLst xmlns:a="http://schemas.openxmlformats.org/drawingml/2006/main">
              <a:ext uri="{FF2B5EF4-FFF2-40B4-BE49-F238E27FC236}">
                <a16:creationId xmlns:a16="http://schemas.microsoft.com/office/drawing/2014/main" id="{EE0DE192-1322-43AD-BE6F-724CBDA6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480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H37</a:t>
            </a:r>
          </a:p>
        </p:txBody>
      </p:sp>
      <p:sp>
        <p:nvSpPr>
          <p:cNvPr id="45" name="e045_H38">
            <a:extLst xmlns:a="http://schemas.openxmlformats.org/drawingml/2006/main">
              <a:ext uri="{FF2B5EF4-FFF2-40B4-BE49-F238E27FC236}">
                <a16:creationId xmlns:a16="http://schemas.microsoft.com/office/drawing/2014/main" id="{C0631272-FE37-4B8F-98F9-20F0442B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480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H38</a:t>
            </a:r>
          </a:p>
        </p:txBody>
      </p:sp>
      <p:sp>
        <p:nvSpPr>
          <p:cNvPr id="46" name="e046_H39">
            <a:extLst xmlns:a="http://schemas.openxmlformats.org/drawingml/2006/main">
              <a:ext uri="{FF2B5EF4-FFF2-40B4-BE49-F238E27FC236}">
                <a16:creationId xmlns:a16="http://schemas.microsoft.com/office/drawing/2014/main" id="{51FC529D-0177-4916-842F-0FFC6DA6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6480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H39</a:t>
            </a:r>
          </a:p>
        </p:txBody>
      </p:sp>
      <p:sp>
        <p:nvSpPr>
          <p:cNvPr id="47" name="e047_H40">
            <a:extLst xmlns:a="http://schemas.openxmlformats.org/drawingml/2006/main">
              <a:ext uri="{FF2B5EF4-FFF2-40B4-BE49-F238E27FC236}">
                <a16:creationId xmlns:a16="http://schemas.microsoft.com/office/drawing/2014/main" id="{4A1F30AD-3C98-480C-9885-9D1B1D42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480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H40</a:t>
            </a:r>
          </a:p>
        </p:txBody>
      </p:sp>
      <p:sp>
        <p:nvSpPr>
          <p:cNvPr id="48" name="e048_H41">
            <a:extLst xmlns:a="http://schemas.openxmlformats.org/drawingml/2006/main">
              <a:ext uri="{FF2B5EF4-FFF2-40B4-BE49-F238E27FC236}">
                <a16:creationId xmlns:a16="http://schemas.microsoft.com/office/drawing/2014/main" id="{251B2887-B5D9-406E-84F7-50AF1C45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480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H41</a:t>
            </a:r>
          </a:p>
        </p:txBody>
      </p:sp>
      <p:sp>
        <p:nvSpPr>
          <p:cNvPr id="49" name="e049_H42">
            <a:extLst xmlns:a="http://schemas.openxmlformats.org/drawingml/2006/main">
              <a:ext uri="{FF2B5EF4-FFF2-40B4-BE49-F238E27FC236}">
                <a16:creationId xmlns:a16="http://schemas.microsoft.com/office/drawing/2014/main" id="{62F39398-4A7E-4AAB-AE68-CBF3E887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480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H42</a:t>
            </a:r>
          </a:p>
        </p:txBody>
      </p:sp>
      <p:sp>
        <p:nvSpPr>
          <p:cNvPr id="50" name="e050_H43">
            <a:extLst xmlns:a="http://schemas.openxmlformats.org/drawingml/2006/main">
              <a:ext uri="{FF2B5EF4-FFF2-40B4-BE49-F238E27FC236}">
                <a16:creationId xmlns:a16="http://schemas.microsoft.com/office/drawing/2014/main" id="{69149E7C-F4AE-47C5-8A30-6F267133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480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H43</a:t>
            </a:r>
          </a:p>
        </p:txBody>
      </p:sp>
      <p:sp>
        <p:nvSpPr>
          <p:cNvPr id="51" name="e051_H44">
            <a:extLst xmlns:a="http://schemas.openxmlformats.org/drawingml/2006/main">
              <a:ext uri="{FF2B5EF4-FFF2-40B4-BE49-F238E27FC236}">
                <a16:creationId xmlns:a16="http://schemas.microsoft.com/office/drawing/2014/main" id="{6E7EBBBF-A7A8-452F-A2A7-43AE42A8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480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H44</a:t>
            </a:r>
          </a:p>
        </p:txBody>
      </p:sp>
      <p:sp>
        <p:nvSpPr>
          <p:cNvPr id="52" name="e052_H45">
            <a:extLst xmlns:a="http://schemas.openxmlformats.org/drawingml/2006/main">
              <a:ext uri="{FF2B5EF4-FFF2-40B4-BE49-F238E27FC236}">
                <a16:creationId xmlns:a16="http://schemas.microsoft.com/office/drawing/2014/main" id="{275B4416-7BB3-4F31-9878-B738370C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480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H45</a:t>
            </a:r>
          </a:p>
        </p:txBody>
      </p:sp>
      <p:sp>
        <p:nvSpPr>
          <p:cNvPr id="53" name="e053_H46">
            <a:extLst xmlns:a="http://schemas.openxmlformats.org/drawingml/2006/main">
              <a:ext uri="{FF2B5EF4-FFF2-40B4-BE49-F238E27FC236}">
                <a16:creationId xmlns:a16="http://schemas.microsoft.com/office/drawing/2014/main" id="{A09106E7-2228-49E6-8F5C-23D97DB8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480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H46</a:t>
            </a:r>
          </a:p>
        </p:txBody>
      </p:sp>
      <p:sp>
        <p:nvSpPr>
          <p:cNvPr id="54" name="e054_H47">
            <a:extLst xmlns:a="http://schemas.openxmlformats.org/drawingml/2006/main">
              <a:ext uri="{FF2B5EF4-FFF2-40B4-BE49-F238E27FC236}">
                <a16:creationId xmlns:a16="http://schemas.microsoft.com/office/drawing/2014/main" id="{13DBC3DA-2510-4F6E-8B86-BB38DCA9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H47</a:t>
            </a:r>
          </a:p>
        </p:txBody>
      </p:sp>
      <p:sp>
        <p:nvSpPr>
          <p:cNvPr id="55" name="e055_H48">
            <a:extLst xmlns:a="http://schemas.openxmlformats.org/drawingml/2006/main">
              <a:ext uri="{FF2B5EF4-FFF2-40B4-BE49-F238E27FC236}">
                <a16:creationId xmlns:a16="http://schemas.microsoft.com/office/drawing/2014/main" id="{F933D058-819A-43ED-8DBC-7738E0CF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480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H48</a:t>
            </a:r>
          </a:p>
        </p:txBody>
      </p:sp>
      <p:sp>
        <p:nvSpPr>
          <p:cNvPr id="56" name="e056_远期架构">
            <a:extLst xmlns:a="http://schemas.openxmlformats.org/drawingml/2006/main">
              <a:ext uri="{FF2B5EF4-FFF2-40B4-BE49-F238E27FC236}">
                <a16:creationId xmlns:a16="http://schemas.microsoft.com/office/drawing/2014/main" id="{73B61847-B0A6-459D-81B2-ED012371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00025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远期架构</a:t>
            </a:r>
          </a:p>
        </p:txBody>
      </p:sp>
      <p:sp>
        <p:nvSpPr>
          <p:cNvPr id="57" name="e057_X01">
            <a:extLst xmlns:a="http://schemas.openxmlformats.org/drawingml/2006/main">
              <a:ext uri="{FF2B5EF4-FFF2-40B4-BE49-F238E27FC236}">
                <a16:creationId xmlns:a16="http://schemas.microsoft.com/office/drawing/2014/main" id="{71CA924F-68C4-4CD1-87B6-F5317E17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720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X01</a:t>
            </a:r>
          </a:p>
        </p:txBody>
      </p:sp>
      <p:sp>
        <p:nvSpPr>
          <p:cNvPr id="58" name="e058_X02">
            <a:extLst xmlns:a="http://schemas.openxmlformats.org/drawingml/2006/main">
              <a:ext uri="{FF2B5EF4-FFF2-40B4-BE49-F238E27FC236}">
                <a16:creationId xmlns:a16="http://schemas.microsoft.com/office/drawing/2014/main" id="{0BB6FBC9-46D8-497F-9020-6FAB6183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720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X02</a:t>
            </a:r>
          </a:p>
        </p:txBody>
      </p:sp>
      <p:sp>
        <p:nvSpPr>
          <p:cNvPr id="59" name="e059_X03">
            <a:extLst xmlns:a="http://schemas.openxmlformats.org/drawingml/2006/main">
              <a:ext uri="{FF2B5EF4-FFF2-40B4-BE49-F238E27FC236}">
                <a16:creationId xmlns:a16="http://schemas.microsoft.com/office/drawing/2014/main" id="{7E4F378B-0FBB-4AC8-8AD6-919B9A20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720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X03</a:t>
            </a:r>
          </a:p>
        </p:txBody>
      </p:sp>
      <p:sp>
        <p:nvSpPr>
          <p:cNvPr id="60" name="e060_X04">
            <a:extLst xmlns:a="http://schemas.openxmlformats.org/drawingml/2006/main">
              <a:ext uri="{FF2B5EF4-FFF2-40B4-BE49-F238E27FC236}">
                <a16:creationId xmlns:a16="http://schemas.microsoft.com/office/drawing/2014/main" id="{505A8AB6-52EC-4B80-81F5-AAF6F0DB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720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X04</a:t>
            </a:r>
          </a:p>
        </p:txBody>
      </p:sp>
      <p:sp>
        <p:nvSpPr>
          <p:cNvPr id="61" name="e061_X05">
            <a:extLst xmlns:a="http://schemas.openxmlformats.org/drawingml/2006/main">
              <a:ext uri="{FF2B5EF4-FFF2-40B4-BE49-F238E27FC236}">
                <a16:creationId xmlns:a16="http://schemas.microsoft.com/office/drawing/2014/main" id="{1D360145-D13E-4BE5-9AB0-1BC170A1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720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X05</a:t>
            </a:r>
          </a:p>
        </p:txBody>
      </p:sp>
      <p:sp>
        <p:nvSpPr>
          <p:cNvPr id="62" name="e062_X06">
            <a:extLst xmlns:a="http://schemas.openxmlformats.org/drawingml/2006/main">
              <a:ext uri="{FF2B5EF4-FFF2-40B4-BE49-F238E27FC236}">
                <a16:creationId xmlns:a16="http://schemas.microsoft.com/office/drawing/2014/main" id="{46DA4D8E-48AC-4828-9564-B283FDF3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720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X06</a:t>
            </a:r>
          </a:p>
        </p:txBody>
      </p:sp>
      <p:sp>
        <p:nvSpPr>
          <p:cNvPr id="63" name="e063_X07">
            <a:extLst xmlns:a="http://schemas.openxmlformats.org/drawingml/2006/main">
              <a:ext uri="{FF2B5EF4-FFF2-40B4-BE49-F238E27FC236}">
                <a16:creationId xmlns:a16="http://schemas.microsoft.com/office/drawing/2014/main" id="{A9047EA2-B690-4616-BA0D-A09ED580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720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X07</a:t>
            </a:r>
          </a:p>
        </p:txBody>
      </p:sp>
      <p:sp>
        <p:nvSpPr>
          <p:cNvPr id="64" name="e064_X08">
            <a:extLst xmlns:a="http://schemas.openxmlformats.org/drawingml/2006/main">
              <a:ext uri="{FF2B5EF4-FFF2-40B4-BE49-F238E27FC236}">
                <a16:creationId xmlns:a16="http://schemas.microsoft.com/office/drawing/2014/main" id="{1BC15716-4329-4DD2-A7C9-B1F3A54F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720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X08</a:t>
            </a:r>
          </a:p>
        </p:txBody>
      </p:sp>
      <p:sp>
        <p:nvSpPr>
          <p:cNvPr id="65" name="e065_X09">
            <a:extLst xmlns:a="http://schemas.openxmlformats.org/drawingml/2006/main">
              <a:ext uri="{FF2B5EF4-FFF2-40B4-BE49-F238E27FC236}">
                <a16:creationId xmlns:a16="http://schemas.microsoft.com/office/drawing/2014/main" id="{6D992370-D8D1-4DC0-9C21-B9850D43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720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X09</a:t>
            </a:r>
          </a:p>
        </p:txBody>
      </p:sp>
      <p:sp>
        <p:nvSpPr>
          <p:cNvPr id="66" name="e066_X10">
            <a:extLst xmlns:a="http://schemas.openxmlformats.org/drawingml/2006/main">
              <a:ext uri="{FF2B5EF4-FFF2-40B4-BE49-F238E27FC236}">
                <a16:creationId xmlns:a16="http://schemas.microsoft.com/office/drawing/2014/main" id="{16F4970F-F7F4-4BDE-A155-35821EF0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720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X10</a:t>
            </a:r>
          </a:p>
        </p:txBody>
      </p:sp>
      <p:sp>
        <p:nvSpPr>
          <p:cNvPr id="67" name="e067_X11">
            <a:extLst xmlns:a="http://schemas.openxmlformats.org/drawingml/2006/main">
              <a:ext uri="{FF2B5EF4-FFF2-40B4-BE49-F238E27FC236}">
                <a16:creationId xmlns:a16="http://schemas.microsoft.com/office/drawing/2014/main" id="{85A8AE93-6B10-4317-B803-4ED10FFC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X11</a:t>
            </a:r>
          </a:p>
        </p:txBody>
      </p:sp>
      <p:sp>
        <p:nvSpPr>
          <p:cNvPr id="68" name="e068_X12">
            <a:extLst xmlns:a="http://schemas.openxmlformats.org/drawingml/2006/main">
              <a:ext uri="{FF2B5EF4-FFF2-40B4-BE49-F238E27FC236}">
                <a16:creationId xmlns:a16="http://schemas.microsoft.com/office/drawing/2014/main" id="{595E96C8-C549-4475-BDE7-662FE0EE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X12</a:t>
            </a:r>
          </a:p>
        </p:txBody>
      </p:sp>
      <p:sp>
        <p:nvSpPr>
          <p:cNvPr id="69" name="e069_20 条组合路线连接机制；图谱表达研究覆盖，不是性能排名">
            <a:extLst xmlns:a="http://schemas.openxmlformats.org/drawingml/2006/main">
              <a:ext uri="{FF2B5EF4-FFF2-40B4-BE49-F238E27FC236}">
                <a16:creationId xmlns:a16="http://schemas.microsoft.com/office/drawing/2014/main" id="{FB39D803-2891-40C0-A277-24D993D7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20 条组合路线连接机制；图谱表达研究覆盖，不是性能排名</a:t>
            </a:r>
          </a:p>
        </p:txBody>
      </p:sp>
    </p:spTree>
    <p:extLst>
      <p:ext uri="{BB962C8B-B14F-4D97-AF65-F5344CB8AC3E}">
        <p14:creationId xmlns:p14="http://schemas.microsoft.com/office/powerpoint/2010/main" val="4919020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001_第一条主线：概念出生">
            <a:extLst xmlns:a="http://schemas.openxmlformats.org/drawingml/2006/main">
              <a:ext uri="{FF2B5EF4-FFF2-40B4-BE49-F238E27FC236}">
                <a16:creationId xmlns:a16="http://schemas.microsoft.com/office/drawing/2014/main" id="{4863EB31-6952-4B00-AF32-B1CE46F1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第一条主线：概念出生</a:t>
            </a:r>
          </a:p>
        </p:txBody>
      </p:sp>
      <p:sp>
        <p:nvSpPr>
          <p:cNvPr id="2" name="e002_分歧可以产生一个之前没有的可计算区分">
            <a:extLst xmlns:a="http://schemas.openxmlformats.org/drawingml/2006/main">
              <a:ext uri="{FF2B5EF4-FFF2-40B4-BE49-F238E27FC236}">
                <a16:creationId xmlns:a16="http://schemas.microsoft.com/office/drawing/2014/main" id="{B166EA79-5EDB-4882-8155-EFE58541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分歧可以产生一个之前没有的可计算区分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F6D3BDA7-A14D-4A70-8D51-586CA1B9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0A606CBB-7447-49C3-A48B-4E027538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06 / 36">
            <a:extLst xmlns:a="http://schemas.openxmlformats.org/drawingml/2006/main">
              <a:ext uri="{FF2B5EF4-FFF2-40B4-BE49-F238E27FC236}">
                <a16:creationId xmlns:a16="http://schemas.microsoft.com/office/drawing/2014/main" id="{F8187605-5B55-42F9-9DDA-014A0D8E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06 / 36</a:t>
            </a:r>
          </a:p>
        </p:txBody>
      </p:sp>
      <p:sp>
        <p:nvSpPr>
          <p:cNvPr id="6" name="e006_ellipse">
            <a:extLst xmlns:a="http://schemas.openxmlformats.org/drawingml/2006/main">
              <a:ext uri="{FF2B5EF4-FFF2-40B4-BE49-F238E27FC236}">
                <a16:creationId xmlns:a16="http://schemas.microsoft.com/office/drawing/2014/main" id="{F155B8FF-4821-45E8-B8AD-61B059A3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1460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36647"/>
            </a:solidFill>
            <a:prstDash val="solid"/>
          </a:ln>
        </p:spPr>
      </p:sp>
      <p:sp>
        <p:nvSpPr>
          <p:cNvPr id="7" name="e007_polyline">
            <a:extLst xmlns:a="http://schemas.openxmlformats.org/drawingml/2006/main">
              <a:ext uri="{FF2B5EF4-FFF2-40B4-BE49-F238E27FC236}">
                <a16:creationId xmlns:a16="http://schemas.microsoft.com/office/drawing/2014/main" id="{D9C27BB5-EA64-4891-ACB3-ED0930B6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57500"/>
            <a:ext cx="1128713" cy="95"/>
          </a:xfrm>
          <a:custGeom xmlns:a="http://schemas.openxmlformats.org/drawingml/2006/main">
            <a:pathLst>
              <a:path w="1128713" h="95">
                <a:moveTo>
                  <a:pt x="0" y="0"/>
                </a:moveTo>
                <a:lnTo>
                  <a:pt x="11287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536647"/>
            </a:solidFill>
            <a:prstDash val="solid"/>
          </a:ln>
        </p:spPr>
      </p:sp>
      <p:sp>
        <p:nvSpPr>
          <p:cNvPr id="8" name="e008_polyline">
            <a:extLst xmlns:a="http://schemas.openxmlformats.org/drawingml/2006/main">
              <a:ext uri="{FF2B5EF4-FFF2-40B4-BE49-F238E27FC236}">
                <a16:creationId xmlns:a16="http://schemas.microsoft.com/office/drawing/2014/main" id="{EBAC3D61-AF8F-4D50-BE91-8A0929D7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7500"/>
            <a:ext cx="95" cy="285750"/>
          </a:xfrm>
          <a:custGeom xmlns:a="http://schemas.openxmlformats.org/drawingml/2006/main">
            <a:pathLst>
              <a:path w="9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536647"/>
            </a:solidFill>
            <a:prstDash val="solid"/>
          </a:ln>
        </p:spPr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5024336C-0298-41E7-9268-4A2DAD00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95" cy="285750"/>
          </a:xfrm>
          <a:custGeom xmlns:a="http://schemas.openxmlformats.org/drawingml/2006/main">
            <a:pathLst>
              <a:path w="9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536647"/>
            </a:solidFill>
            <a:prstDash val="solid"/>
          </a:ln>
        </p:spPr>
      </p:sp>
      <p:sp>
        <p:nvSpPr>
          <p:cNvPr id="10" name="e010_ellipse">
            <a:extLst xmlns:a="http://schemas.openxmlformats.org/drawingml/2006/main">
              <a:ext uri="{FF2B5EF4-FFF2-40B4-BE49-F238E27FC236}">
                <a16:creationId xmlns:a16="http://schemas.microsoft.com/office/drawing/2014/main" id="{7B553FAC-4F25-484A-8235-0EA2DC55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3385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9C5138"/>
            </a:solidFill>
            <a:prstDash val="solid"/>
          </a:ln>
        </p:spPr>
      </p:sp>
      <p:sp>
        <p:nvSpPr>
          <p:cNvPr id="11" name="e011_polyline">
            <a:extLst xmlns:a="http://schemas.openxmlformats.org/drawingml/2006/main">
              <a:ext uri="{FF2B5EF4-FFF2-40B4-BE49-F238E27FC236}">
                <a16:creationId xmlns:a16="http://schemas.microsoft.com/office/drawing/2014/main" id="{8DED2A2F-B904-48C8-97A1-639C092C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476750"/>
            <a:ext cx="1128713" cy="95"/>
          </a:xfrm>
          <a:custGeom xmlns:a="http://schemas.openxmlformats.org/drawingml/2006/main">
            <a:pathLst>
              <a:path w="1128713" h="95">
                <a:moveTo>
                  <a:pt x="0" y="0"/>
                </a:moveTo>
                <a:lnTo>
                  <a:pt x="11287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9C5138"/>
            </a:solidFill>
            <a:prstDash val="solid"/>
          </a:ln>
        </p:spPr>
      </p:sp>
      <p:sp>
        <p:nvSpPr>
          <p:cNvPr id="12" name="e012_polyline">
            <a:extLst xmlns:a="http://schemas.openxmlformats.org/drawingml/2006/main">
              <a:ext uri="{FF2B5EF4-FFF2-40B4-BE49-F238E27FC236}">
                <a16:creationId xmlns:a16="http://schemas.microsoft.com/office/drawing/2014/main" id="{C30C9332-9592-4B4F-A7DD-5E20506C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95" cy="285750"/>
          </a:xfrm>
          <a:custGeom xmlns:a="http://schemas.openxmlformats.org/drawingml/2006/main">
            <a:pathLst>
              <a:path w="9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9C5138"/>
            </a:solidFill>
            <a:prstDash val="solid"/>
          </a:ln>
        </p:spPr>
      </p:sp>
      <p:sp>
        <p:nvSpPr>
          <p:cNvPr id="13" name="e013_polyline">
            <a:extLst xmlns:a="http://schemas.openxmlformats.org/drawingml/2006/main">
              <a:ext uri="{FF2B5EF4-FFF2-40B4-BE49-F238E27FC236}">
                <a16:creationId xmlns:a16="http://schemas.microsoft.com/office/drawing/2014/main" id="{4AE0FC84-F8D0-4403-8450-30C41862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76750"/>
            <a:ext cx="95" cy="285750"/>
          </a:xfrm>
          <a:custGeom xmlns:a="http://schemas.openxmlformats.org/drawingml/2006/main">
            <a:pathLst>
              <a:path w="9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9C5138"/>
            </a:solidFill>
            <a:prstDash val="solid"/>
          </a:ln>
        </p:spPr>
      </p:sp>
      <p:sp>
        <p:nvSpPr>
          <p:cNvPr id="14" name="e014_K₁：形状匹配，授权有效">
            <a:extLst xmlns:a="http://schemas.openxmlformats.org/drawingml/2006/main">
              <a:ext uri="{FF2B5EF4-FFF2-40B4-BE49-F238E27FC236}">
                <a16:creationId xmlns:a16="http://schemas.microsoft.com/office/drawing/2014/main" id="{0BD8D5CB-DD5F-40AE-B9DC-0FF990D1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14600"/>
            <a:ext cx="7620000" cy="435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K₁：形状匹配，授权有效</a:t>
            </a:r>
          </a:p>
        </p:txBody>
      </p:sp>
      <p:sp>
        <p:nvSpPr>
          <p:cNvPr id="15" name="e015_K₂：形状匹配，授权过期">
            <a:extLst xmlns:a="http://schemas.openxmlformats.org/drawingml/2006/main">
              <a:ext uri="{FF2B5EF4-FFF2-40B4-BE49-F238E27FC236}">
                <a16:creationId xmlns:a16="http://schemas.microsoft.com/office/drawing/2014/main" id="{99AB03A3-1C01-49AD-B1FE-BD9C9F17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7620000" cy="435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K₂：形状匹配，授权过期</a:t>
            </a:r>
          </a:p>
        </p:txBody>
      </p:sp>
      <p:sp>
        <p:nvSpPr>
          <p:cNvPr id="16" name="e016_可以开门">
            <a:extLst xmlns:a="http://schemas.openxmlformats.org/drawingml/2006/main">
              <a:ext uri="{FF2B5EF4-FFF2-40B4-BE49-F238E27FC236}">
                <a16:creationId xmlns:a16="http://schemas.microsoft.com/office/drawing/2014/main" id="{383E2D8C-998A-4270-A4F2-8286E817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762000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可以开门</a:t>
            </a:r>
          </a:p>
        </p:txBody>
      </p:sp>
      <p:sp>
        <p:nvSpPr>
          <p:cNvPr id="17" name="e017_不能开门">
            <a:extLst xmlns:a="http://schemas.openxmlformats.org/drawingml/2006/main">
              <a:ext uri="{FF2B5EF4-FFF2-40B4-BE49-F238E27FC236}">
                <a16:creationId xmlns:a16="http://schemas.microsoft.com/office/drawing/2014/main" id="{11ACD06E-4DDD-4C89-8F18-32E88F08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29150"/>
            <a:ext cx="762000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不能开门</a:t>
            </a:r>
          </a:p>
        </p:txBody>
      </p:sp>
      <p:sp>
        <p:nvSpPr>
          <p:cNvPr id="18" name="e018_下一步：定义“授权有效期”，使新概念改变可执行判断">
            <a:extLst xmlns:a="http://schemas.openxmlformats.org/drawingml/2006/main">
              <a:ext uri="{FF2B5EF4-FFF2-40B4-BE49-F238E27FC236}">
                <a16:creationId xmlns:a16="http://schemas.microsoft.com/office/drawing/2014/main" id="{CF5CB269-2694-4F0C-A61E-1FE63C63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下一步：定义“授权有效期”，使新概念改变可执行判断</a:t>
            </a:r>
          </a:p>
        </p:txBody>
      </p:sp>
    </p:spTree>
    <p:extLst>
      <p:ext uri="{BB962C8B-B14F-4D97-AF65-F5344CB8AC3E}">
        <p14:creationId xmlns:p14="http://schemas.microsoft.com/office/powerpoint/2010/main" val="475926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001_H26：没有全局解也有知识">
            <a:extLst xmlns:a="http://schemas.openxmlformats.org/drawingml/2006/main">
              <a:ext uri="{FF2B5EF4-FFF2-40B4-BE49-F238E27FC236}">
                <a16:creationId xmlns:a16="http://schemas.microsoft.com/office/drawing/2014/main" id="{32020426-7048-4EB7-89C5-D6AEFC80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H26：没有全局解也有知识</a:t>
            </a:r>
          </a:p>
        </p:txBody>
      </p:sp>
      <p:sp>
        <p:nvSpPr>
          <p:cNvPr id="2" name="e002_局部一致不必能拼成一个世界">
            <a:extLst xmlns:a="http://schemas.openxmlformats.org/drawingml/2006/main">
              <a:ext uri="{FF2B5EF4-FFF2-40B4-BE49-F238E27FC236}">
                <a16:creationId xmlns:a16="http://schemas.microsoft.com/office/drawing/2014/main" id="{56FF4EE1-F2FC-488C-AF50-3FC37F03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局部一致不必能拼成一个世界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4468E691-4D29-4E22-92CF-73D9C07B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解析示意 / 数学示意 · 无模型实测">
            <a:extLst xmlns:a="http://schemas.openxmlformats.org/drawingml/2006/main">
              <a:ext uri="{FF2B5EF4-FFF2-40B4-BE49-F238E27FC236}">
                <a16:creationId xmlns:a16="http://schemas.microsoft.com/office/drawing/2014/main" id="{5A05467E-95C8-41F4-AE40-9896B07A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解析示意 / 数学示意 · 无模型实测</a:t>
            </a:r>
          </a:p>
        </p:txBody>
      </p:sp>
      <p:sp>
        <p:nvSpPr>
          <p:cNvPr id="5" name="e005_07 / 36">
            <a:extLst xmlns:a="http://schemas.openxmlformats.org/drawingml/2006/main">
              <a:ext uri="{FF2B5EF4-FFF2-40B4-BE49-F238E27FC236}">
                <a16:creationId xmlns:a16="http://schemas.microsoft.com/office/drawing/2014/main" id="{F527952F-0E66-4D3B-A282-16AAEC7A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07 / 36</a:t>
            </a:r>
          </a:p>
        </p:txBody>
      </p:sp>
      <p:sp>
        <p:nvSpPr>
          <p:cNvPr id="6" name="e006_x − y = 0">
            <a:extLst xmlns:a="http://schemas.openxmlformats.org/drawingml/2006/main">
              <a:ext uri="{FF2B5EF4-FFF2-40B4-BE49-F238E27FC236}">
                <a16:creationId xmlns:a16="http://schemas.microsoft.com/office/drawing/2014/main" id="{F23E5875-23B5-45B2-8224-43C438F8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33625"/>
            <a:ext cx="3810000" cy="531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9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9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9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9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9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9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9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9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9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9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x − y = 0</a:t>
            </a:r>
          </a:p>
        </p:txBody>
      </p:sp>
      <p:sp>
        <p:nvSpPr>
          <p:cNvPr id="7" name="e007_y − z = 0">
            <a:extLst xmlns:a="http://schemas.openxmlformats.org/drawingml/2006/main">
              <a:ext uri="{FF2B5EF4-FFF2-40B4-BE49-F238E27FC236}">
                <a16:creationId xmlns:a16="http://schemas.microsoft.com/office/drawing/2014/main" id="{37317ACB-1E52-43B7-9A59-0A58844E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33625"/>
            <a:ext cx="3810000" cy="531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925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925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925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925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925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925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925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925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925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925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y − z = 0</a:t>
            </a:r>
          </a:p>
        </p:txBody>
      </p:sp>
      <p:sp>
        <p:nvSpPr>
          <p:cNvPr id="8" name="e008_z − x = 1">
            <a:extLst xmlns:a="http://schemas.openxmlformats.org/drawingml/2006/main">
              <a:ext uri="{FF2B5EF4-FFF2-40B4-BE49-F238E27FC236}">
                <a16:creationId xmlns:a16="http://schemas.microsoft.com/office/drawing/2014/main" id="{30ECDBC1-42AE-4A24-A23B-BA3B4BC1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381500"/>
            <a:ext cx="3810000" cy="531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9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9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9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9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9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9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9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9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9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9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z − x = 1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1D8F2CB5-222D-4CE4-9525-FDA25984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238500" cy="95"/>
          </a:xfrm>
          <a:custGeom xmlns:a="http://schemas.openxmlformats.org/drawingml/2006/main">
            <a:pathLst>
              <a:path w="3238500" h="9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ECDBF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13313C7A-9F99-4603-9979-D3137A07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95625"/>
            <a:ext cx="2286000" cy="1095375"/>
          </a:xfrm>
          <a:custGeom xmlns:a="http://schemas.openxmlformats.org/drawingml/2006/main">
            <a:pathLst>
              <a:path w="2286000" h="1095375">
                <a:moveTo>
                  <a:pt x="0" y="0"/>
                </a:moveTo>
                <a:lnTo>
                  <a:pt x="2286000" y="1095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ECDBF"/>
            </a:solidFill>
            <a:prstDash val="solid"/>
          </a:ln>
        </p:spPr>
      </p:sp>
      <p:sp>
        <p:nvSpPr>
          <p:cNvPr id="11" name="e011_polyline">
            <a:extLst xmlns:a="http://schemas.openxmlformats.org/drawingml/2006/main">
              <a:ext uri="{FF2B5EF4-FFF2-40B4-BE49-F238E27FC236}">
                <a16:creationId xmlns:a16="http://schemas.microsoft.com/office/drawing/2014/main" id="{041F0EC6-1DFC-4CAC-89E2-1149D109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2095500" cy="1095375"/>
          </a:xfrm>
          <a:custGeom xmlns:a="http://schemas.openxmlformats.org/drawingml/2006/main">
            <a:pathLst>
              <a:path w="2095500" h="1095375">
                <a:moveTo>
                  <a:pt x="2095500" y="0"/>
                </a:moveTo>
                <a:lnTo>
                  <a:pt x="0" y="1095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ECDBF"/>
            </a:solidFill>
            <a:prstDash val="solid"/>
          </a:ln>
        </p:spPr>
      </p:sp>
      <p:sp>
        <p:nvSpPr>
          <p:cNvPr id="12" name="e012_求和：0 = 1">
            <a:extLst xmlns:a="http://schemas.openxmlformats.org/drawingml/2006/main">
              <a:ext uri="{FF2B5EF4-FFF2-40B4-BE49-F238E27FC236}">
                <a16:creationId xmlns:a16="http://schemas.microsoft.com/office/drawing/2014/main" id="{8E47381F-BB99-452D-994B-E1A87B97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4095750" cy="517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8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8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8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8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8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8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8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8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8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8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rPr>
              <a:t>求和：0 = 1</a:t>
            </a:r>
          </a:p>
        </p:txBody>
      </p:sp>
      <p:sp>
        <p:nvSpPr>
          <p:cNvPr id="13" name="e013_冲突见证保留；最小二乘近似不会让不一致约束同时成立">
            <a:extLst xmlns:a="http://schemas.openxmlformats.org/drawingml/2006/main">
              <a:ext uri="{FF2B5EF4-FFF2-40B4-BE49-F238E27FC236}">
                <a16:creationId xmlns:a16="http://schemas.microsoft.com/office/drawing/2014/main" id="{EF79D9E1-2B0D-4F8E-AA65-B7441499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冲突见证保留；最小二乘近似不会让不一致约束同时成立</a:t>
            </a:r>
          </a:p>
        </p:txBody>
      </p:sp>
    </p:spTree>
    <p:extLst>
      <p:ext uri="{BB962C8B-B14F-4D97-AF65-F5344CB8AC3E}">
        <p14:creationId xmlns:p14="http://schemas.microsoft.com/office/powerpoint/2010/main" val="2388720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001_H36：反例不是一句反对">
            <a:extLst xmlns:a="http://schemas.openxmlformats.org/drawingml/2006/main">
              <a:ext uri="{FF2B5EF4-FFF2-40B4-BE49-F238E27FC236}">
                <a16:creationId xmlns:a16="http://schemas.microsoft.com/office/drawing/2014/main" id="{D7DF227E-E69F-446C-B920-F525E743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H36：反例不是一句反对</a:t>
            </a:r>
          </a:p>
        </p:txBody>
      </p:sp>
      <p:sp>
        <p:nvSpPr>
          <p:cNvPr id="2" name="e002_分歧必须产生可操作见证">
            <a:extLst xmlns:a="http://schemas.openxmlformats.org/drawingml/2006/main">
              <a:ext uri="{FF2B5EF4-FFF2-40B4-BE49-F238E27FC236}">
                <a16:creationId xmlns:a16="http://schemas.microsoft.com/office/drawing/2014/main" id="{6B63B6B0-8E99-4166-A058-60EC4594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分歧必须产生可操作见证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279BD4EC-CC31-4DF8-B906-AF8E799E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A2A67AF5-DA86-44DB-84E5-44EBB411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08 / 36">
            <a:extLst xmlns:a="http://schemas.openxmlformats.org/drawingml/2006/main">
              <a:ext uri="{FF2B5EF4-FFF2-40B4-BE49-F238E27FC236}">
                <a16:creationId xmlns:a16="http://schemas.microsoft.com/office/drawing/2014/main" id="{201E8FFF-EC54-4000-8F13-14B77D3E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08 / 36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C215D891-15B9-4F98-B35F-99177240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5146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7" name="e007_命题">
            <a:extLst xmlns:a="http://schemas.openxmlformats.org/drawingml/2006/main">
              <a:ext uri="{FF2B5EF4-FFF2-40B4-BE49-F238E27FC236}">
                <a16:creationId xmlns:a16="http://schemas.microsoft.com/office/drawing/2014/main" id="{D2D5196A-8356-42E0-887A-D73BD911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09875"/>
            <a:ext cx="222885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命题</a:t>
            </a:r>
          </a:p>
        </p:txBody>
      </p:sp>
      <p:sp>
        <p:nvSpPr>
          <p:cNvPr id="8" name="e008_明确域与前提">
            <a:extLst xmlns:a="http://schemas.openxmlformats.org/drawingml/2006/main">
              <a:ext uri="{FF2B5EF4-FFF2-40B4-BE49-F238E27FC236}">
                <a16:creationId xmlns:a16="http://schemas.microsoft.com/office/drawing/2014/main" id="{AF1BA42F-2FF8-4D0F-8C91-2E354B2F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43263"/>
            <a:ext cx="22288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明确域与前提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C8192EE3-D49B-413D-BE5D-F2E5CF13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8137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3EE62017-F9AE-4D9A-989F-7B59B69D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3375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1" name="e011_rect">
            <a:extLst xmlns:a="http://schemas.openxmlformats.org/drawingml/2006/main">
              <a:ext uri="{FF2B5EF4-FFF2-40B4-BE49-F238E27FC236}">
                <a16:creationId xmlns:a16="http://schemas.microsoft.com/office/drawing/2014/main" id="{DE4FDEF7-3C1A-46CB-9DF5-BA39F85C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67000"/>
            <a:ext cx="25146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2" name="e012_候选反例">
            <a:extLst xmlns:a="http://schemas.openxmlformats.org/drawingml/2006/main">
              <a:ext uri="{FF2B5EF4-FFF2-40B4-BE49-F238E27FC236}">
                <a16:creationId xmlns:a16="http://schemas.microsoft.com/office/drawing/2014/main" id="{05298D81-A351-4024-9363-1733CD3C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09875"/>
            <a:ext cx="222885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候选反例</a:t>
            </a:r>
          </a:p>
        </p:txBody>
      </p:sp>
      <p:sp>
        <p:nvSpPr>
          <p:cNvPr id="13" name="e013_输入与失败后果">
            <a:extLst xmlns:a="http://schemas.openxmlformats.org/drawingml/2006/main">
              <a:ext uri="{FF2B5EF4-FFF2-40B4-BE49-F238E27FC236}">
                <a16:creationId xmlns:a16="http://schemas.microsoft.com/office/drawing/2014/main" id="{501D266D-321D-4843-8C9F-F1FCBF6C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43263"/>
            <a:ext cx="22288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输入与失败后果</a:t>
            </a:r>
          </a:p>
        </p:txBody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CEF181F7-CF70-4204-86FF-2F49AB7C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8137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D473B215-4E46-4B49-831A-FDBE4DDB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3375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6" name="e016_rect">
            <a:extLst xmlns:a="http://schemas.openxmlformats.org/drawingml/2006/main">
              <a:ext uri="{FF2B5EF4-FFF2-40B4-BE49-F238E27FC236}">
                <a16:creationId xmlns:a16="http://schemas.microsoft.com/office/drawing/2014/main" id="{6E08F931-AE94-4030-9B1E-FB440E81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67000"/>
            <a:ext cx="25146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17" name="e017_执行检查">
            <a:extLst xmlns:a="http://schemas.openxmlformats.org/drawingml/2006/main">
              <a:ext uri="{FF2B5EF4-FFF2-40B4-BE49-F238E27FC236}">
                <a16:creationId xmlns:a16="http://schemas.microsoft.com/office/drawing/2014/main" id="{3A12F5E3-D05A-419E-8AD8-68A59EC0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09875"/>
            <a:ext cx="222885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执行检查</a:t>
            </a:r>
          </a:p>
        </p:txBody>
      </p:sp>
      <p:sp>
        <p:nvSpPr>
          <p:cNvPr id="18" name="e018_有限对象见证">
            <a:extLst xmlns:a="http://schemas.openxmlformats.org/drawingml/2006/main">
              <a:ext uri="{FF2B5EF4-FFF2-40B4-BE49-F238E27FC236}">
                <a16:creationId xmlns:a16="http://schemas.microsoft.com/office/drawing/2014/main" id="{B6E25235-12FE-46C2-A165-9F4EB8F9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43263"/>
            <a:ext cx="22288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有限对象见证</a:t>
            </a:r>
          </a:p>
        </p:txBody>
      </p:sp>
      <p:sp>
        <p:nvSpPr>
          <p:cNvPr id="19" name="e019_polyline">
            <a:extLst xmlns:a="http://schemas.openxmlformats.org/drawingml/2006/main">
              <a:ext uri="{FF2B5EF4-FFF2-40B4-BE49-F238E27FC236}">
                <a16:creationId xmlns:a16="http://schemas.microsoft.com/office/drawing/2014/main" id="{EAF73759-873A-4C7A-A95A-235FA4A4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8137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0" name="e020_polyline">
            <a:extLst xmlns:a="http://schemas.openxmlformats.org/drawingml/2006/main">
              <a:ext uri="{FF2B5EF4-FFF2-40B4-BE49-F238E27FC236}">
                <a16:creationId xmlns:a16="http://schemas.microsoft.com/office/drawing/2014/main" id="{C8ACE398-C285-4A95-A5B0-52CC7B6D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3375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1" name="e021_rect">
            <a:extLst xmlns:a="http://schemas.openxmlformats.org/drawingml/2006/main">
              <a:ext uri="{FF2B5EF4-FFF2-40B4-BE49-F238E27FC236}">
                <a16:creationId xmlns:a16="http://schemas.microsoft.com/office/drawing/2014/main" id="{78BECA5D-953F-4922-8849-4EB0DD98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0"/>
            <a:ext cx="25146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9E1EC"/>
          </a:solidFill>
          <a:ln xmlns:a="http://schemas.openxmlformats.org/drawingml/2006/main" w="19050">
            <a:solidFill>
              <a:srgbClr val="725D7C"/>
            </a:solidFill>
            <a:prstDash val="solid"/>
          </a:ln>
        </p:spPr>
      </p:sp>
      <p:sp>
        <p:nvSpPr>
          <p:cNvPr id="22" name="e022_修订">
            <a:extLst xmlns:a="http://schemas.openxmlformats.org/drawingml/2006/main">
              <a:ext uri="{FF2B5EF4-FFF2-40B4-BE49-F238E27FC236}">
                <a16:creationId xmlns:a16="http://schemas.microsoft.com/office/drawing/2014/main" id="{816BE7ED-D730-443C-BFDB-8521A518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09875"/>
            <a:ext cx="222885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修订</a:t>
            </a:r>
          </a:p>
        </p:txBody>
      </p:sp>
      <p:sp>
        <p:nvSpPr>
          <p:cNvPr id="23" name="e023_保留失败分支">
            <a:extLst xmlns:a="http://schemas.openxmlformats.org/drawingml/2006/main">
              <a:ext uri="{FF2B5EF4-FFF2-40B4-BE49-F238E27FC236}">
                <a16:creationId xmlns:a16="http://schemas.microsoft.com/office/drawing/2014/main" id="{75EFCA3F-444A-4D2F-987B-56E92C1A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43263"/>
            <a:ext cx="22288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保留失败分支</a:t>
            </a:r>
          </a:p>
        </p:txBody>
      </p:sp>
      <p:sp>
        <p:nvSpPr>
          <p:cNvPr id="24" name="e024_只有文字争论、没有可检查见证：未证">
            <a:extLst xmlns:a="http://schemas.openxmlformats.org/drawingml/2006/main">
              <a:ext uri="{FF2B5EF4-FFF2-40B4-BE49-F238E27FC236}">
                <a16:creationId xmlns:a16="http://schemas.microsoft.com/office/drawing/2014/main" id="{8CB2D21B-31B2-42B2-B9DB-5280926A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1047750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只有文字争论、没有可检查见证：未证</a:t>
            </a:r>
          </a:p>
        </p:txBody>
      </p:sp>
      <p:sp>
        <p:nvSpPr>
          <p:cNvPr id="25" name="e025_下一步：为反例写出输入、操作与原命题失效的位置">
            <a:extLst xmlns:a="http://schemas.openxmlformats.org/drawingml/2006/main">
              <a:ext uri="{FF2B5EF4-FFF2-40B4-BE49-F238E27FC236}">
                <a16:creationId xmlns:a16="http://schemas.microsoft.com/office/drawing/2014/main" id="{B1F94F23-33EE-44D7-AB17-D1F49EA2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下一步：为反例写出输入、操作与原命题失效的位置</a:t>
            </a:r>
          </a:p>
        </p:txBody>
      </p:sp>
    </p:spTree>
    <p:extLst>
      <p:ext uri="{BB962C8B-B14F-4D97-AF65-F5344CB8AC3E}">
        <p14:creationId xmlns:p14="http://schemas.microsoft.com/office/powerpoint/2010/main" val="1073623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001_H27：新概念必须改变计算">
            <a:extLst xmlns:a="http://schemas.openxmlformats.org/drawingml/2006/main">
              <a:ext uri="{FF2B5EF4-FFF2-40B4-BE49-F238E27FC236}">
                <a16:creationId xmlns:a16="http://schemas.microsoft.com/office/drawing/2014/main" id="{D1A16B06-87DF-4D5E-8B92-3CCC09CB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H27：新概念必须改变计算</a:t>
            </a:r>
          </a:p>
        </p:txBody>
      </p:sp>
      <p:sp>
        <p:nvSpPr>
          <p:cNvPr id="2" name="e002_新变量＋定义程序＋版本迁移">
            <a:extLst xmlns:a="http://schemas.openxmlformats.org/drawingml/2006/main">
              <a:ext uri="{FF2B5EF4-FFF2-40B4-BE49-F238E27FC236}">
                <a16:creationId xmlns:a16="http://schemas.microsoft.com/office/drawing/2014/main" id="{30D9F514-D086-4BB6-821C-3F8BBC1D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新变量＋定义程序＋版本迁移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CC9FAE08-FA2F-40DF-BDEF-5836F5EB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解析示意 / 数学示意 · 无模型实测">
            <a:extLst xmlns:a="http://schemas.openxmlformats.org/drawingml/2006/main">
              <a:ext uri="{FF2B5EF4-FFF2-40B4-BE49-F238E27FC236}">
                <a16:creationId xmlns:a16="http://schemas.microsoft.com/office/drawing/2014/main" id="{5E62D784-D73B-4FB8-97B9-EC21210E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解析示意 / 数学示意 · 无模型实测</a:t>
            </a:r>
          </a:p>
        </p:txBody>
      </p:sp>
      <p:sp>
        <p:nvSpPr>
          <p:cNvPr id="5" name="e005_09 / 36">
            <a:extLst xmlns:a="http://schemas.openxmlformats.org/drawingml/2006/main">
              <a:ext uri="{FF2B5EF4-FFF2-40B4-BE49-F238E27FC236}">
                <a16:creationId xmlns:a16="http://schemas.microsoft.com/office/drawing/2014/main" id="{ADF5E986-DEC0-4A0F-9D36-1E3C5356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09 / 36</a:t>
            </a:r>
          </a:p>
        </p:txBody>
      </p:sp>
      <p:sp>
        <p:nvSpPr>
          <p:cNvPr id="6" name="e006_valid_at(key, t)">
            <a:extLst xmlns:a="http://schemas.openxmlformats.org/drawingml/2006/main">
              <a:ext uri="{FF2B5EF4-FFF2-40B4-BE49-F238E27FC236}">
                <a16:creationId xmlns:a16="http://schemas.microsoft.com/office/drawing/2014/main" id="{6A28EF01-61CC-4195-B82E-0AA35B2C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715000" cy="572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valid_at(key, t)</a:t>
            </a:r>
          </a:p>
        </p:txBody>
      </p:sp>
      <p:sp>
        <p:nvSpPr>
          <p:cNvPr id="7" name="e007_AND&#10;  shape_match&#10;  authorized&#10;  st">
            <a:extLst xmlns:a="http://schemas.openxmlformats.org/drawingml/2006/main">
              <a:ext uri="{FF2B5EF4-FFF2-40B4-BE49-F238E27FC236}">
                <a16:creationId xmlns:a16="http://schemas.microsoft.com/office/drawing/2014/main" id="{3438A6D8-A9DF-45B0-AC63-6B9B0DCD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143500" cy="1688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AND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3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  shape_match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3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  authorized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3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  start ≤ t &lt; expiry</a:t>
            </a:r>
          </a:p>
        </p:txBody>
      </p:sp>
      <p:sp>
        <p:nvSpPr>
          <p:cNvPr id="8" name="e008_polyline">
            <a:extLst xmlns:a="http://schemas.openxmlformats.org/drawingml/2006/main">
              <a:ext uri="{FF2B5EF4-FFF2-40B4-BE49-F238E27FC236}">
                <a16:creationId xmlns:a16="http://schemas.microsoft.com/office/drawing/2014/main" id="{80016E9C-DFF3-4A45-BEA2-30F40B17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476625"/>
            <a:ext cx="1238250" cy="95"/>
          </a:xfrm>
          <a:custGeom xmlns:a="http://schemas.openxmlformats.org/drawingml/2006/main">
            <a:pathLst>
              <a:path w="1238250" h="9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4AFE530B-28B9-4DC3-A720-5057795E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2900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10" name="e010_rect">
            <a:extLst xmlns:a="http://schemas.openxmlformats.org/drawingml/2006/main">
              <a:ext uri="{FF2B5EF4-FFF2-40B4-BE49-F238E27FC236}">
                <a16:creationId xmlns:a16="http://schemas.microsoft.com/office/drawing/2014/main" id="{37C0876E-AFD2-4D57-9FFA-EFE5F4BC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0300"/>
            <a:ext cx="40576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11" name="e011_K₁：true">
            <a:extLst xmlns:a="http://schemas.openxmlformats.org/drawingml/2006/main">
              <a:ext uri="{FF2B5EF4-FFF2-40B4-BE49-F238E27FC236}">
                <a16:creationId xmlns:a16="http://schemas.microsoft.com/office/drawing/2014/main" id="{77FB81AC-575F-419E-8EFA-1CA86696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43175"/>
            <a:ext cx="3771900" cy="463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K₁：true</a:t>
            </a:r>
          </a:p>
        </p:txBody>
      </p:sp>
      <p:sp>
        <p:nvSpPr>
          <p:cNvPr id="12" name="e012_授权期内，允许开门">
            <a:extLst xmlns:a="http://schemas.openxmlformats.org/drawingml/2006/main">
              <a:ext uri="{FF2B5EF4-FFF2-40B4-BE49-F238E27FC236}">
                <a16:creationId xmlns:a16="http://schemas.microsoft.com/office/drawing/2014/main" id="{B211D1DB-06AA-4700-B14B-C75442E2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24188"/>
            <a:ext cx="377190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授权期内，允许开门</a:t>
            </a:r>
          </a:p>
        </p:txBody>
      </p:sp>
      <p:sp>
        <p:nvSpPr>
          <p:cNvPr id="13" name="e013_rect">
            <a:extLst xmlns:a="http://schemas.openxmlformats.org/drawingml/2006/main">
              <a:ext uri="{FF2B5EF4-FFF2-40B4-BE49-F238E27FC236}">
                <a16:creationId xmlns:a16="http://schemas.microsoft.com/office/drawing/2014/main" id="{27C09BFB-D339-4443-8FA1-4CB9EF50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40576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4" name="e014_K₂：false">
            <a:extLst xmlns:a="http://schemas.openxmlformats.org/drawingml/2006/main">
              <a:ext uri="{FF2B5EF4-FFF2-40B4-BE49-F238E27FC236}">
                <a16:creationId xmlns:a16="http://schemas.microsoft.com/office/drawing/2014/main" id="{FA162DCC-D25C-48F1-BF84-65CD3DBE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95750"/>
            <a:ext cx="3771900" cy="463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K₂：false</a:t>
            </a:r>
          </a:p>
        </p:txBody>
      </p:sp>
      <p:sp>
        <p:nvSpPr>
          <p:cNvPr id="15" name="e015_授权过期，拒绝开门">
            <a:extLst xmlns:a="http://schemas.openxmlformats.org/drawingml/2006/main">
              <a:ext uri="{FF2B5EF4-FFF2-40B4-BE49-F238E27FC236}">
                <a16:creationId xmlns:a16="http://schemas.microsoft.com/office/drawing/2014/main" id="{3B2749F7-035F-4F7E-AA16-110FF348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76763"/>
            <a:ext cx="377190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授权过期，拒绝开门</a:t>
            </a:r>
          </a:p>
        </p:txBody>
      </p:sp>
      <p:sp>
        <p:nvSpPr>
          <p:cNvPr id="16" name="e016_新变量＋定义程序＋版本迁移，共同构成新概念的最小承诺">
            <a:extLst xmlns:a="http://schemas.openxmlformats.org/drawingml/2006/main">
              <a:ext uri="{FF2B5EF4-FFF2-40B4-BE49-F238E27FC236}">
                <a16:creationId xmlns:a16="http://schemas.microsoft.com/office/drawing/2014/main" id="{AA7AB023-2B22-4240-A27B-2F4CF3B8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新变量＋定义程序＋版本迁移，共同构成新概念的最小承诺</a:t>
            </a:r>
          </a:p>
        </p:txBody>
      </p:sp>
    </p:spTree>
    <p:extLst>
      <p:ext uri="{BB962C8B-B14F-4D97-AF65-F5344CB8AC3E}">
        <p14:creationId xmlns:p14="http://schemas.microsoft.com/office/powerpoint/2010/main" val="9977524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001_H40：语言也能学会新指令">
            <a:extLst xmlns:a="http://schemas.openxmlformats.org/drawingml/2006/main">
              <a:ext uri="{FF2B5EF4-FFF2-40B4-BE49-F238E27FC236}">
                <a16:creationId xmlns:a16="http://schemas.microsoft.com/office/drawing/2014/main" id="{92DFA8E2-FEF8-441D-87BA-A611DBEA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H40：语言也能学会新指令</a:t>
            </a:r>
          </a:p>
        </p:txBody>
      </p:sp>
      <p:sp>
        <p:nvSpPr>
          <p:cNvPr id="2" name="e002_反复使用的结构被编译为可扩展操作">
            <a:extLst xmlns:a="http://schemas.openxmlformats.org/drawingml/2006/main">
              <a:ext uri="{FF2B5EF4-FFF2-40B4-BE49-F238E27FC236}">
                <a16:creationId xmlns:a16="http://schemas.microsoft.com/office/drawing/2014/main" id="{BA7488EA-8CB4-462A-93A3-82E13CE4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反复使用的结构被编译为可扩展操作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F89B0239-C801-47DD-B329-F7C8F7DA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E5D43368-A5EE-47CC-97CB-331A711E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10 / 36">
            <a:extLst xmlns:a="http://schemas.openxmlformats.org/drawingml/2006/main">
              <a:ext uri="{FF2B5EF4-FFF2-40B4-BE49-F238E27FC236}">
                <a16:creationId xmlns:a16="http://schemas.microsoft.com/office/drawing/2014/main" id="{A28B630A-7FFA-4AC6-B2B1-0DFDBE54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10 / 36</a:t>
            </a:r>
          </a:p>
        </p:txBody>
      </p:sp>
      <p:sp>
        <p:nvSpPr>
          <p:cNvPr id="6" name="e006_重复结构">
            <a:extLst xmlns:a="http://schemas.openxmlformats.org/drawingml/2006/main">
              <a:ext uri="{FF2B5EF4-FFF2-40B4-BE49-F238E27FC236}">
                <a16:creationId xmlns:a16="http://schemas.microsoft.com/office/drawing/2014/main" id="{A8A0382E-D6DC-483F-82B7-1A5E693A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61950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重复结构</a:t>
            </a:r>
          </a:p>
        </p:txBody>
      </p:sp>
      <p:sp>
        <p:nvSpPr>
          <p:cNvPr id="7" name="e007_检查授权&#10;检查时间范围&#10;执行动作">
            <a:extLst xmlns:a="http://schemas.openxmlformats.org/drawingml/2006/main">
              <a:ext uri="{FF2B5EF4-FFF2-40B4-BE49-F238E27FC236}">
                <a16:creationId xmlns:a16="http://schemas.microsoft.com/office/drawing/2014/main" id="{31588FFE-3162-439B-A198-58D1D24D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810000" cy="1348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检查授权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检查时间范围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执行动作</a:t>
            </a:r>
          </a:p>
        </p:txBody>
      </p:sp>
      <p:sp>
        <p:nvSpPr>
          <p:cNvPr id="8" name="e008_polyline">
            <a:extLst xmlns:a="http://schemas.openxmlformats.org/drawingml/2006/main">
              <a:ext uri="{FF2B5EF4-FFF2-40B4-BE49-F238E27FC236}">
                <a16:creationId xmlns:a16="http://schemas.microsoft.com/office/drawing/2014/main" id="{A1B63E8B-B07F-46BC-AE91-741A6030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76625"/>
            <a:ext cx="1619250" cy="95"/>
          </a:xfrm>
          <a:custGeom xmlns:a="http://schemas.openxmlformats.org/drawingml/2006/main">
            <a:pathLst>
              <a:path w="1619250" h="95">
                <a:moveTo>
                  <a:pt x="0" y="0"/>
                </a:moveTo>
                <a:lnTo>
                  <a:pt x="1619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C5138"/>
            </a:solidFill>
            <a:prstDash val="solid"/>
          </a:ln>
        </p:spPr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A43C4445-E5EA-4B56-B07B-2E11E4FB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42900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C5138"/>
            </a:solidFill>
            <a:prstDash val="solid"/>
          </a:ln>
        </p:spPr>
      </p:sp>
      <p:sp>
        <p:nvSpPr>
          <p:cNvPr id="10" name="e010_rect">
            <a:extLst xmlns:a="http://schemas.openxmlformats.org/drawingml/2006/main">
              <a:ext uri="{FF2B5EF4-FFF2-40B4-BE49-F238E27FC236}">
                <a16:creationId xmlns:a16="http://schemas.microsoft.com/office/drawing/2014/main" id="{65FF05BA-53E1-46F8-A8FA-BBBFCDDE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3911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1" name="e011_宏：authorized_action">
            <a:extLst xmlns:a="http://schemas.openxmlformats.org/drawingml/2006/main">
              <a:ext uri="{FF2B5EF4-FFF2-40B4-BE49-F238E27FC236}">
                <a16:creationId xmlns:a16="http://schemas.microsoft.com/office/drawing/2014/main" id="{E840F0B6-1C70-42CB-B3B0-C4472C2F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51054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宏：authorized_action</a:t>
            </a:r>
          </a:p>
        </p:txBody>
      </p:sp>
      <p:sp>
        <p:nvSpPr>
          <p:cNvPr id="12" name="e012_可扩展指令，带类型与前置条件">
            <a:extLst xmlns:a="http://schemas.openxmlformats.org/drawingml/2006/main">
              <a:ext uri="{FF2B5EF4-FFF2-40B4-BE49-F238E27FC236}">
                <a16:creationId xmlns:a16="http://schemas.microsoft.com/office/drawing/2014/main" id="{97172805-FA48-459F-8030-29D68FD8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36106"/>
            <a:ext cx="510540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可扩展指令，带类型与前置条件</a:t>
            </a:r>
          </a:p>
        </p:txBody>
      </p:sp>
      <p:sp>
        <p:nvSpPr>
          <p:cNvPr id="13" name="e013_polyline">
            <a:extLst xmlns:a="http://schemas.openxmlformats.org/drawingml/2006/main">
              <a:ext uri="{FF2B5EF4-FFF2-40B4-BE49-F238E27FC236}">
                <a16:creationId xmlns:a16="http://schemas.microsoft.com/office/drawing/2014/main" id="{EB0FEEFA-72C0-46D3-91EE-AA2DA35E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00500"/>
            <a:ext cx="95" cy="666750"/>
          </a:xfrm>
          <a:custGeom xmlns:a="http://schemas.openxmlformats.org/drawingml/2006/main"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C5138"/>
            </a:solidFill>
            <a:prstDash val="solid"/>
          </a:ln>
        </p:spPr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CF998604-62E9-48F4-AE73-9A8F90B9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52950"/>
            <a:ext cx="95250" cy="114300"/>
          </a:xfrm>
          <a:custGeom xmlns:a="http://schemas.openxmlformats.org/drawingml/2006/main">
            <a:pathLst>
              <a:path w="95250" h="114300">
                <a:moveTo>
                  <a:pt x="95250" y="0"/>
                </a:moveTo>
                <a:lnTo>
                  <a:pt x="47625" y="1143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C5138"/>
            </a:solidFill>
            <a:prstDash val="solid"/>
          </a:ln>
        </p:spPr>
      </p:sp>
      <p:sp>
        <p:nvSpPr>
          <p:cNvPr id="15" name="e015_lower：还原到旧 ISA 的同一语义">
            <a:extLst xmlns:a="http://schemas.openxmlformats.org/drawingml/2006/main">
              <a:ext uri="{FF2B5EF4-FFF2-40B4-BE49-F238E27FC236}">
                <a16:creationId xmlns:a16="http://schemas.microsoft.com/office/drawing/2014/main" id="{C569BD71-F8DB-49B5-823D-FF8B74F4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5391150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lower：还原到旧 ISA 的同一语义</a:t>
            </a:r>
          </a:p>
        </p:txBody>
      </p:sp>
      <p:sp>
        <p:nvSpPr>
          <p:cNvPr id="16" name="e016_宏可以压缩程序，不能隐藏无法解释的“万能函数”">
            <a:extLst xmlns:a="http://schemas.openxmlformats.org/drawingml/2006/main">
              <a:ext uri="{FF2B5EF4-FFF2-40B4-BE49-F238E27FC236}">
                <a16:creationId xmlns:a16="http://schemas.microsoft.com/office/drawing/2014/main" id="{A4EC8826-3538-4210-8658-FE26E92C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宏可以压缩程序，不能隐藏无法解释的“万能函数”</a:t>
            </a:r>
          </a:p>
        </p:txBody>
      </p:sp>
    </p:spTree>
    <p:extLst>
      <p:ext uri="{BB962C8B-B14F-4D97-AF65-F5344CB8AC3E}">
        <p14:creationId xmlns:p14="http://schemas.microsoft.com/office/powerpoint/2010/main" val="593437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001_C10：分歧到概念的完整链">
            <a:extLst xmlns:a="http://schemas.openxmlformats.org/drawingml/2006/main">
              <a:ext uri="{FF2B5EF4-FFF2-40B4-BE49-F238E27FC236}">
                <a16:creationId xmlns:a16="http://schemas.microsoft.com/office/drawing/2014/main" id="{BE211FC8-24F3-42A0-9B2C-4C4E3B8B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C10：分歧到概念的完整链</a:t>
            </a:r>
          </a:p>
        </p:txBody>
      </p:sp>
      <p:sp>
        <p:nvSpPr>
          <p:cNvPr id="2" name="e002_冲突→反例→概念→迁移">
            <a:extLst xmlns:a="http://schemas.openxmlformats.org/drawingml/2006/main">
              <a:ext uri="{FF2B5EF4-FFF2-40B4-BE49-F238E27FC236}">
                <a16:creationId xmlns:a16="http://schemas.microsoft.com/office/drawing/2014/main" id="{E0E0690D-06E4-4EBD-B473-DDF2BC35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冲突→反例→概念→迁移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94B14C3B-E98B-44DA-A15B-B834E071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F71C32D0-6565-4771-9388-CE08C053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11 / 36">
            <a:extLst xmlns:a="http://schemas.openxmlformats.org/drawingml/2006/main">
              <a:ext uri="{FF2B5EF4-FFF2-40B4-BE49-F238E27FC236}">
                <a16:creationId xmlns:a16="http://schemas.microsoft.com/office/drawing/2014/main" id="{CBA941D8-C895-40F1-893B-ABBDF1EE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11 / 36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463D14B5-BBED-4DA2-BE43-9C4CE53A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5146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7" name="e007_Conflict">
            <a:extLst xmlns:a="http://schemas.openxmlformats.org/drawingml/2006/main">
              <a:ext uri="{FF2B5EF4-FFF2-40B4-BE49-F238E27FC236}">
                <a16:creationId xmlns:a16="http://schemas.microsoft.com/office/drawing/2014/main" id="{2805DD20-75A5-461A-AA7C-65A2DE6D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19375"/>
            <a:ext cx="222885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Conflict</a:t>
            </a:r>
          </a:p>
        </p:txBody>
      </p:sp>
      <p:sp>
        <p:nvSpPr>
          <p:cNvPr id="8" name="e008_局部约束冲突">
            <a:extLst xmlns:a="http://schemas.openxmlformats.org/drawingml/2006/main">
              <a:ext uri="{FF2B5EF4-FFF2-40B4-BE49-F238E27FC236}">
                <a16:creationId xmlns:a16="http://schemas.microsoft.com/office/drawing/2014/main" id="{71A95A54-ECE9-4616-950C-5723C768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52763"/>
            <a:ext cx="22288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局部约束冲突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D5D36900-1483-4C4D-8D37-AB6888CD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9087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438B33F0-4B5F-4B04-9DCB-94BC719E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4325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1" name="e011_rect">
            <a:extLst xmlns:a="http://schemas.openxmlformats.org/drawingml/2006/main">
              <a:ext uri="{FF2B5EF4-FFF2-40B4-BE49-F238E27FC236}">
                <a16:creationId xmlns:a16="http://schemas.microsoft.com/office/drawing/2014/main" id="{D5971734-42D8-441A-95C3-14C70926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25146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12" name="e012_Witness">
            <a:extLst xmlns:a="http://schemas.openxmlformats.org/drawingml/2006/main">
              <a:ext uri="{FF2B5EF4-FFF2-40B4-BE49-F238E27FC236}">
                <a16:creationId xmlns:a16="http://schemas.microsoft.com/office/drawing/2014/main" id="{D7517590-B533-4CF1-9C19-AAFD8B7B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19375"/>
            <a:ext cx="222885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Witness</a:t>
            </a:r>
          </a:p>
        </p:txBody>
      </p:sp>
      <p:sp>
        <p:nvSpPr>
          <p:cNvPr id="13" name="e013_反例输入与轨迹">
            <a:extLst xmlns:a="http://schemas.openxmlformats.org/drawingml/2006/main">
              <a:ext uri="{FF2B5EF4-FFF2-40B4-BE49-F238E27FC236}">
                <a16:creationId xmlns:a16="http://schemas.microsoft.com/office/drawing/2014/main" id="{A30A8271-D4AF-439A-9BF0-E4166E60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52763"/>
            <a:ext cx="22288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反例输入与轨迹</a:t>
            </a:r>
          </a:p>
        </p:txBody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B83C3DF7-9579-4F1F-918F-71759AAA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097C21D6-8F92-4959-B996-7F6EA841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4325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6" name="e016_rect">
            <a:extLst xmlns:a="http://schemas.openxmlformats.org/drawingml/2006/main">
              <a:ext uri="{FF2B5EF4-FFF2-40B4-BE49-F238E27FC236}">
                <a16:creationId xmlns:a16="http://schemas.microsoft.com/office/drawing/2014/main" id="{CDE76BAC-D64A-4AFD-B075-CFFA5130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25146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17" name="e017_Concept">
            <a:extLst xmlns:a="http://schemas.openxmlformats.org/drawingml/2006/main">
              <a:ext uri="{FF2B5EF4-FFF2-40B4-BE49-F238E27FC236}">
                <a16:creationId xmlns:a16="http://schemas.microsoft.com/office/drawing/2014/main" id="{5171F17C-B303-4356-BB55-D906533D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19375"/>
            <a:ext cx="222885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Concept</a:t>
            </a:r>
          </a:p>
        </p:txBody>
      </p:sp>
      <p:sp>
        <p:nvSpPr>
          <p:cNvPr id="18" name="e018_谓词与新变量">
            <a:extLst xmlns:a="http://schemas.openxmlformats.org/drawingml/2006/main">
              <a:ext uri="{FF2B5EF4-FFF2-40B4-BE49-F238E27FC236}">
                <a16:creationId xmlns:a16="http://schemas.microsoft.com/office/drawing/2014/main" id="{6082221F-9828-422A-8F18-A0FFE5DF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52763"/>
            <a:ext cx="22288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谓词与新变量</a:t>
            </a:r>
          </a:p>
        </p:txBody>
      </p:sp>
      <p:sp>
        <p:nvSpPr>
          <p:cNvPr id="19" name="e019_polyline">
            <a:extLst xmlns:a="http://schemas.openxmlformats.org/drawingml/2006/main">
              <a:ext uri="{FF2B5EF4-FFF2-40B4-BE49-F238E27FC236}">
                <a16:creationId xmlns:a16="http://schemas.microsoft.com/office/drawing/2014/main" id="{A956B5BD-71FF-47CF-96CD-8E00AA97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9087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0" name="e020_polyline">
            <a:extLst xmlns:a="http://schemas.openxmlformats.org/drawingml/2006/main">
              <a:ext uri="{FF2B5EF4-FFF2-40B4-BE49-F238E27FC236}">
                <a16:creationId xmlns:a16="http://schemas.microsoft.com/office/drawing/2014/main" id="{558D6A60-6ABB-4950-8C79-422AF756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1" name="e021_rect">
            <a:extLst xmlns:a="http://schemas.openxmlformats.org/drawingml/2006/main">
              <a:ext uri="{FF2B5EF4-FFF2-40B4-BE49-F238E27FC236}">
                <a16:creationId xmlns:a16="http://schemas.microsoft.com/office/drawing/2014/main" id="{85F57C57-AB1B-461E-9647-E8BAAE93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25146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9E1EC"/>
          </a:solidFill>
          <a:ln xmlns:a="http://schemas.openxmlformats.org/drawingml/2006/main" w="19050">
            <a:solidFill>
              <a:srgbClr val="725D7C"/>
            </a:solidFill>
            <a:prstDash val="solid"/>
          </a:ln>
        </p:spPr>
      </p:sp>
      <p:sp>
        <p:nvSpPr>
          <p:cNvPr id="22" name="e022_Migration">
            <a:extLst xmlns:a="http://schemas.openxmlformats.org/drawingml/2006/main">
              <a:ext uri="{FF2B5EF4-FFF2-40B4-BE49-F238E27FC236}">
                <a16:creationId xmlns:a16="http://schemas.microsoft.com/office/drawing/2014/main" id="{73CB8F0A-41B8-47DA-A52D-71781A07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619375"/>
            <a:ext cx="222885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Migration</a:t>
            </a:r>
          </a:p>
        </p:txBody>
      </p:sp>
      <p:sp>
        <p:nvSpPr>
          <p:cNvPr id="23" name="e023_v1 → v2 映射">
            <a:extLst xmlns:a="http://schemas.openxmlformats.org/drawingml/2006/main">
              <a:ext uri="{FF2B5EF4-FFF2-40B4-BE49-F238E27FC236}">
                <a16:creationId xmlns:a16="http://schemas.microsoft.com/office/drawing/2014/main" id="{BEFAB6EF-AC43-49FC-9D00-8A6E95C5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052763"/>
            <a:ext cx="22288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v1 → v2 映射</a:t>
            </a:r>
          </a:p>
        </p:txBody>
      </p:sp>
      <p:sp>
        <p:nvSpPr>
          <p:cNvPr id="24" name="e024_polyline">
            <a:extLst xmlns:a="http://schemas.openxmlformats.org/drawingml/2006/main">
              <a:ext uri="{FF2B5EF4-FFF2-40B4-BE49-F238E27FC236}">
                <a16:creationId xmlns:a16="http://schemas.microsoft.com/office/drawing/2014/main" id="{F8E641F1-4DB6-4EE9-A079-C96A82FF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952875"/>
            <a:ext cx="95" cy="676275"/>
          </a:xfrm>
          <a:custGeom xmlns:a="http://schemas.openxmlformats.org/drawingml/2006/main">
            <a:pathLst>
              <a:path w="95" h="676275">
                <a:moveTo>
                  <a:pt x="0" y="0"/>
                </a:moveTo>
                <a:lnTo>
                  <a:pt x="0" y="6762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C5138"/>
            </a:solidFill>
            <a:prstDash val="dash"/>
          </a:ln>
        </p:spPr>
      </p:sp>
      <p:sp>
        <p:nvSpPr>
          <p:cNvPr id="25" name="e025_polyline">
            <a:extLst xmlns:a="http://schemas.openxmlformats.org/drawingml/2006/main">
              <a:ext uri="{FF2B5EF4-FFF2-40B4-BE49-F238E27FC236}">
                <a16:creationId xmlns:a16="http://schemas.microsoft.com/office/drawing/2014/main" id="{EFAFB964-76B1-4F97-99EB-CB04DF2D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14850"/>
            <a:ext cx="95250" cy="114300"/>
          </a:xfrm>
          <a:custGeom xmlns:a="http://schemas.openxmlformats.org/drawingml/2006/main">
            <a:pathLst>
              <a:path w="95250" h="114300">
                <a:moveTo>
                  <a:pt x="95250" y="0"/>
                </a:moveTo>
                <a:lnTo>
                  <a:pt x="47625" y="1143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26" name="e026_无候选：保留多域">
            <a:extLst xmlns:a="http://schemas.openxmlformats.org/drawingml/2006/main">
              <a:ext uri="{FF2B5EF4-FFF2-40B4-BE49-F238E27FC236}">
                <a16:creationId xmlns:a16="http://schemas.microsoft.com/office/drawing/2014/main" id="{EA4ED50A-46E1-4F02-952C-ED6DF73C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29175"/>
            <a:ext cx="4953000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无候选：保留多域</a:t>
            </a:r>
          </a:p>
        </p:txBody>
      </p:sp>
      <p:sp>
        <p:nvSpPr>
          <p:cNvPr id="27" name="e027_C10 的条件命题：通信能否生产可执行的中介语言？">
            <a:extLst xmlns:a="http://schemas.openxmlformats.org/drawingml/2006/main">
              <a:ext uri="{FF2B5EF4-FFF2-40B4-BE49-F238E27FC236}">
                <a16:creationId xmlns:a16="http://schemas.microsoft.com/office/drawing/2014/main" id="{AF318226-4754-4B57-A57B-94DBE03B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C10 的条件命题：通信能否生产可执行的中介语言？</a:t>
            </a:r>
          </a:p>
        </p:txBody>
      </p:sp>
    </p:spTree>
    <p:extLst>
      <p:ext uri="{BB962C8B-B14F-4D97-AF65-F5344CB8AC3E}">
        <p14:creationId xmlns:p14="http://schemas.microsoft.com/office/powerpoint/2010/main" val="6745922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001_第二条主线：传递怎样学习">
            <a:extLst xmlns:a="http://schemas.openxmlformats.org/drawingml/2006/main">
              <a:ext uri="{FF2B5EF4-FFF2-40B4-BE49-F238E27FC236}">
                <a16:creationId xmlns:a16="http://schemas.microsoft.com/office/drawing/2014/main" id="{0528718B-87B8-41DD-B014-C0C111FE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第二条主线：传递怎样学习</a:t>
            </a:r>
          </a:p>
        </p:txBody>
      </p:sp>
      <p:sp>
        <p:nvSpPr>
          <p:cNvPr id="2" name="e002_知识之外，还能交换改进方向与规则">
            <a:extLst xmlns:a="http://schemas.openxmlformats.org/drawingml/2006/main">
              <a:ext uri="{FF2B5EF4-FFF2-40B4-BE49-F238E27FC236}">
                <a16:creationId xmlns:a16="http://schemas.microsoft.com/office/drawing/2014/main" id="{81E2104E-FA83-4EE8-825F-27088C78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知识之外，还能交换改进方向与规则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4A66A1AB-3D60-41B6-958F-1A82597E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65F4EB8E-7325-4A37-A7CF-91B9D07F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12 / 36">
            <a:extLst xmlns:a="http://schemas.openxmlformats.org/drawingml/2006/main">
              <a:ext uri="{FF2B5EF4-FFF2-40B4-BE49-F238E27FC236}">
                <a16:creationId xmlns:a16="http://schemas.microsoft.com/office/drawing/2014/main" id="{7F9B3F9A-9CAB-4F90-BC5D-00AE8093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12 / 36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15147059-D247-46C4-B6BF-980D2081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34544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7" name="e007_答案消息">
            <a:extLst xmlns:a="http://schemas.openxmlformats.org/drawingml/2006/main">
              <a:ext uri="{FF2B5EF4-FFF2-40B4-BE49-F238E27FC236}">
                <a16:creationId xmlns:a16="http://schemas.microsoft.com/office/drawing/2014/main" id="{D0E316C2-18DD-4C56-B1E4-174C0705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62250"/>
            <a:ext cx="316865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答案消息</a:t>
            </a:r>
          </a:p>
        </p:txBody>
      </p:sp>
      <p:sp>
        <p:nvSpPr>
          <p:cNvPr id="8" name="e008_当前问题的输出">
            <a:extLst xmlns:a="http://schemas.openxmlformats.org/drawingml/2006/main">
              <a:ext uri="{FF2B5EF4-FFF2-40B4-BE49-F238E27FC236}">
                <a16:creationId xmlns:a16="http://schemas.microsoft.com/office/drawing/2014/main" id="{8259F51F-51F5-4EF7-B232-A3E97D80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67075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当前问题的输出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3C1EF085-25DE-4B5E-9DE8-5C81535A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150" y="352425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1B05794A-A4A9-41F1-8C25-5B93AEC4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47662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1" name="e011_rect">
            <a:extLst xmlns:a="http://schemas.openxmlformats.org/drawingml/2006/main">
              <a:ext uri="{FF2B5EF4-FFF2-40B4-BE49-F238E27FC236}">
                <a16:creationId xmlns:a16="http://schemas.microsoft.com/office/drawing/2014/main" id="{40E6DC08-58D9-44A4-BAB4-4108D691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619375"/>
            <a:ext cx="34544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12" name="e012_行为方向">
            <a:extLst xmlns:a="http://schemas.openxmlformats.org/drawingml/2006/main">
              <a:ext uri="{FF2B5EF4-FFF2-40B4-BE49-F238E27FC236}">
                <a16:creationId xmlns:a16="http://schemas.microsoft.com/office/drawing/2014/main" id="{C61212BB-ADBD-4D7A-BDBA-3D76DAD1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2762250"/>
            <a:ext cx="316865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行为方向</a:t>
            </a:r>
          </a:p>
        </p:txBody>
      </p:sp>
      <p:sp>
        <p:nvSpPr>
          <p:cNvPr id="13" name="e013_改变哪些可观察行为">
            <a:extLst xmlns:a="http://schemas.openxmlformats.org/drawingml/2006/main">
              <a:ext uri="{FF2B5EF4-FFF2-40B4-BE49-F238E27FC236}">
                <a16:creationId xmlns:a16="http://schemas.microsoft.com/office/drawing/2014/main" id="{77781002-55D5-4F73-AF1B-5106DF1E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3267075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改变哪些可观察行为</a:t>
            </a:r>
          </a:p>
        </p:txBody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D587E387-67BC-4B58-9AC7-A825D3FA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350" y="352425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C57835EE-972F-4716-B276-AB6A2D28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47662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6" name="e016_rect">
            <a:extLst xmlns:a="http://schemas.openxmlformats.org/drawingml/2006/main">
              <a:ext uri="{FF2B5EF4-FFF2-40B4-BE49-F238E27FC236}">
                <a16:creationId xmlns:a16="http://schemas.microsoft.com/office/drawing/2014/main" id="{F2F461D3-727F-47D0-B8D2-8E0188F3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19375"/>
            <a:ext cx="34544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7" name="e017_更新规则">
            <a:extLst xmlns:a="http://schemas.openxmlformats.org/drawingml/2006/main">
              <a:ext uri="{FF2B5EF4-FFF2-40B4-BE49-F238E27FC236}">
                <a16:creationId xmlns:a16="http://schemas.microsoft.com/office/drawing/2014/main" id="{60A9B735-1C31-4FC7-9E39-CEA10E1C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2762250"/>
            <a:ext cx="316865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更新规则</a:t>
            </a:r>
          </a:p>
        </p:txBody>
      </p:sp>
      <p:sp>
        <p:nvSpPr>
          <p:cNvPr id="18" name="e018_怎样产生局部修改">
            <a:extLst xmlns:a="http://schemas.openxmlformats.org/drawingml/2006/main">
              <a:ext uri="{FF2B5EF4-FFF2-40B4-BE49-F238E27FC236}">
                <a16:creationId xmlns:a16="http://schemas.microsoft.com/office/drawing/2014/main" id="{3F02C3CA-A4D8-4F1E-A4ED-E90C6BC8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3267075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怎样产生局部修改</a:t>
            </a:r>
          </a:p>
        </p:txBody>
      </p:sp>
      <p:sp>
        <p:nvSpPr>
          <p:cNvPr id="19" name="e019_共同可观察行为是桥梁；参数空间无需相同">
            <a:extLst xmlns:a="http://schemas.openxmlformats.org/drawingml/2006/main">
              <a:ext uri="{FF2B5EF4-FFF2-40B4-BE49-F238E27FC236}">
                <a16:creationId xmlns:a16="http://schemas.microsoft.com/office/drawing/2014/main" id="{4AE7C742-541E-4531-B9AE-2636B53A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共同可观察行为是桥梁；参数空间无需相同</a:t>
            </a:r>
          </a:p>
        </p:txBody>
      </p:sp>
    </p:spTree>
    <p:extLst>
      <p:ext uri="{BB962C8B-B14F-4D97-AF65-F5344CB8AC3E}">
        <p14:creationId xmlns:p14="http://schemas.microsoft.com/office/powerpoint/2010/main" val="18791466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001_H37：在行为空间运更新">
            <a:extLst xmlns:a="http://schemas.openxmlformats.org/drawingml/2006/main">
              <a:ext uri="{FF2B5EF4-FFF2-40B4-BE49-F238E27FC236}">
                <a16:creationId xmlns:a16="http://schemas.microsoft.com/office/drawing/2014/main" id="{F9D2B8C0-853C-40E4-924D-1F4FD975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H37：在行为空间运更新</a:t>
            </a:r>
          </a:p>
        </p:txBody>
      </p:sp>
      <p:sp>
        <p:nvSpPr>
          <p:cNvPr id="2" name="e002_源方向→行为变化→目标可实现方向">
            <a:extLst xmlns:a="http://schemas.openxmlformats.org/drawingml/2006/main">
              <a:ext uri="{FF2B5EF4-FFF2-40B4-BE49-F238E27FC236}">
                <a16:creationId xmlns:a16="http://schemas.microsoft.com/office/drawing/2014/main" id="{A9BB9999-024C-4413-A93A-8990E81E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源方向→行为变化→目标可实现方向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A768BD57-9773-4C42-821F-1A0594A3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解析示意 / 数学示意 · 无模型实测">
            <a:extLst xmlns:a="http://schemas.openxmlformats.org/drawingml/2006/main">
              <a:ext uri="{FF2B5EF4-FFF2-40B4-BE49-F238E27FC236}">
                <a16:creationId xmlns:a16="http://schemas.microsoft.com/office/drawing/2014/main" id="{87A8A0CD-5D8F-4978-B756-85336B38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解析示意 / 数学示意 · 无模型实测</a:t>
            </a:r>
          </a:p>
        </p:txBody>
      </p:sp>
      <p:sp>
        <p:nvSpPr>
          <p:cNvPr id="5" name="e005_13 / 36">
            <a:extLst xmlns:a="http://schemas.openxmlformats.org/drawingml/2006/main">
              <a:ext uri="{FF2B5EF4-FFF2-40B4-BE49-F238E27FC236}">
                <a16:creationId xmlns:a16="http://schemas.microsoft.com/office/drawing/2014/main" id="{5CE453E3-E959-49C4-B766-9B1623F2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13 / 36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DF108A93-A1BB-4330-B29B-4C1CB21E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7" name="e007_源参数空间">
            <a:extLst xmlns:a="http://schemas.openxmlformats.org/drawingml/2006/main">
              <a:ext uri="{FF2B5EF4-FFF2-40B4-BE49-F238E27FC236}">
                <a16:creationId xmlns:a16="http://schemas.microsoft.com/office/drawing/2014/main" id="{186F1A78-3B15-40DA-A09D-363FB8F0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05075"/>
            <a:ext cx="2571750" cy="435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源参数空间</a:t>
            </a:r>
          </a:p>
        </p:txBody>
      </p:sp>
      <p:sp>
        <p:nvSpPr>
          <p:cNvPr id="8" name="e008_Δθ_A ∈ Rᵖ">
            <a:extLst xmlns:a="http://schemas.openxmlformats.org/drawingml/2006/main">
              <a:ext uri="{FF2B5EF4-FFF2-40B4-BE49-F238E27FC236}">
                <a16:creationId xmlns:a16="http://schemas.microsoft.com/office/drawing/2014/main" id="{B63C8586-0DCA-4B4B-807E-FD281532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62275"/>
            <a:ext cx="25717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Δθ_A ∈ Rᵖ</a:t>
            </a:r>
          </a:p>
        </p:txBody>
      </p:sp>
      <p:sp>
        <p:nvSpPr>
          <p:cNvPr id="9" name="e009_rect">
            <a:extLst xmlns:a="http://schemas.openxmlformats.org/drawingml/2006/main">
              <a:ext uri="{FF2B5EF4-FFF2-40B4-BE49-F238E27FC236}">
                <a16:creationId xmlns:a16="http://schemas.microsoft.com/office/drawing/2014/main" id="{6B59F707-B14F-46A2-B6C6-831816A2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0" name="e010_有限行为空间">
            <a:extLst xmlns:a="http://schemas.openxmlformats.org/drawingml/2006/main">
              <a:ext uri="{FF2B5EF4-FFF2-40B4-BE49-F238E27FC236}">
                <a16:creationId xmlns:a16="http://schemas.microsoft.com/office/drawing/2014/main" id="{5CD59CD6-57FC-4FAA-A5FB-0639C066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05075"/>
            <a:ext cx="257175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有限行为空间</a:t>
            </a:r>
          </a:p>
        </p:txBody>
      </p:sp>
      <p:sp>
        <p:nvSpPr>
          <p:cNvPr id="11" name="e011_v = J_A Δθ_A ∈ Rᵐ">
            <a:extLst xmlns:a="http://schemas.openxmlformats.org/drawingml/2006/main">
              <a:ext uri="{FF2B5EF4-FFF2-40B4-BE49-F238E27FC236}">
                <a16:creationId xmlns:a16="http://schemas.microsoft.com/office/drawing/2014/main" id="{361077E6-FC3D-47DE-B58B-0D28228E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50369"/>
            <a:ext cx="25717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v = J_A Δθ_A ∈ Rᵐ</a:t>
            </a:r>
          </a:p>
        </p:txBody>
      </p:sp>
      <p:sp>
        <p:nvSpPr>
          <p:cNvPr id="12" name="e012_rect">
            <a:extLst xmlns:a="http://schemas.openxmlformats.org/drawingml/2006/main">
              <a:ext uri="{FF2B5EF4-FFF2-40B4-BE49-F238E27FC236}">
                <a16:creationId xmlns:a16="http://schemas.microsoft.com/office/drawing/2014/main" id="{632C19A6-B275-4DF7-BD5C-5C305EBB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622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13" name="e013_目标参数空间">
            <a:extLst xmlns:a="http://schemas.openxmlformats.org/drawingml/2006/main">
              <a:ext uri="{FF2B5EF4-FFF2-40B4-BE49-F238E27FC236}">
                <a16:creationId xmlns:a16="http://schemas.microsoft.com/office/drawing/2014/main" id="{3DA3CD32-83A7-4174-8AAD-15CD9DF0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505075"/>
            <a:ext cx="2571750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目标参数空间</a:t>
            </a:r>
          </a:p>
        </p:txBody>
      </p:sp>
      <p:sp>
        <p:nvSpPr>
          <p:cNvPr id="14" name="e014_δ_B ∈ Rᑫ；p 可不同于 q">
            <a:extLst xmlns:a="http://schemas.openxmlformats.org/drawingml/2006/main">
              <a:ext uri="{FF2B5EF4-FFF2-40B4-BE49-F238E27FC236}">
                <a16:creationId xmlns:a16="http://schemas.microsoft.com/office/drawing/2014/main" id="{C8381FFA-C8A0-4C8C-AE04-039464A4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914650"/>
            <a:ext cx="25717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δ_B ∈ Rᑫ；p 可不同于 q</a:t>
            </a:r>
          </a:p>
        </p:txBody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F7B4AFAD-4A2C-4539-9EA5-6E04332C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1028700" cy="95"/>
          </a:xfrm>
          <a:custGeom xmlns:a="http://schemas.openxmlformats.org/drawingml/2006/main">
            <a:pathLst>
              <a:path w="1028700" h="95">
                <a:moveTo>
                  <a:pt x="0" y="0"/>
                </a:moveTo>
                <a:lnTo>
                  <a:pt x="1028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96974"/>
            </a:solidFill>
            <a:prstDash val="solid"/>
          </a:ln>
        </p:spPr>
      </p:sp>
      <p:sp>
        <p:nvSpPr>
          <p:cNvPr id="16" name="e016_polyline">
            <a:extLst xmlns:a="http://schemas.openxmlformats.org/drawingml/2006/main">
              <a:ext uri="{FF2B5EF4-FFF2-40B4-BE49-F238E27FC236}">
                <a16:creationId xmlns:a16="http://schemas.microsoft.com/office/drawing/2014/main" id="{5F2E91E1-0422-4619-9303-15B9312D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0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96974"/>
            </a:solidFill>
            <a:prstDash val="solid"/>
          </a:ln>
        </p:spPr>
      </p:sp>
      <p:sp>
        <p:nvSpPr>
          <p:cNvPr id="17" name="e017_源 JVP">
            <a:extLst xmlns:a="http://schemas.openxmlformats.org/drawingml/2006/main">
              <a:ext uri="{FF2B5EF4-FFF2-40B4-BE49-F238E27FC236}">
                <a16:creationId xmlns:a16="http://schemas.microsoft.com/office/drawing/2014/main" id="{3BFD56B8-FA7E-4900-838D-D037AE63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1047750" cy="29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源 JVP</a:t>
            </a:r>
          </a:p>
        </p:txBody>
      </p:sp>
      <p:sp>
        <p:nvSpPr>
          <p:cNvPr id="18" name="e018_polyline">
            <a:extLst xmlns:a="http://schemas.openxmlformats.org/drawingml/2006/main">
              <a:ext uri="{FF2B5EF4-FFF2-40B4-BE49-F238E27FC236}">
                <a16:creationId xmlns:a16="http://schemas.microsoft.com/office/drawing/2014/main" id="{AB5C8C37-D44A-4D5F-B1AC-0237E9C6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48000"/>
            <a:ext cx="971550" cy="95"/>
          </a:xfrm>
          <a:custGeom xmlns:a="http://schemas.openxmlformats.org/drawingml/2006/main">
            <a:pathLst>
              <a:path w="971550" h="9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19" name="e019_polyline">
            <a:extLst xmlns:a="http://schemas.openxmlformats.org/drawingml/2006/main">
              <a:ext uri="{FF2B5EF4-FFF2-40B4-BE49-F238E27FC236}">
                <a16:creationId xmlns:a16="http://schemas.microsoft.com/office/drawing/2014/main" id="{206D734E-49FA-4C2F-8154-A6D4C51A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0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20" name="e020_最小二乘">
            <a:extLst xmlns:a="http://schemas.openxmlformats.org/drawingml/2006/main">
              <a:ext uri="{FF2B5EF4-FFF2-40B4-BE49-F238E27FC236}">
                <a16:creationId xmlns:a16="http://schemas.microsoft.com/office/drawing/2014/main" id="{38A45B5B-CA1B-4538-9475-2855858C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1190625" cy="29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最小二乘</a:t>
            </a:r>
          </a:p>
        </p:txBody>
      </p:sp>
      <p:sp>
        <p:nvSpPr>
          <p:cNvPr id="21" name="e021_δ* = argminδ ‖J_B δ − v‖² + λ‖δ‖²">
            <a:extLst xmlns:a="http://schemas.openxmlformats.org/drawingml/2006/main">
              <a:ext uri="{FF2B5EF4-FFF2-40B4-BE49-F238E27FC236}">
                <a16:creationId xmlns:a16="http://schemas.microsoft.com/office/drawing/2014/main" id="{E19040BB-0F14-423D-B037-4AA86130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05300"/>
            <a:ext cx="9525000" cy="463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55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δ* = argminδ ‖J_B δ − v‖² + λ‖δ‖²</a:t>
            </a:r>
          </a:p>
        </p:txBody>
      </p:sp>
      <p:sp>
        <p:nvSpPr>
          <p:cNvPr id="22" name="e022_r = v − J_B δ*：不可达或正则化残差仍然保留">
            <a:extLst xmlns:a="http://schemas.openxmlformats.org/drawingml/2006/main">
              <a:ext uri="{FF2B5EF4-FFF2-40B4-BE49-F238E27FC236}">
                <a16:creationId xmlns:a16="http://schemas.microsoft.com/office/drawing/2014/main" id="{85478E4C-2E94-4110-BBD9-6986F17F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76800"/>
            <a:ext cx="9525000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r = v − J_B δ*：不可达或正则化残差仍然保留</a:t>
            </a:r>
          </a:p>
        </p:txBody>
      </p:sp>
      <p:sp>
        <p:nvSpPr>
          <p:cNvPr id="23" name="e023_J_A 与 J_B 的行为坐标对应，必须作为条件假设单独陈述">
            <a:extLst xmlns:a="http://schemas.openxmlformats.org/drawingml/2006/main">
              <a:ext uri="{FF2B5EF4-FFF2-40B4-BE49-F238E27FC236}">
                <a16:creationId xmlns:a16="http://schemas.microsoft.com/office/drawing/2014/main" id="{349755AE-6FC8-40B2-974F-DB718D9C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J_A 与 J_B 的行为坐标对应，必须作为条件假设单独陈述</a:t>
            </a:r>
          </a:p>
        </p:txBody>
      </p:sp>
    </p:spTree>
    <p:extLst>
      <p:ext uri="{BB962C8B-B14F-4D97-AF65-F5344CB8AC3E}">
        <p14:creationId xmlns:p14="http://schemas.microsoft.com/office/powerpoint/2010/main" val="9141600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001_一个能够手算的运输例">
            <a:extLst xmlns:a="http://schemas.openxmlformats.org/drawingml/2006/main">
              <a:ext uri="{FF2B5EF4-FFF2-40B4-BE49-F238E27FC236}">
                <a16:creationId xmlns:a16="http://schemas.microsoft.com/office/drawing/2014/main" id="{7B315910-4B2E-4ED2-BF33-E97CBC86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一个能够手算的运输例</a:t>
            </a:r>
          </a:p>
        </p:txBody>
      </p:sp>
      <p:sp>
        <p:nvSpPr>
          <p:cNvPr id="2" name="e002_J_B=4，目标行为变化1，δ=.25">
            <a:extLst xmlns:a="http://schemas.openxmlformats.org/drawingml/2006/main">
              <a:ext uri="{FF2B5EF4-FFF2-40B4-BE49-F238E27FC236}">
                <a16:creationId xmlns:a16="http://schemas.microsoft.com/office/drawing/2014/main" id="{66A02AC2-DC44-4EFC-8272-08B328FF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J_B=4，目标行为变化1，δ=.25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0957F828-8375-4BE6-AB1E-3EA58B8E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解析示意 / 数学示意 · 无模型实测">
            <a:extLst xmlns:a="http://schemas.openxmlformats.org/drawingml/2006/main">
              <a:ext uri="{FF2B5EF4-FFF2-40B4-BE49-F238E27FC236}">
                <a16:creationId xmlns:a16="http://schemas.microsoft.com/office/drawing/2014/main" id="{51C5E9BE-5124-42BA-BC10-DBCE4899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解析示意 / 数学示意 · 无模型实测</a:t>
            </a:r>
          </a:p>
        </p:txBody>
      </p:sp>
      <p:sp>
        <p:nvSpPr>
          <p:cNvPr id="5" name="e005_14 / 36">
            <a:extLst xmlns:a="http://schemas.openxmlformats.org/drawingml/2006/main">
              <a:ext uri="{FF2B5EF4-FFF2-40B4-BE49-F238E27FC236}">
                <a16:creationId xmlns:a16="http://schemas.microsoft.com/office/drawing/2014/main" id="{76ED570D-B3DD-415E-8A81-BA0BFA41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14 / 36</a:t>
            </a:r>
          </a:p>
        </p:txBody>
      </p:sp>
      <p:sp>
        <p:nvSpPr>
          <p:cNvPr id="6" name="e006_无正则化：λ = 0">
            <a:extLst xmlns:a="http://schemas.openxmlformats.org/drawingml/2006/main">
              <a:ext uri="{FF2B5EF4-FFF2-40B4-BE49-F238E27FC236}">
                <a16:creationId xmlns:a16="http://schemas.microsoft.com/office/drawing/2014/main" id="{381208FD-F6CE-4951-9149-52DF3D91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3875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无正则化：λ = 0</a:t>
            </a:r>
          </a:p>
        </p:txBody>
      </p:sp>
      <p:sp>
        <p:nvSpPr>
          <p:cNvPr id="7" name="e007_4 × 0.25 = 1">
            <a:extLst xmlns:a="http://schemas.openxmlformats.org/drawingml/2006/main">
              <a:ext uri="{FF2B5EF4-FFF2-40B4-BE49-F238E27FC236}">
                <a16:creationId xmlns:a16="http://schemas.microsoft.com/office/drawing/2014/main" id="{F22ADB77-3D66-42A0-A496-F7F50243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238750" cy="817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500" b="0">
                <a:solidFill>
                  <a:srgbClr val="53664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500" b="0">
                <a:solidFill>
                  <a:srgbClr val="53664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500" b="0">
                <a:solidFill>
                  <a:srgbClr val="53664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500" b="0">
                <a:solidFill>
                  <a:srgbClr val="53664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500" b="0">
                <a:solidFill>
                  <a:srgbClr val="53664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500" b="0">
                <a:solidFill>
                  <a:srgbClr val="53664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500" b="0">
                <a:solidFill>
                  <a:srgbClr val="53664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500" b="0">
                <a:solidFill>
                  <a:srgbClr val="53664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500" b="0">
                <a:solidFill>
                  <a:srgbClr val="53664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500" b="0">
                <a:solidFill>
                  <a:srgbClr val="53664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4500" b="0">
                <a:solidFill>
                  <a:srgbClr val="53664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500" b="0">
                <a:solidFill>
                  <a:srgbClr val="536647"/>
                </a:solidFill>
                <a:latin typeface="Noto Serif CJK SC"/>
                <a:ea typeface="Noto Serif CJK SC"/>
                <a:cs typeface="Noto Serif CJK SC"/>
              </a:rPr>
              <a:t>4 × 0.25 = 1</a:t>
            </a:r>
          </a:p>
        </p:txBody>
      </p:sp>
      <p:sp>
        <p:nvSpPr>
          <p:cNvPr id="8" name="e008_目标行为变化 1&#10;目标参数改动 δ = 1/4">
            <a:extLst xmlns:a="http://schemas.openxmlformats.org/drawingml/2006/main">
              <a:ext uri="{FF2B5EF4-FFF2-40B4-BE49-F238E27FC236}">
                <a16:creationId xmlns:a16="http://schemas.microsoft.com/office/drawing/2014/main" id="{CE2A749D-BD64-4859-8040-B48C5CC3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238750" cy="87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目标行为变化 1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目标参数改动 δ = 1/4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667EF23F-83B1-4565-83F6-1498F60E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95" cy="3048000"/>
          </a:xfrm>
          <a:custGeom xmlns:a="http://schemas.openxmlformats.org/drawingml/2006/main">
            <a:pathLst>
              <a:path w="95"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ECDBF"/>
            </a:solidFill>
            <a:prstDash val="solid"/>
          </a:ln>
        </p:spPr>
      </p:sp>
      <p:sp>
        <p:nvSpPr>
          <p:cNvPr id="10" name="e010_加入正则化：λ = 1">
            <a:extLst xmlns:a="http://schemas.openxmlformats.org/drawingml/2006/main">
              <a:ext uri="{FF2B5EF4-FFF2-40B4-BE49-F238E27FC236}">
                <a16:creationId xmlns:a16="http://schemas.microsoft.com/office/drawing/2014/main" id="{52EFE10E-A60A-4068-8419-47904576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91490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加入正则化：λ = 1</a:t>
            </a:r>
          </a:p>
        </p:txBody>
      </p:sp>
      <p:sp>
        <p:nvSpPr>
          <p:cNvPr id="11" name="e011_δ = 4/17">
            <a:extLst xmlns:a="http://schemas.openxmlformats.org/drawingml/2006/main">
              <a:ext uri="{FF2B5EF4-FFF2-40B4-BE49-F238E27FC236}">
                <a16:creationId xmlns:a16="http://schemas.microsoft.com/office/drawing/2014/main" id="{FADAA704-9C79-48B9-BF46-B9CED266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4914900" cy="817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5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5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5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5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5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5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5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5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5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5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45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5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rPr>
              <a:t>δ = 4/17</a:t>
            </a:r>
          </a:p>
        </p:txBody>
      </p:sp>
      <p:sp>
        <p:nvSpPr>
          <p:cNvPr id="12" name="e012_实现变化 16/17&#10;残差 1/17 仍保留">
            <a:extLst xmlns:a="http://schemas.openxmlformats.org/drawingml/2006/main">
              <a:ext uri="{FF2B5EF4-FFF2-40B4-BE49-F238E27FC236}">
                <a16:creationId xmlns:a16="http://schemas.microsoft.com/office/drawing/2014/main" id="{91B81CD0-A86B-4694-97EC-03BC9C4D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0"/>
            <a:ext cx="4914900" cy="87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实现变化 16/17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残差 1/17 仍保留</a:t>
            </a:r>
          </a:p>
        </p:txBody>
      </p:sp>
      <p:sp>
        <p:nvSpPr>
          <p:cNvPr id="13" name="e013_解析式 δ = 4 / (16 + λ)；手算正确不代表真实模型运输有">
            <a:extLst xmlns:a="http://schemas.openxmlformats.org/drawingml/2006/main">
              <a:ext uri="{FF2B5EF4-FFF2-40B4-BE49-F238E27FC236}">
                <a16:creationId xmlns:a16="http://schemas.microsoft.com/office/drawing/2014/main" id="{4A795EC6-EECF-4987-80C9-07974EB6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解析式 δ = 4 / (16 + λ)；手算正确不代表真实模型运输有效</a:t>
            </a:r>
          </a:p>
        </p:txBody>
      </p:sp>
    </p:spTree>
    <p:extLst>
      <p:ext uri="{BB962C8B-B14F-4D97-AF65-F5344CB8AC3E}">
        <p14:creationId xmlns:p14="http://schemas.microsoft.com/office/powerpoint/2010/main" val="14279926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001_H38：规则本身成为消息">
            <a:extLst xmlns:a="http://schemas.openxmlformats.org/drawingml/2006/main">
              <a:ext uri="{FF2B5EF4-FFF2-40B4-BE49-F238E27FC236}">
                <a16:creationId xmlns:a16="http://schemas.microsoft.com/office/drawing/2014/main" id="{630A3BC6-9F35-4258-A0F8-E8708BCE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H38：规则本身成为消息</a:t>
            </a:r>
          </a:p>
        </p:txBody>
      </p:sp>
      <p:sp>
        <p:nvSpPr>
          <p:cNvPr id="2" name="e002_传递一个受限更新程序">
            <a:extLst xmlns:a="http://schemas.openxmlformats.org/drawingml/2006/main">
              <a:ext uri="{FF2B5EF4-FFF2-40B4-BE49-F238E27FC236}">
                <a16:creationId xmlns:a16="http://schemas.microsoft.com/office/drawing/2014/main" id="{71763434-DE71-4C3C-8C96-24780FDE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传递一个受限更新程序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057CF5BE-1AB5-4420-9099-580A4E3B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BFB313EB-787B-402C-8C7D-4045D8A4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15 / 36">
            <a:extLst xmlns:a="http://schemas.openxmlformats.org/drawingml/2006/main">
              <a:ext uri="{FF2B5EF4-FFF2-40B4-BE49-F238E27FC236}">
                <a16:creationId xmlns:a16="http://schemas.microsoft.com/office/drawing/2014/main" id="{EA4DF8D1-5BF0-4EC2-8CDB-437817E6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15 / 36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8865E625-04B9-47FC-B596-D8111CFC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5146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7" name="e007_support">
            <a:extLst xmlns:a="http://schemas.openxmlformats.org/drawingml/2006/main">
              <a:ext uri="{FF2B5EF4-FFF2-40B4-BE49-F238E27FC236}">
                <a16:creationId xmlns:a16="http://schemas.microsoft.com/office/drawing/2014/main" id="{86557A75-AC41-4316-99BF-6FAFC0C0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14625"/>
            <a:ext cx="222885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support</a:t>
            </a:r>
          </a:p>
        </p:txBody>
      </p:sp>
      <p:sp>
        <p:nvSpPr>
          <p:cNvPr id="8" name="e008_只供局部更新">
            <a:extLst xmlns:a="http://schemas.openxmlformats.org/drawingml/2006/main">
              <a:ext uri="{FF2B5EF4-FFF2-40B4-BE49-F238E27FC236}">
                <a16:creationId xmlns:a16="http://schemas.microsoft.com/office/drawing/2014/main" id="{DD9C0CCD-67E8-4ACC-A2B8-E2E9C4AB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59919"/>
            <a:ext cx="22288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只供局部更新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28F78F72-E50E-4D47-B262-BABF7591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8137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62524F59-5A4D-4666-B922-D10463DE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3375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1" name="e011_rect">
            <a:extLst xmlns:a="http://schemas.openxmlformats.org/drawingml/2006/main">
              <a:ext uri="{FF2B5EF4-FFF2-40B4-BE49-F238E27FC236}">
                <a16:creationId xmlns:a16="http://schemas.microsoft.com/office/drawing/2014/main" id="{6D020673-EA57-4F30-9D01-5E7CF3EA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25146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2" name="e012_规则 AST">
            <a:extLst xmlns:a="http://schemas.openxmlformats.org/drawingml/2006/main">
              <a:ext uri="{FF2B5EF4-FFF2-40B4-BE49-F238E27FC236}">
                <a16:creationId xmlns:a16="http://schemas.microsoft.com/office/drawing/2014/main" id="{E1DEC7FC-D5AC-4F78-8024-A4ED8AA6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14625"/>
            <a:ext cx="222885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规则 AST</a:t>
            </a:r>
          </a:p>
        </p:txBody>
      </p:sp>
      <p:sp>
        <p:nvSpPr>
          <p:cNvPr id="13" name="e013_受限读取与写入">
            <a:extLst xmlns:a="http://schemas.openxmlformats.org/drawingml/2006/main">
              <a:ext uri="{FF2B5EF4-FFF2-40B4-BE49-F238E27FC236}">
                <a16:creationId xmlns:a16="http://schemas.microsoft.com/office/drawing/2014/main" id="{133D58C3-9501-4CC5-80ED-AEF38ADA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59919"/>
            <a:ext cx="22288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受限读取与写入</a:t>
            </a:r>
          </a:p>
        </p:txBody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109457F6-6DA8-4795-8BA3-E1FE037E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8137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552D35C9-D96B-4488-B1E4-2A30CC39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3375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6" name="e016_rect">
            <a:extLst xmlns:a="http://schemas.openxmlformats.org/drawingml/2006/main">
              <a:ext uri="{FF2B5EF4-FFF2-40B4-BE49-F238E27FC236}">
                <a16:creationId xmlns:a16="http://schemas.microsoft.com/office/drawing/2014/main" id="{7E5FD0FF-0CFE-4F6B-95E4-5DF12514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71750"/>
            <a:ext cx="25146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17" name="e017_局部更新">
            <a:extLst xmlns:a="http://schemas.openxmlformats.org/drawingml/2006/main">
              <a:ext uri="{FF2B5EF4-FFF2-40B4-BE49-F238E27FC236}">
                <a16:creationId xmlns:a16="http://schemas.microsoft.com/office/drawing/2014/main" id="{04CE39AF-36C6-4B89-A00E-9B83731A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14625"/>
            <a:ext cx="222885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局部更新</a:t>
            </a:r>
          </a:p>
        </p:txBody>
      </p:sp>
      <p:sp>
        <p:nvSpPr>
          <p:cNvPr id="18" name="e018_仅授权参数域">
            <a:extLst xmlns:a="http://schemas.openxmlformats.org/drawingml/2006/main">
              <a:ext uri="{FF2B5EF4-FFF2-40B4-BE49-F238E27FC236}">
                <a16:creationId xmlns:a16="http://schemas.microsoft.com/office/drawing/2014/main" id="{FB9D1977-418A-4391-958A-023D59BF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159919"/>
            <a:ext cx="22288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仅授权参数域</a:t>
            </a:r>
          </a:p>
        </p:txBody>
      </p:sp>
      <p:sp>
        <p:nvSpPr>
          <p:cNvPr id="19" name="e019_polyline">
            <a:extLst xmlns:a="http://schemas.openxmlformats.org/drawingml/2006/main">
              <a:ext uri="{FF2B5EF4-FFF2-40B4-BE49-F238E27FC236}">
                <a16:creationId xmlns:a16="http://schemas.microsoft.com/office/drawing/2014/main" id="{6582E46F-7CDD-46C9-8992-810DCA63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8137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0" name="e020_polyline">
            <a:extLst xmlns:a="http://schemas.openxmlformats.org/drawingml/2006/main">
              <a:ext uri="{FF2B5EF4-FFF2-40B4-BE49-F238E27FC236}">
                <a16:creationId xmlns:a16="http://schemas.microsoft.com/office/drawing/2014/main" id="{5CD45894-51A4-4D7D-9460-690BDE33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3375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1" name="e021_rect">
            <a:extLst xmlns:a="http://schemas.openxmlformats.org/drawingml/2006/main">
              <a:ext uri="{FF2B5EF4-FFF2-40B4-BE49-F238E27FC236}">
                <a16:creationId xmlns:a16="http://schemas.microsoft.com/office/drawing/2014/main" id="{0F215644-6615-4151-A5A3-B67AFF24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71750"/>
            <a:ext cx="25146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1EC"/>
          </a:solidFill>
          <a:ln xmlns:a="http://schemas.openxmlformats.org/drawingml/2006/main" w="19050">
            <a:solidFill>
              <a:srgbClr val="725D7C"/>
            </a:solidFill>
            <a:prstDash val="solid"/>
          </a:ln>
        </p:spPr>
      </p:sp>
      <p:sp>
        <p:nvSpPr>
          <p:cNvPr id="22" name="e022_query">
            <a:extLst xmlns:a="http://schemas.openxmlformats.org/drawingml/2006/main">
              <a:ext uri="{FF2B5EF4-FFF2-40B4-BE49-F238E27FC236}">
                <a16:creationId xmlns:a16="http://schemas.microsoft.com/office/drawing/2014/main" id="{DC224AB3-C063-4FCB-9554-1296DFEC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714625"/>
            <a:ext cx="222885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query</a:t>
            </a:r>
          </a:p>
        </p:txBody>
      </p:sp>
      <p:sp>
        <p:nvSpPr>
          <p:cNvPr id="23" name="e023_仅供外层目标">
            <a:extLst xmlns:a="http://schemas.openxmlformats.org/drawingml/2006/main">
              <a:ext uri="{FF2B5EF4-FFF2-40B4-BE49-F238E27FC236}">
                <a16:creationId xmlns:a16="http://schemas.microsoft.com/office/drawing/2014/main" id="{42FC218B-C02A-445C-AE06-1F2B6281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59919"/>
            <a:ext cx="22288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仅供外层目标</a:t>
            </a:r>
          </a:p>
        </p:txBody>
      </p:sp>
      <p:sp>
        <p:nvSpPr>
          <p:cNvPr id="24" name="e024_polyline">
            <a:extLst xmlns:a="http://schemas.openxmlformats.org/drawingml/2006/main">
              <a:ext uri="{FF2B5EF4-FFF2-40B4-BE49-F238E27FC236}">
                <a16:creationId xmlns:a16="http://schemas.microsoft.com/office/drawing/2014/main" id="{BC5791AB-E99D-4BEE-AB3C-1E12B0CC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38375"/>
            <a:ext cx="95" cy="2428875"/>
          </a:xfrm>
          <a:custGeom xmlns:a="http://schemas.openxmlformats.org/drawingml/2006/main">
            <a:pathLst>
              <a:path w="95" h="2428875">
                <a:moveTo>
                  <a:pt x="0" y="0"/>
                </a:moveTo>
                <a:lnTo>
                  <a:pt x="0" y="2428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C4540"/>
            </a:solidFill>
            <a:prstDash val="solid"/>
          </a:ln>
        </p:spPr>
      </p:sp>
      <p:sp>
        <p:nvSpPr>
          <p:cNvPr id="25" name="e025_标签与数据边界隔离">
            <a:extLst xmlns:a="http://schemas.openxmlformats.org/drawingml/2006/main">
              <a:ext uri="{FF2B5EF4-FFF2-40B4-BE49-F238E27FC236}">
                <a16:creationId xmlns:a16="http://schemas.microsoft.com/office/drawing/2014/main" id="{E210EB78-D2F7-4F74-864E-62733982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3486150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rPr>
              <a:t>标签与数据边界隔离</a:t>
            </a:r>
          </a:p>
        </p:txBody>
      </p:sp>
      <p:sp>
        <p:nvSpPr>
          <p:cNvPr id="26" name="e026_query 不得泄漏到 support 更新；本轮不运行训练">
            <a:extLst xmlns:a="http://schemas.openxmlformats.org/drawingml/2006/main">
              <a:ext uri="{FF2B5EF4-FFF2-40B4-BE49-F238E27FC236}">
                <a16:creationId xmlns:a16="http://schemas.microsoft.com/office/drawing/2014/main" id="{DF122812-4AD9-424B-8CD4-B9F3D7A0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query 不得泄漏到 support 更新；本轮不运行训练</a:t>
            </a:r>
          </a:p>
        </p:txBody>
      </p:sp>
    </p:spTree>
    <p:extLst>
      <p:ext uri="{BB962C8B-B14F-4D97-AF65-F5344CB8AC3E}">
        <p14:creationId xmlns:p14="http://schemas.microsoft.com/office/powerpoint/2010/main" val="7811257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001_H39：结构改动也要能撤销">
            <a:extLst xmlns:a="http://schemas.openxmlformats.org/drawingml/2006/main">
              <a:ext uri="{FF2B5EF4-FFF2-40B4-BE49-F238E27FC236}">
                <a16:creationId xmlns:a16="http://schemas.microsoft.com/office/drawing/2014/main" id="{A2A389CA-1FB1-40A8-8557-75561CF9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H39：结构改动也要能撤销</a:t>
            </a:r>
          </a:p>
        </p:txBody>
      </p:sp>
      <p:sp>
        <p:nvSpPr>
          <p:cNvPr id="2" name="e002_版本快照→候选修改→提交或分叉">
            <a:extLst xmlns:a="http://schemas.openxmlformats.org/drawingml/2006/main">
              <a:ext uri="{FF2B5EF4-FFF2-40B4-BE49-F238E27FC236}">
                <a16:creationId xmlns:a16="http://schemas.microsoft.com/office/drawing/2014/main" id="{EA9D2981-C0E1-42AB-B923-4A86234E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版本快照→候选修改→提交或分叉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BE1E10DE-9485-400B-9AB0-64123BDE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781D7F43-8840-4767-B97B-B17DB7A4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16 / 36">
            <a:extLst xmlns:a="http://schemas.openxmlformats.org/drawingml/2006/main">
              <a:ext uri="{FF2B5EF4-FFF2-40B4-BE49-F238E27FC236}">
                <a16:creationId xmlns:a16="http://schemas.microsoft.com/office/drawing/2014/main" id="{716652BC-32CD-4C09-ABCA-4F93B2E7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16 / 36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EDF09A95-82A5-47BB-B51E-3E96C5A5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454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7" name="e007_快照 v₀">
            <a:extLst xmlns:a="http://schemas.openxmlformats.org/drawingml/2006/main">
              <a:ext uri="{FF2B5EF4-FFF2-40B4-BE49-F238E27FC236}">
                <a16:creationId xmlns:a16="http://schemas.microsoft.com/office/drawing/2014/main" id="{6EA16DF8-0032-401E-9C9A-24876ABF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19375"/>
            <a:ext cx="3168650" cy="463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快照 v₀</a:t>
            </a:r>
          </a:p>
        </p:txBody>
      </p:sp>
      <p:sp>
        <p:nvSpPr>
          <p:cNvPr id="8" name="e008_概念 / ISA / adapter">
            <a:extLst xmlns:a="http://schemas.openxmlformats.org/drawingml/2006/main">
              <a:ext uri="{FF2B5EF4-FFF2-40B4-BE49-F238E27FC236}">
                <a16:creationId xmlns:a16="http://schemas.microsoft.com/office/drawing/2014/main" id="{A362E78F-ED3B-4C89-A7E4-D6401FEE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00388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概念 / ISA / adapter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897E4207-852E-4B77-9A99-0BE4F261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150" y="328612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05D61B56-2676-4C65-9635-ED847784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23850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1" name="e011_rect">
            <a:extLst xmlns:a="http://schemas.openxmlformats.org/drawingml/2006/main">
              <a:ext uri="{FF2B5EF4-FFF2-40B4-BE49-F238E27FC236}">
                <a16:creationId xmlns:a16="http://schemas.microsoft.com/office/drawing/2014/main" id="{6D896AF4-2F04-4D5B-B4E1-98E8D674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476500"/>
            <a:ext cx="3454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2" name="e012_候选 v₁">
            <a:extLst xmlns:a="http://schemas.openxmlformats.org/drawingml/2006/main">
              <a:ext uri="{FF2B5EF4-FFF2-40B4-BE49-F238E27FC236}">
                <a16:creationId xmlns:a16="http://schemas.microsoft.com/office/drawing/2014/main" id="{B1301554-2502-4D4F-BCB9-078FC81E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2619375"/>
            <a:ext cx="3168650" cy="463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候选 v₁</a:t>
            </a:r>
          </a:p>
        </p:txBody>
      </p:sp>
      <p:sp>
        <p:nvSpPr>
          <p:cNvPr id="13" name="e013_同一事务边界">
            <a:extLst xmlns:a="http://schemas.openxmlformats.org/drawingml/2006/main">
              <a:ext uri="{FF2B5EF4-FFF2-40B4-BE49-F238E27FC236}">
                <a16:creationId xmlns:a16="http://schemas.microsoft.com/office/drawing/2014/main" id="{56A6E1EB-E639-41D0-A467-02FA0689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3100388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同一事务边界</a:t>
            </a:r>
          </a:p>
        </p:txBody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FD06890F-6D72-441F-86AE-BF11D5B3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350" y="328612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E2D44524-4200-4AB0-BF3A-8ACF60AE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23850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6" name="e016_rect">
            <a:extLst xmlns:a="http://schemas.openxmlformats.org/drawingml/2006/main">
              <a:ext uri="{FF2B5EF4-FFF2-40B4-BE49-F238E27FC236}">
                <a16:creationId xmlns:a16="http://schemas.microsoft.com/office/drawing/2014/main" id="{A0633B53-08A3-4002-AD9B-82B26662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476500"/>
            <a:ext cx="3454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17" name="e017_提交 / 分叉">
            <a:extLst xmlns:a="http://schemas.openxmlformats.org/drawingml/2006/main">
              <a:ext uri="{FF2B5EF4-FFF2-40B4-BE49-F238E27FC236}">
                <a16:creationId xmlns:a16="http://schemas.microsoft.com/office/drawing/2014/main" id="{466BA2EF-811B-4F17-804A-239F5295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2619375"/>
            <a:ext cx="3168650" cy="463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提交 / 分叉</a:t>
            </a:r>
          </a:p>
        </p:txBody>
      </p:sp>
      <p:sp>
        <p:nvSpPr>
          <p:cNvPr id="18" name="e018_保留来源与回滚点">
            <a:extLst xmlns:a="http://schemas.openxmlformats.org/drawingml/2006/main">
              <a:ext uri="{FF2B5EF4-FFF2-40B4-BE49-F238E27FC236}">
                <a16:creationId xmlns:a16="http://schemas.microsoft.com/office/drawing/2014/main" id="{E3DF34CD-BDD1-455A-8A5B-D35782C7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3100388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保留来源与回滚点</a:t>
            </a:r>
          </a:p>
        </p:txBody>
      </p:sp>
      <p:sp>
        <p:nvSpPr>
          <p:cNvPr id="19" name="e019_polyline">
            <a:extLst xmlns:a="http://schemas.openxmlformats.org/drawingml/2006/main">
              <a:ext uri="{FF2B5EF4-FFF2-40B4-BE49-F238E27FC236}">
                <a16:creationId xmlns:a16="http://schemas.microsoft.com/office/drawing/2014/main" id="{DC033A85-FCD7-4FA1-AA90-D8FC06A3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86250"/>
            <a:ext cx="95" cy="714375"/>
          </a:xfrm>
          <a:custGeom xmlns:a="http://schemas.openxmlformats.org/drawingml/2006/main">
            <a:pathLst>
              <a:path w="95" h="714375">
                <a:moveTo>
                  <a:pt x="0" y="0"/>
                </a:moveTo>
                <a:lnTo>
                  <a:pt x="0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0" name="e020_polyline">
            <a:extLst xmlns:a="http://schemas.openxmlformats.org/drawingml/2006/main">
              <a:ext uri="{FF2B5EF4-FFF2-40B4-BE49-F238E27FC236}">
                <a16:creationId xmlns:a16="http://schemas.microsoft.com/office/drawing/2014/main" id="{63A4B3E0-E007-4314-BE93-8A0ED716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00625"/>
            <a:ext cx="7620000" cy="95"/>
          </a:xfrm>
          <a:custGeom xmlns:a="http://schemas.openxmlformats.org/drawingml/2006/main">
            <a:pathLst>
              <a:path w="7620000" h="95">
                <a:moveTo>
                  <a:pt x="76200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1" name="e021_polyline">
            <a:extLst xmlns:a="http://schemas.openxmlformats.org/drawingml/2006/main">
              <a:ext uri="{FF2B5EF4-FFF2-40B4-BE49-F238E27FC236}">
                <a16:creationId xmlns:a16="http://schemas.microsoft.com/office/drawing/2014/main" id="{05FFDD99-74ED-4C1D-9D08-67779F49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530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95250"/>
                </a:moveTo>
                <a:lnTo>
                  <a:pt x="0" y="47625"/>
                </a:ln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2" name="e022_失败时回滚到 v₀">
            <a:extLst xmlns:a="http://schemas.openxmlformats.org/drawingml/2006/main">
              <a:ext uri="{FF2B5EF4-FFF2-40B4-BE49-F238E27FC236}">
                <a16:creationId xmlns:a16="http://schemas.microsoft.com/office/drawing/2014/main" id="{EE7C3B3F-6F4F-4BE2-9EFC-F397A864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43500"/>
            <a:ext cx="4762500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10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10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10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10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10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10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10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10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10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210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失败时回滚到 v₀</a:t>
            </a:r>
          </a:p>
        </p:txBody>
      </p:sp>
      <p:sp>
        <p:nvSpPr>
          <p:cNvPr id="23" name="e023_事务属于既有系统原语；此处研究它如何支撑认知结构演化">
            <a:extLst xmlns:a="http://schemas.openxmlformats.org/drawingml/2006/main">
              <a:ext uri="{FF2B5EF4-FFF2-40B4-BE49-F238E27FC236}">
                <a16:creationId xmlns:a16="http://schemas.microsoft.com/office/drawing/2014/main" id="{8EFAC348-2003-4F0B-8A94-3E803201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事务属于既有系统原语；此处研究它如何支撑认知结构演化</a:t>
            </a:r>
          </a:p>
        </p:txBody>
      </p:sp>
    </p:spTree>
    <p:extLst>
      <p:ext uri="{BB962C8B-B14F-4D97-AF65-F5344CB8AC3E}">
        <p14:creationId xmlns:p14="http://schemas.microsoft.com/office/powerpoint/2010/main" val="166826833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001_C13：可塑性网络">
            <a:extLst xmlns:a="http://schemas.openxmlformats.org/drawingml/2006/main">
              <a:ext uri="{FF2B5EF4-FFF2-40B4-BE49-F238E27FC236}">
                <a16:creationId xmlns:a16="http://schemas.microsoft.com/office/drawing/2014/main" id="{128403F8-0DD2-42BB-AF0F-F7423D8E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C13：可塑性网络</a:t>
            </a:r>
          </a:p>
        </p:txBody>
      </p:sp>
      <p:sp>
        <p:nvSpPr>
          <p:cNvPr id="2" name="e002_行为锚＋方向运输＋更新规则">
            <a:extLst xmlns:a="http://schemas.openxmlformats.org/drawingml/2006/main">
              <a:ext uri="{FF2B5EF4-FFF2-40B4-BE49-F238E27FC236}">
                <a16:creationId xmlns:a16="http://schemas.microsoft.com/office/drawing/2014/main" id="{797EA4B2-6E5C-4F99-8EA3-5D0B7791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行为锚＋方向运输＋更新规则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33B493FA-BF28-4218-B933-EFAF330F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C87118B1-9D64-4801-8225-1716E875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17 / 36">
            <a:extLst xmlns:a="http://schemas.openxmlformats.org/drawingml/2006/main">
              <a:ext uri="{FF2B5EF4-FFF2-40B4-BE49-F238E27FC236}">
                <a16:creationId xmlns:a16="http://schemas.microsoft.com/office/drawing/2014/main" id="{2355D207-EB80-4687-92D2-CBF62F23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17 / 36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77F6191E-3A7A-4602-892A-C0508378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454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7" name="e007_共同有限行为锚">
            <a:extLst xmlns:a="http://schemas.openxmlformats.org/drawingml/2006/main">
              <a:ext uri="{FF2B5EF4-FFF2-40B4-BE49-F238E27FC236}">
                <a16:creationId xmlns:a16="http://schemas.microsoft.com/office/drawing/2014/main" id="{D1E6D083-9B61-4C8C-9A55-B11B7A09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19375"/>
            <a:ext cx="316865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共同有限行为锚</a:t>
            </a:r>
          </a:p>
        </p:txBody>
      </p:sp>
      <p:sp>
        <p:nvSpPr>
          <p:cNvPr id="8" name="e008_规定可比较的变化">
            <a:extLst xmlns:a="http://schemas.openxmlformats.org/drawingml/2006/main">
              <a:ext uri="{FF2B5EF4-FFF2-40B4-BE49-F238E27FC236}">
                <a16:creationId xmlns:a16="http://schemas.microsoft.com/office/drawing/2014/main" id="{C03DA41C-5B2E-4FD5-B25D-4DDBCD41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64669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规定可比较的变化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ACA82DE3-CBCF-48B4-993D-8448A720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150" y="328612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6D420B9F-F1F5-4ECF-9273-E297702D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23850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1" name="e011_rect">
            <a:extLst xmlns:a="http://schemas.openxmlformats.org/drawingml/2006/main">
              <a:ext uri="{FF2B5EF4-FFF2-40B4-BE49-F238E27FC236}">
                <a16:creationId xmlns:a16="http://schemas.microsoft.com/office/drawing/2014/main" id="{8F92E4B4-61CA-4A4F-A0EF-D27563A1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476500"/>
            <a:ext cx="3454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2" name="e012_方向运输 H37">
            <a:extLst xmlns:a="http://schemas.openxmlformats.org/drawingml/2006/main">
              <a:ext uri="{FF2B5EF4-FFF2-40B4-BE49-F238E27FC236}">
                <a16:creationId xmlns:a16="http://schemas.microsoft.com/office/drawing/2014/main" id="{7FBFE947-9765-441D-B42F-DAD7D369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2619375"/>
            <a:ext cx="316865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方向运输 H37</a:t>
            </a:r>
          </a:p>
        </p:txBody>
      </p:sp>
      <p:sp>
        <p:nvSpPr>
          <p:cNvPr id="13" name="e013_可实现部分与残差">
            <a:extLst xmlns:a="http://schemas.openxmlformats.org/drawingml/2006/main">
              <a:ext uri="{FF2B5EF4-FFF2-40B4-BE49-F238E27FC236}">
                <a16:creationId xmlns:a16="http://schemas.microsoft.com/office/drawing/2014/main" id="{44B309C8-7945-4D2F-8E74-3852B97C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3064669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可实现部分与残差</a:t>
            </a:r>
          </a:p>
        </p:txBody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F7D56BB9-326A-4D0C-87DB-E7887819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350" y="328612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CBCF1E3B-F419-439F-9838-17D0D63F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23850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6" name="e016_rect">
            <a:extLst xmlns:a="http://schemas.openxmlformats.org/drawingml/2006/main">
              <a:ext uri="{FF2B5EF4-FFF2-40B4-BE49-F238E27FC236}">
                <a16:creationId xmlns:a16="http://schemas.microsoft.com/office/drawing/2014/main" id="{B5934179-44CE-4A56-87B6-C4B9F579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476500"/>
            <a:ext cx="3454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17" name="e017_规则协议 H38">
            <a:extLst xmlns:a="http://schemas.openxmlformats.org/drawingml/2006/main">
              <a:ext uri="{FF2B5EF4-FFF2-40B4-BE49-F238E27FC236}">
                <a16:creationId xmlns:a16="http://schemas.microsoft.com/office/drawing/2014/main" id="{49ACD8C6-BFCC-4462-8C2B-A638B2B5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2619375"/>
            <a:ext cx="316865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规则协议 H38</a:t>
            </a:r>
          </a:p>
        </p:txBody>
      </p:sp>
      <p:sp>
        <p:nvSpPr>
          <p:cNvPr id="18" name="e018_生成受限局部更新">
            <a:extLst xmlns:a="http://schemas.openxmlformats.org/drawingml/2006/main">
              <a:ext uri="{FF2B5EF4-FFF2-40B4-BE49-F238E27FC236}">
                <a16:creationId xmlns:a16="http://schemas.microsoft.com/office/drawing/2014/main" id="{BBC10C99-0242-4E02-82A6-0DB8F0A3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3064669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生成受限局部更新</a:t>
            </a:r>
          </a:p>
        </p:txBody>
      </p:sp>
      <p:sp>
        <p:nvSpPr>
          <p:cNvPr id="19" name="e019_rect">
            <a:extLst xmlns:a="http://schemas.openxmlformats.org/drawingml/2006/main">
              <a:ext uri="{FF2B5EF4-FFF2-40B4-BE49-F238E27FC236}">
                <a16:creationId xmlns:a16="http://schemas.microsoft.com/office/drawing/2014/main" id="{F9248A1B-F3D5-47BC-BE89-32F61654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C4540"/>
            </a:solidFill>
            <a:prstDash val="dash"/>
          </a:ln>
        </p:spPr>
      </p:sp>
      <p:sp>
        <p:nvSpPr>
          <p:cNvPr id="20" name="e020_研究入口锁定：模型初始化、前向、训练、评测均 NOT_RUN">
            <a:extLst xmlns:a="http://schemas.openxmlformats.org/drawingml/2006/main">
              <a:ext uri="{FF2B5EF4-FFF2-40B4-BE49-F238E27FC236}">
                <a16:creationId xmlns:a16="http://schemas.microsoft.com/office/drawing/2014/main" id="{956E11B3-9262-4378-B829-EFF67BB3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52975"/>
            <a:ext cx="10477500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rPr>
              <a:t>研究入口锁定：模型初始化、前向、训练、评测均 NOT_RUN</a:t>
            </a:r>
          </a:p>
        </p:txBody>
      </p:sp>
      <p:sp>
        <p:nvSpPr>
          <p:cNvPr id="21" name="e021_C13 的远期目标：交流形成能力的方法，而非直接叠加参数">
            <a:extLst xmlns:a="http://schemas.openxmlformats.org/drawingml/2006/main">
              <a:ext uri="{FF2B5EF4-FFF2-40B4-BE49-F238E27FC236}">
                <a16:creationId xmlns:a16="http://schemas.microsoft.com/office/drawing/2014/main" id="{848A047E-3B25-4A5B-96DA-5C6D8592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C13 的远期目标：交流形成能力的方法，而非直接叠加参数</a:t>
            </a:r>
          </a:p>
        </p:txBody>
      </p:sp>
    </p:spTree>
    <p:extLst>
      <p:ext uri="{BB962C8B-B14F-4D97-AF65-F5344CB8AC3E}">
        <p14:creationId xmlns:p14="http://schemas.microsoft.com/office/powerpoint/2010/main" val="18081349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001_第三条主线：共同制造世界">
            <a:extLst xmlns:a="http://schemas.openxmlformats.org/drawingml/2006/main">
              <a:ext uri="{FF2B5EF4-FFF2-40B4-BE49-F238E27FC236}">
                <a16:creationId xmlns:a16="http://schemas.microsoft.com/office/drawing/2014/main" id="{E7010EC8-BD8A-4231-A86C-737757A9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第三条主线：共同制造世界</a:t>
            </a:r>
          </a:p>
        </p:txBody>
      </p:sp>
      <p:sp>
        <p:nvSpPr>
          <p:cNvPr id="2" name="e002_消息可以是一小块可行动的动力学">
            <a:extLst xmlns:a="http://schemas.openxmlformats.org/drawingml/2006/main">
              <a:ext uri="{FF2B5EF4-FFF2-40B4-BE49-F238E27FC236}">
                <a16:creationId xmlns:a16="http://schemas.microsoft.com/office/drawing/2014/main" id="{4009DADE-A45C-42B0-8A0C-0C55FB94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消息可以是一小块可行动的动力学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02845EF4-F6A4-420A-AAC1-0B1860A3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0E7D6000-3FE7-4EB8-8558-53FD3479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18 / 36">
            <a:extLst xmlns:a="http://schemas.openxmlformats.org/drawingml/2006/main">
              <a:ext uri="{FF2B5EF4-FFF2-40B4-BE49-F238E27FC236}">
                <a16:creationId xmlns:a16="http://schemas.microsoft.com/office/drawing/2014/main" id="{FBCBF731-C55E-45A1-8950-6C89D727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18 / 36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64E8373E-F047-4FA7-8C3F-13C4553C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4544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7" name="e007_局部核 A">
            <a:extLst xmlns:a="http://schemas.openxmlformats.org/drawingml/2006/main">
              <a:ext uri="{FF2B5EF4-FFF2-40B4-BE49-F238E27FC236}">
                <a16:creationId xmlns:a16="http://schemas.microsoft.com/office/drawing/2014/main" id="{DD2363C2-B41E-40ED-9E40-E68D90A5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14625"/>
            <a:ext cx="316865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局部核 A</a:t>
            </a:r>
          </a:p>
        </p:txBody>
      </p:sp>
      <p:sp>
        <p:nvSpPr>
          <p:cNvPr id="8" name="e008_状态、动作与转移">
            <a:extLst xmlns:a="http://schemas.openxmlformats.org/drawingml/2006/main">
              <a:ext uri="{FF2B5EF4-FFF2-40B4-BE49-F238E27FC236}">
                <a16:creationId xmlns:a16="http://schemas.microsoft.com/office/drawing/2014/main" id="{80BEF3C6-7FA7-4890-AEEC-346F6A95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83731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状态、动作与转移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2B207831-74BF-48FB-BCB8-71272A75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150" y="3405188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41B53A54-E397-489E-BBBD-5E8FA1A9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357563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1" name="e011_rect">
            <a:extLst xmlns:a="http://schemas.openxmlformats.org/drawingml/2006/main">
              <a:ext uri="{FF2B5EF4-FFF2-40B4-BE49-F238E27FC236}">
                <a16:creationId xmlns:a16="http://schemas.microsoft.com/office/drawing/2014/main" id="{626A450F-D10A-4843-8DB0-FDDCAC7A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571750"/>
            <a:ext cx="34544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12" name="e012_局部核 B">
            <a:extLst xmlns:a="http://schemas.openxmlformats.org/drawingml/2006/main">
              <a:ext uri="{FF2B5EF4-FFF2-40B4-BE49-F238E27FC236}">
                <a16:creationId xmlns:a16="http://schemas.microsoft.com/office/drawing/2014/main" id="{F54BA04B-3090-4B2C-A6FE-83C005E8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2714625"/>
            <a:ext cx="316865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局部核 B</a:t>
            </a:r>
          </a:p>
        </p:txBody>
      </p:sp>
      <p:sp>
        <p:nvSpPr>
          <p:cNvPr id="13" name="e013_观测与依赖语义">
            <a:extLst xmlns:a="http://schemas.openxmlformats.org/drawingml/2006/main">
              <a:ext uri="{FF2B5EF4-FFF2-40B4-BE49-F238E27FC236}">
                <a16:creationId xmlns:a16="http://schemas.microsoft.com/office/drawing/2014/main" id="{9C98AB3C-446D-4FB9-A42D-2BFAFEAD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3183731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观测与依赖语义</a:t>
            </a:r>
          </a:p>
        </p:txBody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734B4822-4607-48CC-B9BC-A8A9BFF3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350" y="3405188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A0C3D3C8-CB09-4F19-B457-B7F1AE27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357563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6" name="e016_rect">
            <a:extLst xmlns:a="http://schemas.openxmlformats.org/drawingml/2006/main">
              <a:ext uri="{FF2B5EF4-FFF2-40B4-BE49-F238E27FC236}">
                <a16:creationId xmlns:a16="http://schemas.microsoft.com/office/drawing/2014/main" id="{1F749FAD-0C11-4547-B291-AA087858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571750"/>
            <a:ext cx="34544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9E1EC"/>
          </a:solidFill>
          <a:ln xmlns:a="http://schemas.openxmlformats.org/drawingml/2006/main" w="19050">
            <a:solidFill>
              <a:srgbClr val="725D7C"/>
            </a:solidFill>
            <a:prstDash val="solid"/>
          </a:ln>
        </p:spPr>
      </p:sp>
      <p:sp>
        <p:nvSpPr>
          <p:cNvPr id="17" name="e017_可行动的新世界">
            <a:extLst xmlns:a="http://schemas.openxmlformats.org/drawingml/2006/main">
              <a:ext uri="{FF2B5EF4-FFF2-40B4-BE49-F238E27FC236}">
                <a16:creationId xmlns:a16="http://schemas.microsoft.com/office/drawing/2014/main" id="{FAAEA820-4586-4DB3-BDD9-1EB9AD20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2714625"/>
            <a:ext cx="316865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可行动的新世界</a:t>
            </a:r>
          </a:p>
        </p:txBody>
      </p:sp>
      <p:sp>
        <p:nvSpPr>
          <p:cNvPr id="18" name="e018_synthetic，保留谱系">
            <a:extLst xmlns:a="http://schemas.openxmlformats.org/drawingml/2006/main">
              <a:ext uri="{FF2B5EF4-FFF2-40B4-BE49-F238E27FC236}">
                <a16:creationId xmlns:a16="http://schemas.microsoft.com/office/drawing/2014/main" id="{1F74FB86-CC55-47FB-906E-3450F319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3183731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synthetic，保留谱系</a:t>
            </a:r>
          </a:p>
        </p:txBody>
      </p:sp>
      <p:sp>
        <p:nvSpPr>
          <p:cNvPr id="19" name="e019_消息的对象：一小块可执行动力学">
            <a:extLst xmlns:a="http://schemas.openxmlformats.org/drawingml/2006/main">
              <a:ext uri="{FF2B5EF4-FFF2-40B4-BE49-F238E27FC236}">
                <a16:creationId xmlns:a16="http://schemas.microsoft.com/office/drawing/2014/main" id="{B671BD35-58EB-4CFB-8C66-F64C82B6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476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6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6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6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6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6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6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6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6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6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6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消息的对象：一小块可执行动力学</a:t>
            </a:r>
          </a:p>
        </p:txBody>
      </p:sp>
      <p:sp>
        <p:nvSpPr>
          <p:cNvPr id="20" name="e020_合成世界能提出新问题，不能自行制造现实证据">
            <a:extLst xmlns:a="http://schemas.openxmlformats.org/drawingml/2006/main">
              <a:ext uri="{FF2B5EF4-FFF2-40B4-BE49-F238E27FC236}">
                <a16:creationId xmlns:a16="http://schemas.microsoft.com/office/drawing/2014/main" id="{956DD589-65AF-4BD0-BC92-524F962E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合成世界能提出新问题，不能自行制造现实证据</a:t>
            </a:r>
          </a:p>
        </p:txBody>
      </p:sp>
    </p:spTree>
    <p:extLst>
      <p:ext uri="{BB962C8B-B14F-4D97-AF65-F5344CB8AC3E}">
        <p14:creationId xmlns:p14="http://schemas.microsoft.com/office/powerpoint/2010/main" val="13166337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001_H31：因果模块不是参数碎片">
            <a:extLst xmlns:a="http://schemas.openxmlformats.org/drawingml/2006/main">
              <a:ext uri="{FF2B5EF4-FFF2-40B4-BE49-F238E27FC236}">
                <a16:creationId xmlns:a16="http://schemas.microsoft.com/office/drawing/2014/main" id="{FF6F0E9D-8F75-4141-B1DD-7D4BA604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H31：因果模块不是参数碎片</a:t>
            </a:r>
          </a:p>
        </p:txBody>
      </p:sp>
      <p:sp>
        <p:nvSpPr>
          <p:cNvPr id="2" name="e002_接口、单位、噪声和干预共同移植">
            <a:extLst xmlns:a="http://schemas.openxmlformats.org/drawingml/2006/main">
              <a:ext uri="{FF2B5EF4-FFF2-40B4-BE49-F238E27FC236}">
                <a16:creationId xmlns:a16="http://schemas.microsoft.com/office/drawing/2014/main" id="{F7579BAF-1A6D-4ABF-9F06-C82B21DC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接口、单位、噪声和干预共同移植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5AE69F28-6358-4EA0-A430-73375ACC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解析示意 / 数学示意 · 无模型实测">
            <a:extLst xmlns:a="http://schemas.openxmlformats.org/drawingml/2006/main">
              <a:ext uri="{FF2B5EF4-FFF2-40B4-BE49-F238E27FC236}">
                <a16:creationId xmlns:a16="http://schemas.microsoft.com/office/drawing/2014/main" id="{BEF44FD4-0B67-4FF9-93EB-ACEE4354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解析示意 / 数学示意 · 无模型实测</a:t>
            </a:r>
          </a:p>
        </p:txBody>
      </p:sp>
      <p:sp>
        <p:nvSpPr>
          <p:cNvPr id="5" name="e005_19 / 36">
            <a:extLst xmlns:a="http://schemas.openxmlformats.org/drawingml/2006/main">
              <a:ext uri="{FF2B5EF4-FFF2-40B4-BE49-F238E27FC236}">
                <a16:creationId xmlns:a16="http://schemas.microsoft.com/office/drawing/2014/main" id="{C97063B2-662E-46DD-A04F-EE289A1F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19 / 36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8C289717-5E4B-46E8-9298-CECAC3AA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454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7" name="e007_输入 x">
            <a:extLst xmlns:a="http://schemas.openxmlformats.org/drawingml/2006/main">
              <a:ext uri="{FF2B5EF4-FFF2-40B4-BE49-F238E27FC236}">
                <a16:creationId xmlns:a16="http://schemas.microsoft.com/office/drawing/2014/main" id="{8B08C407-0C09-4DA7-9B11-49EA3B1F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09875"/>
            <a:ext cx="3168650" cy="476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6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6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6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6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6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6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6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6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6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6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输入 x</a:t>
            </a:r>
          </a:p>
        </p:txBody>
      </p:sp>
      <p:sp>
        <p:nvSpPr>
          <p:cNvPr id="8" name="e008_共同单位与干预域">
            <a:extLst xmlns:a="http://schemas.openxmlformats.org/drawingml/2006/main">
              <a:ext uri="{FF2B5EF4-FFF2-40B4-BE49-F238E27FC236}">
                <a16:creationId xmlns:a16="http://schemas.microsoft.com/office/drawing/2014/main" id="{24591CA7-28B9-471B-825E-FC5176CB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02794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共同单位与干预域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F1AD0282-6773-4965-91AB-301AEADA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150" y="347662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11B26AFB-3E25-49A9-BDBF-D546CC84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42900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1" name="e011_rect">
            <a:extLst xmlns:a="http://schemas.openxmlformats.org/drawingml/2006/main">
              <a:ext uri="{FF2B5EF4-FFF2-40B4-BE49-F238E27FC236}">
                <a16:creationId xmlns:a16="http://schemas.microsoft.com/office/drawing/2014/main" id="{B013DA70-7248-400E-86C5-B1D1EA71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667000"/>
            <a:ext cx="3454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2" name="e012_模块 A">
            <a:extLst xmlns:a="http://schemas.openxmlformats.org/drawingml/2006/main">
              <a:ext uri="{FF2B5EF4-FFF2-40B4-BE49-F238E27FC236}">
                <a16:creationId xmlns:a16="http://schemas.microsoft.com/office/drawing/2014/main" id="{3F8CF71E-28E9-481E-A0EB-06CA2DB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2809875"/>
            <a:ext cx="3168650" cy="476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6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6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6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6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6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6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6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6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6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6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模块 A</a:t>
            </a:r>
          </a:p>
        </p:txBody>
      </p:sp>
      <p:sp>
        <p:nvSpPr>
          <p:cNvPr id="13" name="e013_y = 2x">
            <a:extLst xmlns:a="http://schemas.openxmlformats.org/drawingml/2006/main">
              <a:ext uri="{FF2B5EF4-FFF2-40B4-BE49-F238E27FC236}">
                <a16:creationId xmlns:a16="http://schemas.microsoft.com/office/drawing/2014/main" id="{9FBF3E14-7A08-4919-895E-9E3A4B10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3302794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y = 2x</a:t>
            </a:r>
          </a:p>
        </p:txBody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D5F8C6F7-A473-440F-8035-C147796C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350" y="347662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EE679245-3389-46D2-8D81-E7A1DEF0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42900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6" name="e016_rect">
            <a:extLst xmlns:a="http://schemas.openxmlformats.org/drawingml/2006/main">
              <a:ext uri="{FF2B5EF4-FFF2-40B4-BE49-F238E27FC236}">
                <a16:creationId xmlns:a16="http://schemas.microsoft.com/office/drawing/2014/main" id="{032327D2-D3A7-417C-B541-028328C6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67000"/>
            <a:ext cx="3454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17" name="e017_模块 B">
            <a:extLst xmlns:a="http://schemas.openxmlformats.org/drawingml/2006/main">
              <a:ext uri="{FF2B5EF4-FFF2-40B4-BE49-F238E27FC236}">
                <a16:creationId xmlns:a16="http://schemas.microsoft.com/office/drawing/2014/main" id="{287B4A82-302C-4E2A-B34D-26452452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2809875"/>
            <a:ext cx="3168650" cy="476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6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6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6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6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6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6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6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6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6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6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模块 B</a:t>
            </a:r>
          </a:p>
        </p:txBody>
      </p:sp>
      <p:sp>
        <p:nvSpPr>
          <p:cNvPr id="18" name="e018_z = y + 1">
            <a:extLst xmlns:a="http://schemas.openxmlformats.org/drawingml/2006/main">
              <a:ext uri="{FF2B5EF4-FFF2-40B4-BE49-F238E27FC236}">
                <a16:creationId xmlns:a16="http://schemas.microsoft.com/office/drawing/2014/main" id="{4EB9CFDC-6B41-4D69-8046-01D7AD15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3302794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z = y + 1</a:t>
            </a:r>
          </a:p>
        </p:txBody>
      </p:sp>
      <p:sp>
        <p:nvSpPr>
          <p:cNvPr id="19" name="e019_接口契约：变量 / 单位 / 噪声 / 干预">
            <a:extLst xmlns:a="http://schemas.openxmlformats.org/drawingml/2006/main">
              <a:ext uri="{FF2B5EF4-FFF2-40B4-BE49-F238E27FC236}">
                <a16:creationId xmlns:a16="http://schemas.microsoft.com/office/drawing/2014/main" id="{C982622D-AFC8-41A4-85CD-8E253E9A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接口契约：变量 / 单位 / 噪声 / 干预</a:t>
            </a:r>
          </a:p>
        </p:txBody>
      </p:sp>
      <p:sp>
        <p:nvSpPr>
          <p:cNvPr id="20" name="e020_维数一致不足以构成合法因果移植">
            <a:extLst xmlns:a="http://schemas.openxmlformats.org/drawingml/2006/main">
              <a:ext uri="{FF2B5EF4-FFF2-40B4-BE49-F238E27FC236}">
                <a16:creationId xmlns:a16="http://schemas.microsoft.com/office/drawing/2014/main" id="{7FE80855-994D-41BE-B6B3-1B9FC946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维数一致不足以构成合法因果移植</a:t>
            </a:r>
          </a:p>
        </p:txBody>
      </p:sp>
    </p:spTree>
    <p:extLst>
      <p:ext uri="{BB962C8B-B14F-4D97-AF65-F5344CB8AC3E}">
        <p14:creationId xmlns:p14="http://schemas.microsoft.com/office/powerpoint/2010/main" val="74668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001_H43：世界核带着依赖一起传">
            <a:extLst xmlns:a="http://schemas.openxmlformats.org/drawingml/2006/main">
              <a:ext uri="{FF2B5EF4-FFF2-40B4-BE49-F238E27FC236}">
                <a16:creationId xmlns:a16="http://schemas.microsoft.com/office/drawing/2014/main" id="{00F7B681-A6B1-4EF4-AF30-986CB326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H43：世界核带着依赖一起传</a:t>
            </a:r>
          </a:p>
        </p:txBody>
      </p:sp>
      <p:sp>
        <p:nvSpPr>
          <p:cNvPr id="2" name="e002_不能默认各模块噪声独立">
            <a:extLst xmlns:a="http://schemas.openxmlformats.org/drawingml/2006/main">
              <a:ext uri="{FF2B5EF4-FFF2-40B4-BE49-F238E27FC236}">
                <a16:creationId xmlns:a16="http://schemas.microsoft.com/office/drawing/2014/main" id="{680E04A9-8385-4E28-B018-58FFEFAC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不能默认各模块噪声独立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F06CDFCE-03B0-41AE-98FC-D3484EA6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解析示意 / 数学示意 · 无模型实测">
            <a:extLst xmlns:a="http://schemas.openxmlformats.org/drawingml/2006/main">
              <a:ext uri="{FF2B5EF4-FFF2-40B4-BE49-F238E27FC236}">
                <a16:creationId xmlns:a16="http://schemas.microsoft.com/office/drawing/2014/main" id="{7620280D-8A52-4B1C-A687-C2C54C20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解析示意 / 数学示意 · 无模型实测</a:t>
            </a:r>
          </a:p>
        </p:txBody>
      </p:sp>
      <p:sp>
        <p:nvSpPr>
          <p:cNvPr id="5" name="e005_20 / 36">
            <a:extLst xmlns:a="http://schemas.openxmlformats.org/drawingml/2006/main">
              <a:ext uri="{FF2B5EF4-FFF2-40B4-BE49-F238E27FC236}">
                <a16:creationId xmlns:a16="http://schemas.microsoft.com/office/drawing/2014/main" id="{CF01A721-B295-4124-8D64-586F3AC6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20 / 36</a:t>
            </a:r>
          </a:p>
        </p:txBody>
      </p:sp>
      <p:sp>
        <p:nvSpPr>
          <p:cNvPr id="6" name="e006_共享同一 u">
            <a:extLst xmlns:a="http://schemas.openxmlformats.org/drawingml/2006/main">
              <a:ext uri="{FF2B5EF4-FFF2-40B4-BE49-F238E27FC236}">
                <a16:creationId xmlns:a16="http://schemas.microsoft.com/office/drawing/2014/main" id="{F72D529B-6B31-4560-944F-8780F4C9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9530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共享同一 u</a:t>
            </a:r>
          </a:p>
        </p:txBody>
      </p:sp>
      <p:sp>
        <p:nvSpPr>
          <p:cNvPr id="7" name="e007_ellipse">
            <a:extLst xmlns:a="http://schemas.openxmlformats.org/drawingml/2006/main">
              <a:ext uri="{FF2B5EF4-FFF2-40B4-BE49-F238E27FC236}">
                <a16:creationId xmlns:a16="http://schemas.microsoft.com/office/drawing/2014/main" id="{D7020180-158D-4B2C-9A25-F09D0D5E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57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8" name="e008_u">
            <a:extLst xmlns:a="http://schemas.openxmlformats.org/drawingml/2006/main">
              <a:ext uri="{FF2B5EF4-FFF2-40B4-BE49-F238E27FC236}">
                <a16:creationId xmlns:a16="http://schemas.microsoft.com/office/drawing/2014/main" id="{8E429D20-320B-49C1-9CBD-F3D242D0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24125"/>
            <a:ext cx="571500" cy="435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u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9C74C87B-D7BB-4288-A52A-51ADC0C3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19425"/>
            <a:ext cx="1000125" cy="695325"/>
          </a:xfrm>
          <a:custGeom xmlns:a="http://schemas.openxmlformats.org/drawingml/2006/main">
            <a:pathLst>
              <a:path w="1000125" h="695325">
                <a:moveTo>
                  <a:pt x="1000125" y="0"/>
                </a:moveTo>
                <a:lnTo>
                  <a:pt x="0" y="6953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74403630-35FE-40A2-9270-8F7880DD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10400"/>
            <a:ext cx="121034" cy="104350"/>
          </a:xfrm>
          <a:custGeom xmlns:a="http://schemas.openxmlformats.org/drawingml/2006/main">
            <a:pathLst>
              <a:path w="121034" h="104350">
                <a:moveTo>
                  <a:pt x="121034" y="78206"/>
                </a:moveTo>
                <a:lnTo>
                  <a:pt x="0" y="104350"/>
                </a:lnTo>
                <a:lnTo>
                  <a:pt x="666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11" name="e011_polyline">
            <a:extLst xmlns:a="http://schemas.openxmlformats.org/drawingml/2006/main">
              <a:ext uri="{FF2B5EF4-FFF2-40B4-BE49-F238E27FC236}">
                <a16:creationId xmlns:a16="http://schemas.microsoft.com/office/drawing/2014/main" id="{7335DFE9-71AB-4058-8DC8-1D97ED95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19425"/>
            <a:ext cx="1143000" cy="695325"/>
          </a:xfrm>
          <a:custGeom xmlns:a="http://schemas.openxmlformats.org/drawingml/2006/main">
            <a:pathLst>
              <a:path w="1143000" h="695325">
                <a:moveTo>
                  <a:pt x="0" y="0"/>
                </a:moveTo>
                <a:lnTo>
                  <a:pt x="1143000" y="6953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12" name="e012_polyline">
            <a:extLst xmlns:a="http://schemas.openxmlformats.org/drawingml/2006/main">
              <a:ext uri="{FF2B5EF4-FFF2-40B4-BE49-F238E27FC236}">
                <a16:creationId xmlns:a16="http://schemas.microsoft.com/office/drawing/2014/main" id="{900ADF51-B798-4CF3-A25D-806159A7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1473" y="3614658"/>
            <a:ext cx="122402" cy="100092"/>
          </a:xfrm>
          <a:custGeom xmlns:a="http://schemas.openxmlformats.org/drawingml/2006/main">
            <a:pathLst>
              <a:path w="122402" h="100092">
                <a:moveTo>
                  <a:pt x="49503" y="0"/>
                </a:moveTo>
                <a:lnTo>
                  <a:pt x="122402" y="100092"/>
                </a:lnTo>
                <a:lnTo>
                  <a:pt x="0" y="8137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13" name="e013_x′ = u">
            <a:extLst xmlns:a="http://schemas.openxmlformats.org/drawingml/2006/main">
              <a:ext uri="{FF2B5EF4-FFF2-40B4-BE49-F238E27FC236}">
                <a16:creationId xmlns:a16="http://schemas.microsoft.com/office/drawing/2014/main" id="{781CC672-4052-456E-A064-4ABA575C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52875"/>
            <a:ext cx="2095500" cy="463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5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x′ = u</a:t>
            </a:r>
          </a:p>
        </p:txBody>
      </p:sp>
      <p:sp>
        <p:nvSpPr>
          <p:cNvPr id="14" name="e014_y′ = u">
            <a:extLst xmlns:a="http://schemas.openxmlformats.org/drawingml/2006/main">
              <a:ext uri="{FF2B5EF4-FFF2-40B4-BE49-F238E27FC236}">
                <a16:creationId xmlns:a16="http://schemas.microsoft.com/office/drawing/2014/main" id="{7210B8F4-AAF1-4228-85BF-F7212B3F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952875"/>
            <a:ext cx="2095500" cy="463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5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y′ = u</a:t>
            </a:r>
          </a:p>
        </p:txBody>
      </p:sp>
      <p:sp>
        <p:nvSpPr>
          <p:cNvPr id="15" name="e015_公平比特：P(x′ = y′) = 1">
            <a:extLst xmlns:a="http://schemas.openxmlformats.org/drawingml/2006/main">
              <a:ext uri="{FF2B5EF4-FFF2-40B4-BE49-F238E27FC236}">
                <a16:creationId xmlns:a16="http://schemas.microsoft.com/office/drawing/2014/main" id="{B3E62211-16A4-4521-A57B-399C5981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公平比特：P(x′ = y′) = 1</a:t>
            </a:r>
          </a:p>
        </p:txBody>
      </p:sp>
      <p:sp>
        <p:nvSpPr>
          <p:cNvPr id="16" name="e016_polyline">
            <a:extLst xmlns:a="http://schemas.openxmlformats.org/drawingml/2006/main">
              <a:ext uri="{FF2B5EF4-FFF2-40B4-BE49-F238E27FC236}">
                <a16:creationId xmlns:a16="http://schemas.microsoft.com/office/drawing/2014/main" id="{E5D70D14-6C7D-4789-AD82-5174A43C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95" cy="3095625"/>
          </a:xfrm>
          <a:custGeom xmlns:a="http://schemas.openxmlformats.org/drawingml/2006/main">
            <a:pathLst>
              <a:path w="95" h="3095625">
                <a:moveTo>
                  <a:pt x="0" y="0"/>
                </a:moveTo>
                <a:lnTo>
                  <a:pt x="0" y="3095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ECDBF"/>
            </a:solidFill>
            <a:prstDash val="solid"/>
          </a:ln>
        </p:spPr>
      </p:sp>
      <p:sp>
        <p:nvSpPr>
          <p:cNvPr id="17" name="e017_错误拆成独立噪声">
            <a:extLst xmlns:a="http://schemas.openxmlformats.org/drawingml/2006/main">
              <a:ext uri="{FF2B5EF4-FFF2-40B4-BE49-F238E27FC236}">
                <a16:creationId xmlns:a16="http://schemas.microsoft.com/office/drawing/2014/main" id="{2DC7A84D-1307-4E2B-AB45-7E34FC8D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481965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rPr>
              <a:t>错误拆成独立噪声</a:t>
            </a:r>
          </a:p>
        </p:txBody>
      </p:sp>
      <p:sp>
        <p:nvSpPr>
          <p:cNvPr id="18" name="e018_x′ = u₁       y′ = u₂">
            <a:extLst xmlns:a="http://schemas.openxmlformats.org/drawingml/2006/main">
              <a:ext uri="{FF2B5EF4-FFF2-40B4-BE49-F238E27FC236}">
                <a16:creationId xmlns:a16="http://schemas.microsoft.com/office/drawing/2014/main" id="{698686FD-43B0-4707-A2A6-7FCCFD34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819650" cy="476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6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6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6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6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6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6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6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6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6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6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x′ = u₁       y′ = u₂</a:t>
            </a:r>
          </a:p>
        </p:txBody>
      </p:sp>
      <p:sp>
        <p:nvSpPr>
          <p:cNvPr id="19" name="e019_P(x′ = y′) = 1/2">
            <a:extLst xmlns:a="http://schemas.openxmlformats.org/drawingml/2006/main">
              <a:ext uri="{FF2B5EF4-FFF2-40B4-BE49-F238E27FC236}">
                <a16:creationId xmlns:a16="http://schemas.microsoft.com/office/drawing/2014/main" id="{42DB8A87-B0DA-4F7F-8741-DE7EA26E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0000"/>
            <a:ext cx="4819650" cy="476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62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62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62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62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62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62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62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62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62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62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rPr>
              <a:t>P(x′ = y′) = 1/2</a:t>
            </a:r>
          </a:p>
        </p:txBody>
      </p:sp>
      <p:sp>
        <p:nvSpPr>
          <p:cNvPr id="20" name="e020_这是另一个联合世界">
            <a:extLst xmlns:a="http://schemas.openxmlformats.org/drawingml/2006/main">
              <a:ext uri="{FF2B5EF4-FFF2-40B4-BE49-F238E27FC236}">
                <a16:creationId xmlns:a16="http://schemas.microsoft.com/office/drawing/2014/main" id="{E07B13A5-1DC2-4052-86AB-0656A493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4819650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rPr>
              <a:t>这是另一个联合世界</a:t>
            </a:r>
          </a:p>
        </p:txBody>
      </p:sp>
      <p:sp>
        <p:nvSpPr>
          <p:cNvPr id="21" name="e021_共享依赖属于可观察语义，不能仅作为附属 metadata">
            <a:extLst xmlns:a="http://schemas.openxmlformats.org/drawingml/2006/main">
              <a:ext uri="{FF2B5EF4-FFF2-40B4-BE49-F238E27FC236}">
                <a16:creationId xmlns:a16="http://schemas.microsoft.com/office/drawing/2014/main" id="{9F20ACC3-15F4-4E77-A699-6F961E11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共享依赖属于可观察语义，不能仅作为附属 metadata</a:t>
            </a:r>
          </a:p>
        </p:txBody>
      </p:sp>
    </p:spTree>
    <p:extLst>
      <p:ext uri="{BB962C8B-B14F-4D97-AF65-F5344CB8AC3E}">
        <p14:creationId xmlns:p14="http://schemas.microsoft.com/office/powerpoint/2010/main" val="15590280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001_H44：梦境是新经验空间">
            <a:extLst xmlns:a="http://schemas.openxmlformats.org/drawingml/2006/main">
              <a:ext uri="{FF2B5EF4-FFF2-40B4-BE49-F238E27FC236}">
                <a16:creationId xmlns:a16="http://schemas.microsoft.com/office/drawing/2014/main" id="{D8094316-CBC3-4054-9E05-1A7A3C27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H44：梦境是新经验空间</a:t>
            </a:r>
          </a:p>
        </p:txBody>
      </p:sp>
      <p:sp>
        <p:nvSpPr>
          <p:cNvPr id="2" name="e002_组合世界能够提出之前没有的问题">
            <a:extLst xmlns:a="http://schemas.openxmlformats.org/drawingml/2006/main">
              <a:ext uri="{FF2B5EF4-FFF2-40B4-BE49-F238E27FC236}">
                <a16:creationId xmlns:a16="http://schemas.microsoft.com/office/drawing/2014/main" id="{D59299E5-0457-4B8D-B121-6FF5A1C9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组合世界能够提出之前没有的问题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13B10219-AA02-49D8-97A6-F3821249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7580A04E-45CB-49ED-B65E-A7646A6D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21 / 36">
            <a:extLst xmlns:a="http://schemas.openxmlformats.org/drawingml/2006/main">
              <a:ext uri="{FF2B5EF4-FFF2-40B4-BE49-F238E27FC236}">
                <a16:creationId xmlns:a16="http://schemas.microsoft.com/office/drawing/2014/main" id="{74ED88B6-ACBA-4A10-BAD8-211BD86E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21 / 36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4FB70A0E-5D2D-4406-97FD-B13B27DC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454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1EC"/>
          </a:solidFill>
          <a:ln xmlns:a="http://schemas.openxmlformats.org/drawingml/2006/main" w="19050">
            <a:solidFill>
              <a:srgbClr val="725D7C"/>
            </a:solidFill>
            <a:prstDash val="solid"/>
          </a:ln>
        </p:spPr>
      </p:sp>
      <p:sp>
        <p:nvSpPr>
          <p:cNvPr id="7" name="e007_synthetic 世界">
            <a:extLst xmlns:a="http://schemas.openxmlformats.org/drawingml/2006/main">
              <a:ext uri="{FF2B5EF4-FFF2-40B4-BE49-F238E27FC236}">
                <a16:creationId xmlns:a16="http://schemas.microsoft.com/office/drawing/2014/main" id="{7FC08CD4-99B3-486E-8D6E-880C7EF4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19375"/>
            <a:ext cx="3168650" cy="463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synthetic 世界</a:t>
            </a:r>
          </a:p>
        </p:txBody>
      </p:sp>
      <p:sp>
        <p:nvSpPr>
          <p:cNvPr id="8" name="e008_可执行转移核">
            <a:extLst xmlns:a="http://schemas.openxmlformats.org/drawingml/2006/main">
              <a:ext uri="{FF2B5EF4-FFF2-40B4-BE49-F238E27FC236}">
                <a16:creationId xmlns:a16="http://schemas.microsoft.com/office/drawing/2014/main" id="{D34286FC-AF8A-4799-9791-5B0758F0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00388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可执行转移核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556FB7A5-AFBF-4A7E-9788-CE0B7C98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150" y="328612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EDD9B0F5-BD7C-4848-9DA3-09F46E5C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23850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1" name="e011_rect">
            <a:extLst xmlns:a="http://schemas.openxmlformats.org/drawingml/2006/main">
              <a:ext uri="{FF2B5EF4-FFF2-40B4-BE49-F238E27FC236}">
                <a16:creationId xmlns:a16="http://schemas.microsoft.com/office/drawing/2014/main" id="{ECAFE98E-8482-418C-B3C4-999B0352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476500"/>
            <a:ext cx="3454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12" name="e012_可行动轨迹">
            <a:extLst xmlns:a="http://schemas.openxmlformats.org/drawingml/2006/main">
              <a:ext uri="{FF2B5EF4-FFF2-40B4-BE49-F238E27FC236}">
                <a16:creationId xmlns:a16="http://schemas.microsoft.com/office/drawing/2014/main" id="{6756E798-1E67-41AF-9200-6B6259E0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2619375"/>
            <a:ext cx="3168650" cy="463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可行动轨迹</a:t>
            </a:r>
          </a:p>
        </p:txBody>
      </p:sp>
      <p:sp>
        <p:nvSpPr>
          <p:cNvPr id="13" name="e013_生成来源可追溯">
            <a:extLst xmlns:a="http://schemas.openxmlformats.org/drawingml/2006/main">
              <a:ext uri="{FF2B5EF4-FFF2-40B4-BE49-F238E27FC236}">
                <a16:creationId xmlns:a16="http://schemas.microsoft.com/office/drawing/2014/main" id="{EE07A94B-6207-43C6-95B0-C9BB5767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3100388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生成来源可追溯</a:t>
            </a:r>
          </a:p>
        </p:txBody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AD8ED73A-A144-4054-8454-3EDC15AB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350" y="328612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6A130563-F0BA-4036-96EA-6FA7BA5D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23850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6" name="e016_rect">
            <a:extLst xmlns:a="http://schemas.openxmlformats.org/drawingml/2006/main">
              <a:ext uri="{FF2B5EF4-FFF2-40B4-BE49-F238E27FC236}">
                <a16:creationId xmlns:a16="http://schemas.microsoft.com/office/drawing/2014/main" id="{78F66382-B68A-44E5-9E27-A854FC0E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476500"/>
            <a:ext cx="3454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7" name="e017_新问题">
            <a:extLst xmlns:a="http://schemas.openxmlformats.org/drawingml/2006/main">
              <a:ext uri="{FF2B5EF4-FFF2-40B4-BE49-F238E27FC236}">
                <a16:creationId xmlns:a16="http://schemas.microsoft.com/office/drawing/2014/main" id="{15D4E35A-057D-4518-BB1B-CF51852D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2619375"/>
            <a:ext cx="3168650" cy="463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新问题</a:t>
            </a:r>
          </a:p>
        </p:txBody>
      </p:sp>
      <p:sp>
        <p:nvSpPr>
          <p:cNvPr id="18" name="e018_在世界内探索">
            <a:extLst xmlns:a="http://schemas.openxmlformats.org/drawingml/2006/main">
              <a:ext uri="{FF2B5EF4-FFF2-40B4-BE49-F238E27FC236}">
                <a16:creationId xmlns:a16="http://schemas.microsoft.com/office/drawing/2014/main" id="{830093B2-4BC3-4F6E-8C6F-FBEFFB7B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3100388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在世界内探索</a:t>
            </a:r>
          </a:p>
        </p:txBody>
      </p:sp>
      <p:sp>
        <p:nvSpPr>
          <p:cNvPr id="19" name="e019_rect">
            <a:extLst xmlns:a="http://schemas.openxmlformats.org/drawingml/2006/main">
              <a:ext uri="{FF2B5EF4-FFF2-40B4-BE49-F238E27FC236}">
                <a16:creationId xmlns:a16="http://schemas.microsoft.com/office/drawing/2014/main" id="{55679512-938F-450F-A50E-98308D19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dash"/>
          </a:ln>
        </p:spPr>
      </p:sp>
      <p:sp>
        <p:nvSpPr>
          <p:cNvPr id="20" name="e020_现实证据另行取证；合成观察不作为独立现实支持">
            <a:extLst xmlns:a="http://schemas.openxmlformats.org/drawingml/2006/main">
              <a:ext uri="{FF2B5EF4-FFF2-40B4-BE49-F238E27FC236}">
                <a16:creationId xmlns:a16="http://schemas.microsoft.com/office/drawing/2014/main" id="{A14E0DB7-CFD6-458D-9760-19DC297B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0477500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rPr>
              <a:t>现实证据另行取证；合成观察不作为独立现实支持</a:t>
            </a:r>
          </a:p>
        </p:txBody>
      </p:sp>
      <p:sp>
        <p:nvSpPr>
          <p:cNvPr id="21" name="e021_可生成经验空间，不等于可以宣告现实世界也如此">
            <a:extLst xmlns:a="http://schemas.openxmlformats.org/drawingml/2006/main">
              <a:ext uri="{FF2B5EF4-FFF2-40B4-BE49-F238E27FC236}">
                <a16:creationId xmlns:a16="http://schemas.microsoft.com/office/drawing/2014/main" id="{8F76C3D2-815C-4050-87F0-B11A7F59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可生成经验空间，不等于可以宣告现实世界也如此</a:t>
            </a:r>
          </a:p>
        </p:txBody>
      </p:sp>
    </p:spTree>
    <p:extLst>
      <p:ext uri="{BB962C8B-B14F-4D97-AF65-F5344CB8AC3E}">
        <p14:creationId xmlns:p14="http://schemas.microsoft.com/office/powerpoint/2010/main" val="204852180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001_H42：问题、语言与解法共演化">
            <a:extLst xmlns:a="http://schemas.openxmlformats.org/drawingml/2006/main">
              <a:ext uri="{FF2B5EF4-FFF2-40B4-BE49-F238E27FC236}">
                <a16:creationId xmlns:a16="http://schemas.microsoft.com/office/drawing/2014/main" id="{00A3E265-6675-423F-9D4B-EC502FF3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H42：问题、语言与解法共演化</a:t>
            </a:r>
          </a:p>
        </p:txBody>
      </p:sp>
      <p:sp>
        <p:nvSpPr>
          <p:cNvPr id="2" name="e002_不是只有模型变强，任务也变化">
            <a:extLst xmlns:a="http://schemas.openxmlformats.org/drawingml/2006/main">
              <a:ext uri="{FF2B5EF4-FFF2-40B4-BE49-F238E27FC236}">
                <a16:creationId xmlns:a16="http://schemas.microsoft.com/office/drawing/2014/main" id="{1EB25987-688B-44E5-B75A-9A7DE828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不是只有模型变强，任务也变化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BDE82B8A-A537-4128-A282-AE12943C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0F62242C-EBD0-4CC1-8F58-28B2CB65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22 / 36">
            <a:extLst xmlns:a="http://schemas.openxmlformats.org/drawingml/2006/main">
              <a:ext uri="{FF2B5EF4-FFF2-40B4-BE49-F238E27FC236}">
                <a16:creationId xmlns:a16="http://schemas.microsoft.com/office/drawing/2014/main" id="{B0FADF8B-8E90-40D9-A5A8-6265099E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22 / 36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F280B592-680C-4135-A80F-DEE16F78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5146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1EC"/>
          </a:solidFill>
          <a:ln xmlns:a="http://schemas.openxmlformats.org/drawingml/2006/main" w="19050">
            <a:solidFill>
              <a:srgbClr val="725D7C"/>
            </a:solidFill>
            <a:prstDash val="solid"/>
          </a:ln>
        </p:spPr>
      </p:sp>
      <p:sp>
        <p:nvSpPr>
          <p:cNvPr id="7" name="e007_world vₖ">
            <a:extLst xmlns:a="http://schemas.openxmlformats.org/drawingml/2006/main">
              <a:ext uri="{FF2B5EF4-FFF2-40B4-BE49-F238E27FC236}">
                <a16:creationId xmlns:a16="http://schemas.microsoft.com/office/drawing/2014/main" id="{56F2CF1B-71C3-4F1E-9684-A9300056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24125"/>
            <a:ext cx="2228850" cy="367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0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world vₖ</a:t>
            </a:r>
          </a:p>
        </p:txBody>
      </p:sp>
      <p:sp>
        <p:nvSpPr>
          <p:cNvPr id="8" name="e008_动力学与任务域">
            <a:extLst xmlns:a="http://schemas.openxmlformats.org/drawingml/2006/main">
              <a:ext uri="{FF2B5EF4-FFF2-40B4-BE49-F238E27FC236}">
                <a16:creationId xmlns:a16="http://schemas.microsoft.com/office/drawing/2014/main" id="{40F4396A-1AB1-4B55-BF49-1CBF9700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21794"/>
            <a:ext cx="22288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动力学与任务域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2C786241-C04D-4DFD-AB69-7C128EA4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9087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B1FB7778-2F8B-4257-8038-BEBF6E60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4325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1" name="e011_rect">
            <a:extLst xmlns:a="http://schemas.openxmlformats.org/drawingml/2006/main">
              <a:ext uri="{FF2B5EF4-FFF2-40B4-BE49-F238E27FC236}">
                <a16:creationId xmlns:a16="http://schemas.microsoft.com/office/drawing/2014/main" id="{8B0A0C0B-E2F7-4203-AD7D-ED0A68AE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5146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12" name="e012_ontology vₖ">
            <a:extLst xmlns:a="http://schemas.openxmlformats.org/drawingml/2006/main">
              <a:ext uri="{FF2B5EF4-FFF2-40B4-BE49-F238E27FC236}">
                <a16:creationId xmlns:a16="http://schemas.microsoft.com/office/drawing/2014/main" id="{0B27754A-58D4-4FF5-9F88-7A76FE22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24125"/>
            <a:ext cx="2228850" cy="367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0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ontology vₖ</a:t>
            </a:r>
          </a:p>
        </p:txBody>
      </p:sp>
      <p:sp>
        <p:nvSpPr>
          <p:cNvPr id="13" name="e013_概念与关系">
            <a:extLst xmlns:a="http://schemas.openxmlformats.org/drawingml/2006/main">
              <a:ext uri="{FF2B5EF4-FFF2-40B4-BE49-F238E27FC236}">
                <a16:creationId xmlns:a16="http://schemas.microsoft.com/office/drawing/2014/main" id="{2BE3C3F4-5CCF-4274-9B88-A1665C60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921794"/>
            <a:ext cx="22288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概念与关系</a:t>
            </a:r>
          </a:p>
        </p:txBody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03068428-B26D-4743-8F12-C8ACCFA2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10DC58B9-586E-47E2-99AF-A267AA36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4325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6" name="e016_rect">
            <a:extLst xmlns:a="http://schemas.openxmlformats.org/drawingml/2006/main">
              <a:ext uri="{FF2B5EF4-FFF2-40B4-BE49-F238E27FC236}">
                <a16:creationId xmlns:a16="http://schemas.microsoft.com/office/drawing/2014/main" id="{471F8CEB-4573-41E8-A408-B747BFAB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25146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7" name="e017_ISA vₖ">
            <a:extLst xmlns:a="http://schemas.openxmlformats.org/drawingml/2006/main">
              <a:ext uri="{FF2B5EF4-FFF2-40B4-BE49-F238E27FC236}">
                <a16:creationId xmlns:a16="http://schemas.microsoft.com/office/drawing/2014/main" id="{173BE879-66C5-4D68-AE37-F934E805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24125"/>
            <a:ext cx="2228850" cy="367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0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ISA vₖ</a:t>
            </a:r>
          </a:p>
        </p:txBody>
      </p:sp>
      <p:sp>
        <p:nvSpPr>
          <p:cNvPr id="18" name="e018_受限指令语义">
            <a:extLst xmlns:a="http://schemas.openxmlformats.org/drawingml/2006/main">
              <a:ext uri="{FF2B5EF4-FFF2-40B4-BE49-F238E27FC236}">
                <a16:creationId xmlns:a16="http://schemas.microsoft.com/office/drawing/2014/main" id="{9F4D7E9A-92A5-4F2F-BEBD-16A4AC31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21794"/>
            <a:ext cx="22288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受限指令语义</a:t>
            </a:r>
          </a:p>
        </p:txBody>
      </p:sp>
      <p:sp>
        <p:nvSpPr>
          <p:cNvPr id="19" name="e019_polyline">
            <a:extLst xmlns:a="http://schemas.openxmlformats.org/drawingml/2006/main">
              <a:ext uri="{FF2B5EF4-FFF2-40B4-BE49-F238E27FC236}">
                <a16:creationId xmlns:a16="http://schemas.microsoft.com/office/drawing/2014/main" id="{EF3D8829-5017-4A78-90CC-B8247977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9087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0" name="e020_polyline">
            <a:extLst xmlns:a="http://schemas.openxmlformats.org/drawingml/2006/main">
              <a:ext uri="{FF2B5EF4-FFF2-40B4-BE49-F238E27FC236}">
                <a16:creationId xmlns:a16="http://schemas.microsoft.com/office/drawing/2014/main" id="{1F1DB31A-0252-4DB8-AA74-5E965732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1" name="e021_rect">
            <a:extLst xmlns:a="http://schemas.openxmlformats.org/drawingml/2006/main">
              <a:ext uri="{FF2B5EF4-FFF2-40B4-BE49-F238E27FC236}">
                <a16:creationId xmlns:a16="http://schemas.microsoft.com/office/drawing/2014/main" id="{4E4BDAB4-9D4D-47B2-B5D9-7C5D8581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81250"/>
            <a:ext cx="25146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22" name="e022_population vₖ">
            <a:extLst xmlns:a="http://schemas.openxmlformats.org/drawingml/2006/main">
              <a:ext uri="{FF2B5EF4-FFF2-40B4-BE49-F238E27FC236}">
                <a16:creationId xmlns:a16="http://schemas.microsoft.com/office/drawing/2014/main" id="{17D188C2-D7BD-4834-A246-3DCFB60D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24125"/>
            <a:ext cx="2228850" cy="367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0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population vₖ</a:t>
            </a:r>
          </a:p>
        </p:txBody>
      </p:sp>
      <p:sp>
        <p:nvSpPr>
          <p:cNvPr id="23" name="e023_候选解法集合">
            <a:extLst xmlns:a="http://schemas.openxmlformats.org/drawingml/2006/main">
              <a:ext uri="{FF2B5EF4-FFF2-40B4-BE49-F238E27FC236}">
                <a16:creationId xmlns:a16="http://schemas.microsoft.com/office/drawing/2014/main" id="{C8FBDF51-E3F6-4FF7-AE79-B8613F7A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921794"/>
            <a:ext cx="22288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候选解法集合</a:t>
            </a:r>
          </a:p>
        </p:txBody>
      </p:sp>
      <p:sp>
        <p:nvSpPr>
          <p:cNvPr id="24" name="e024_polyline">
            <a:extLst xmlns:a="http://schemas.openxmlformats.org/drawingml/2006/main">
              <a:ext uri="{FF2B5EF4-FFF2-40B4-BE49-F238E27FC236}">
                <a16:creationId xmlns:a16="http://schemas.microsoft.com/office/drawing/2014/main" id="{DFB696D2-C6AD-4F3E-8000-72DC195A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91000"/>
            <a:ext cx="95" cy="666750"/>
          </a:xfrm>
          <a:custGeom xmlns:a="http://schemas.openxmlformats.org/drawingml/2006/main"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5" name="e025_polyline">
            <a:extLst xmlns:a="http://schemas.openxmlformats.org/drawingml/2006/main">
              <a:ext uri="{FF2B5EF4-FFF2-40B4-BE49-F238E27FC236}">
                <a16:creationId xmlns:a16="http://schemas.microsoft.com/office/drawing/2014/main" id="{FE2384B0-B8B9-4218-A4FA-A5BE30A0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57750"/>
            <a:ext cx="8572500" cy="95"/>
          </a:xfrm>
          <a:custGeom xmlns:a="http://schemas.openxmlformats.org/drawingml/2006/main">
            <a:pathLst>
              <a:path w="8572500" h="95">
                <a:moveTo>
                  <a:pt x="8572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6" name="e026_polyline">
            <a:extLst xmlns:a="http://schemas.openxmlformats.org/drawingml/2006/main">
              <a:ext uri="{FF2B5EF4-FFF2-40B4-BE49-F238E27FC236}">
                <a16:creationId xmlns:a16="http://schemas.microsoft.com/office/drawing/2014/main" id="{3764EF5E-CC45-43B8-A20A-6BEE38B4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95250"/>
                </a:moveTo>
                <a:lnTo>
                  <a:pt x="0" y="47625"/>
                </a:ln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7" name="e027_每轮预算、停止条件、版本归档">
            <a:extLst xmlns:a="http://schemas.openxmlformats.org/drawingml/2006/main">
              <a:ext uri="{FF2B5EF4-FFF2-40B4-BE49-F238E27FC236}">
                <a16:creationId xmlns:a16="http://schemas.microsoft.com/office/drawing/2014/main" id="{88BAFCFA-AF44-43E5-A354-CB46980F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704850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每轮预算、停止条件、版本归档</a:t>
            </a:r>
          </a:p>
        </p:txBody>
      </p:sp>
      <p:sp>
        <p:nvSpPr>
          <p:cNvPr id="28" name="e028_问题与语言一起演化；开放式研究不意味着无限运行">
            <a:extLst xmlns:a="http://schemas.openxmlformats.org/drawingml/2006/main">
              <a:ext uri="{FF2B5EF4-FFF2-40B4-BE49-F238E27FC236}">
                <a16:creationId xmlns:a16="http://schemas.microsoft.com/office/drawing/2014/main" id="{3CAB4D73-76FC-4FA1-830B-2B4BAE96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问题与语言一起演化；开放式研究不意味着无限运行</a:t>
            </a:r>
          </a:p>
        </p:txBody>
      </p:sp>
    </p:spTree>
    <p:extLst>
      <p:ext uri="{BB962C8B-B14F-4D97-AF65-F5344CB8AC3E}">
        <p14:creationId xmlns:p14="http://schemas.microsoft.com/office/powerpoint/2010/main" val="30682173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001_C16：从梦境到研究生态">
            <a:extLst xmlns:a="http://schemas.openxmlformats.org/drawingml/2006/main">
              <a:ext uri="{FF2B5EF4-FFF2-40B4-BE49-F238E27FC236}">
                <a16:creationId xmlns:a16="http://schemas.microsoft.com/office/drawing/2014/main" id="{E1EB2B77-A2F5-413F-81E6-1E435F63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C16：从梦境到研究生态</a:t>
            </a:r>
          </a:p>
        </p:txBody>
      </p:sp>
      <p:sp>
        <p:nvSpPr>
          <p:cNvPr id="2" name="e002_核组合→问题→语言变异→归档">
            <a:extLst xmlns:a="http://schemas.openxmlformats.org/drawingml/2006/main">
              <a:ext uri="{FF2B5EF4-FFF2-40B4-BE49-F238E27FC236}">
                <a16:creationId xmlns:a16="http://schemas.microsoft.com/office/drawing/2014/main" id="{A5E1E594-1055-4D66-94D3-E7535A91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核组合→问题→语言变异→归档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72E5A4CB-2872-4C97-8767-BCE0E589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D19C60A9-34AB-491D-A30F-73B649E7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23 / 36">
            <a:extLst xmlns:a="http://schemas.openxmlformats.org/drawingml/2006/main">
              <a:ext uri="{FF2B5EF4-FFF2-40B4-BE49-F238E27FC236}">
                <a16:creationId xmlns:a16="http://schemas.microsoft.com/office/drawing/2014/main" id="{17BD3377-3F37-473B-9712-8E2255AA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23 / 36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922BDF87-A42F-41B5-88D8-516295CC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95072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9E1EC"/>
          </a:solidFill>
          <a:ln xmlns:a="http://schemas.openxmlformats.org/drawingml/2006/main" w="19050">
            <a:solidFill>
              <a:srgbClr val="725D7C"/>
            </a:solidFill>
            <a:prstDash val="solid"/>
          </a:ln>
        </p:spPr>
      </p:sp>
      <p:sp>
        <p:nvSpPr>
          <p:cNvPr id="7" name="e007_世界核">
            <a:extLst xmlns:a="http://schemas.openxmlformats.org/drawingml/2006/main">
              <a:ext uri="{FF2B5EF4-FFF2-40B4-BE49-F238E27FC236}">
                <a16:creationId xmlns:a16="http://schemas.microsoft.com/office/drawing/2014/main" id="{ABECC5C5-194F-4DF6-8FC2-BA1036F4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14625"/>
            <a:ext cx="1664970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世界核</a:t>
            </a:r>
          </a:p>
        </p:txBody>
      </p:sp>
      <p:sp>
        <p:nvSpPr>
          <p:cNvPr id="8" name="e008_保留依赖">
            <a:extLst xmlns:a="http://schemas.openxmlformats.org/drawingml/2006/main">
              <a:ext uri="{FF2B5EF4-FFF2-40B4-BE49-F238E27FC236}">
                <a16:creationId xmlns:a16="http://schemas.microsoft.com/office/drawing/2014/main" id="{FBBB9AB7-96EE-48AC-A212-3863613A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24200"/>
            <a:ext cx="166497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保留依赖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5D0FC5CF-CBD5-41F2-A6E3-A71F54C2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333375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D6A12C2B-B1C8-465C-8E83-DD163697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670" y="328612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1" name="e011_rect">
            <a:extLst xmlns:a="http://schemas.openxmlformats.org/drawingml/2006/main">
              <a:ext uri="{FF2B5EF4-FFF2-40B4-BE49-F238E27FC236}">
                <a16:creationId xmlns:a16="http://schemas.microsoft.com/office/drawing/2014/main" id="{9BC524E8-8671-424E-BF59-09D35507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120" y="2571750"/>
            <a:ext cx="195072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12" name="e012_新问题">
            <a:extLst xmlns:a="http://schemas.openxmlformats.org/drawingml/2006/main">
              <a:ext uri="{FF2B5EF4-FFF2-40B4-BE49-F238E27FC236}">
                <a16:creationId xmlns:a16="http://schemas.microsoft.com/office/drawing/2014/main" id="{D7BBD7E6-2906-4049-BB3C-CF31E474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995" y="2714625"/>
            <a:ext cx="1664970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新问题</a:t>
            </a:r>
          </a:p>
        </p:txBody>
      </p:sp>
      <p:sp>
        <p:nvSpPr>
          <p:cNvPr id="13" name="e013_带答案关系">
            <a:extLst xmlns:a="http://schemas.openxmlformats.org/drawingml/2006/main">
              <a:ext uri="{FF2B5EF4-FFF2-40B4-BE49-F238E27FC236}">
                <a16:creationId xmlns:a16="http://schemas.microsoft.com/office/drawing/2014/main" id="{D685ACDA-0079-4EF2-B8CF-B1CB6548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995" y="3124200"/>
            <a:ext cx="166497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带答案关系</a:t>
            </a:r>
          </a:p>
        </p:txBody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823C6A8D-2318-4278-BEB6-D8D44404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90" y="333375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AC666723-9DCC-489A-9323-482D1F8F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190" y="328612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6" name="e016_rect">
            <a:extLst xmlns:a="http://schemas.openxmlformats.org/drawingml/2006/main">
              <a:ext uri="{FF2B5EF4-FFF2-40B4-BE49-F238E27FC236}">
                <a16:creationId xmlns:a16="http://schemas.microsoft.com/office/drawing/2014/main" id="{08145A01-4595-4BDC-849F-31AD7A9F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571750"/>
            <a:ext cx="195072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7" name="e017_语言变异">
            <a:extLst xmlns:a="http://schemas.openxmlformats.org/drawingml/2006/main">
              <a:ext uri="{FF2B5EF4-FFF2-40B4-BE49-F238E27FC236}">
                <a16:creationId xmlns:a16="http://schemas.microsoft.com/office/drawing/2014/main" id="{C4C6F648-8542-4FF1-BE32-E38F71AD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515" y="2714625"/>
            <a:ext cx="1664970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语言变异</a:t>
            </a:r>
          </a:p>
        </p:txBody>
      </p:sp>
      <p:sp>
        <p:nvSpPr>
          <p:cNvPr id="18" name="e018_可执行定义">
            <a:extLst xmlns:a="http://schemas.openxmlformats.org/drawingml/2006/main">
              <a:ext uri="{FF2B5EF4-FFF2-40B4-BE49-F238E27FC236}">
                <a16:creationId xmlns:a16="http://schemas.microsoft.com/office/drawing/2014/main" id="{78DCF8E8-5797-4FD7-9692-433E7F4A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515" y="3124200"/>
            <a:ext cx="166497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可执行定义</a:t>
            </a:r>
          </a:p>
        </p:txBody>
      </p:sp>
      <p:sp>
        <p:nvSpPr>
          <p:cNvPr id="19" name="e019_polyline">
            <a:extLst xmlns:a="http://schemas.openxmlformats.org/drawingml/2006/main">
              <a:ext uri="{FF2B5EF4-FFF2-40B4-BE49-F238E27FC236}">
                <a16:creationId xmlns:a16="http://schemas.microsoft.com/office/drawing/2014/main" id="{90F91435-5489-4B5D-A322-E86AE8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510" y="333375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0" name="e020_polyline">
            <a:extLst xmlns:a="http://schemas.openxmlformats.org/drawingml/2006/main">
              <a:ext uri="{FF2B5EF4-FFF2-40B4-BE49-F238E27FC236}">
                <a16:creationId xmlns:a16="http://schemas.microsoft.com/office/drawing/2014/main" id="{B204E6D9-3EA0-494A-BC3B-0401FF3F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0" y="328612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1" name="e021_rect">
            <a:extLst xmlns:a="http://schemas.openxmlformats.org/drawingml/2006/main">
              <a:ext uri="{FF2B5EF4-FFF2-40B4-BE49-F238E27FC236}">
                <a16:creationId xmlns:a16="http://schemas.microsoft.com/office/drawing/2014/main" id="{9A0EDF2F-EB93-4C9C-B14B-E266DFDF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2571750"/>
            <a:ext cx="195072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22" name="e022_有限检查">
            <a:extLst xmlns:a="http://schemas.openxmlformats.org/drawingml/2006/main">
              <a:ext uri="{FF2B5EF4-FFF2-40B4-BE49-F238E27FC236}">
                <a16:creationId xmlns:a16="http://schemas.microsoft.com/office/drawing/2014/main" id="{F3FC49FF-A2C3-4B32-9648-80E06FB2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035" y="2714625"/>
            <a:ext cx="1664970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有限检查</a:t>
            </a:r>
          </a:p>
        </p:txBody>
      </p:sp>
      <p:sp>
        <p:nvSpPr>
          <p:cNvPr id="23" name="e023_预算内见证">
            <a:extLst xmlns:a="http://schemas.openxmlformats.org/drawingml/2006/main">
              <a:ext uri="{FF2B5EF4-FFF2-40B4-BE49-F238E27FC236}">
                <a16:creationId xmlns:a16="http://schemas.microsoft.com/office/drawing/2014/main" id="{3DAE6B88-9E6F-4F0B-A176-4B295AE3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035" y="3124200"/>
            <a:ext cx="166497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预算内见证</a:t>
            </a:r>
          </a:p>
        </p:txBody>
      </p:sp>
      <p:sp>
        <p:nvSpPr>
          <p:cNvPr id="24" name="e024_polyline">
            <a:extLst xmlns:a="http://schemas.openxmlformats.org/drawingml/2006/main">
              <a:ext uri="{FF2B5EF4-FFF2-40B4-BE49-F238E27FC236}">
                <a16:creationId xmlns:a16="http://schemas.microsoft.com/office/drawing/2014/main" id="{5A572034-6927-4135-861D-8CC3A712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030" y="333375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5" name="e025_polyline">
            <a:extLst xmlns:a="http://schemas.openxmlformats.org/drawingml/2006/main">
              <a:ext uri="{FF2B5EF4-FFF2-40B4-BE49-F238E27FC236}">
                <a16:creationId xmlns:a16="http://schemas.microsoft.com/office/drawing/2014/main" id="{DA0B3BF7-4692-4BB4-BE18-5A0C99A8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328612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6" name="e026_rect">
            <a:extLst xmlns:a="http://schemas.openxmlformats.org/drawingml/2006/main">
              <a:ext uri="{FF2B5EF4-FFF2-40B4-BE49-F238E27FC236}">
                <a16:creationId xmlns:a16="http://schemas.microsoft.com/office/drawing/2014/main" id="{8459018C-9F81-459E-80B4-0E027DA3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2571750"/>
            <a:ext cx="195072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9E1EC"/>
          </a:solidFill>
          <a:ln xmlns:a="http://schemas.openxmlformats.org/drawingml/2006/main" w="19050">
            <a:solidFill>
              <a:srgbClr val="725D7C"/>
            </a:solidFill>
            <a:prstDash val="solid"/>
          </a:ln>
        </p:spPr>
      </p:sp>
      <p:sp>
        <p:nvSpPr>
          <p:cNvPr id="27" name="e027_归档">
            <a:extLst xmlns:a="http://schemas.openxmlformats.org/drawingml/2006/main">
              <a:ext uri="{FF2B5EF4-FFF2-40B4-BE49-F238E27FC236}">
                <a16:creationId xmlns:a16="http://schemas.microsoft.com/office/drawing/2014/main" id="{6BE0A983-3A12-4A67-A198-B169ACF1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555" y="2714625"/>
            <a:ext cx="1664970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归档</a:t>
            </a:r>
          </a:p>
        </p:txBody>
      </p:sp>
      <p:sp>
        <p:nvSpPr>
          <p:cNvPr id="28" name="e028_版本与来源">
            <a:extLst xmlns:a="http://schemas.openxmlformats.org/drawingml/2006/main">
              <a:ext uri="{FF2B5EF4-FFF2-40B4-BE49-F238E27FC236}">
                <a16:creationId xmlns:a16="http://schemas.microsoft.com/office/drawing/2014/main" id="{936D3380-A868-4FD3-91FC-4C6DECAC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555" y="3124200"/>
            <a:ext cx="166497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版本与来源</a:t>
            </a:r>
          </a:p>
        </p:txBody>
      </p:sp>
      <p:sp>
        <p:nvSpPr>
          <p:cNvPr id="29" name="e029_synthetic / real：命名空间和证据边界始终分离">
            <a:extLst xmlns:a="http://schemas.openxmlformats.org/drawingml/2006/main">
              <a:ext uri="{FF2B5EF4-FFF2-40B4-BE49-F238E27FC236}">
                <a16:creationId xmlns:a16="http://schemas.microsoft.com/office/drawing/2014/main" id="{8B432646-7757-4EC6-9740-DB9C4216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rPr>
              <a:t>synthetic / real：命名空间和证据边界始终分离</a:t>
            </a:r>
          </a:p>
        </p:txBody>
      </p:sp>
      <p:sp>
        <p:nvSpPr>
          <p:cNvPr id="30" name="e030_C16 研究能生产问题空间的生态，而非自动生成现实“事实”">
            <a:extLst xmlns:a="http://schemas.openxmlformats.org/drawingml/2006/main">
              <a:ext uri="{FF2B5EF4-FFF2-40B4-BE49-F238E27FC236}">
                <a16:creationId xmlns:a16="http://schemas.microsoft.com/office/drawing/2014/main" id="{5ED2FA0F-F5E1-4FF2-91F9-03BD4C8C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C16 研究能生产问题空间的生态，而非自动生成现实“事实”</a:t>
            </a:r>
          </a:p>
        </p:txBody>
      </p:sp>
    </p:spTree>
    <p:extLst>
      <p:ext uri="{BB962C8B-B14F-4D97-AF65-F5344CB8AC3E}">
        <p14:creationId xmlns:p14="http://schemas.microsoft.com/office/powerpoint/2010/main" val="15913956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001_H25：不必有万能潜语言">
            <a:extLst xmlns:a="http://schemas.openxmlformats.org/drawingml/2006/main">
              <a:ext uri="{FF2B5EF4-FFF2-40B4-BE49-F238E27FC236}">
                <a16:creationId xmlns:a16="http://schemas.microsoft.com/office/drawing/2014/main" id="{EC574D79-F059-45AD-BD53-F165F280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H25：不必有万能潜语言</a:t>
            </a:r>
          </a:p>
        </p:txBody>
      </p:sp>
      <p:sp>
        <p:nvSpPr>
          <p:cNvPr id="2" name="e002_坐标改变，作用关系保持">
            <a:extLst xmlns:a="http://schemas.openxmlformats.org/drawingml/2006/main">
              <a:ext uri="{FF2B5EF4-FFF2-40B4-BE49-F238E27FC236}">
                <a16:creationId xmlns:a16="http://schemas.microsoft.com/office/drawing/2014/main" id="{90E8DDAB-B2F6-4346-A9DD-A924B200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坐标改变，作用关系保持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AC6AC334-60C4-49C0-982B-3FED5136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解析示意 / 数学示意 · 无模型实测">
            <a:extLst xmlns:a="http://schemas.openxmlformats.org/drawingml/2006/main">
              <a:ext uri="{FF2B5EF4-FFF2-40B4-BE49-F238E27FC236}">
                <a16:creationId xmlns:a16="http://schemas.microsoft.com/office/drawing/2014/main" id="{8811BA1B-B5FE-4877-8C1E-D9B36DEA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解析示意 / 数学示意 · 无模型实测</a:t>
            </a:r>
          </a:p>
        </p:txBody>
      </p:sp>
      <p:sp>
        <p:nvSpPr>
          <p:cNvPr id="5" name="e005_24 / 36">
            <a:extLst xmlns:a="http://schemas.openxmlformats.org/drawingml/2006/main">
              <a:ext uri="{FF2B5EF4-FFF2-40B4-BE49-F238E27FC236}">
                <a16:creationId xmlns:a16="http://schemas.microsoft.com/office/drawing/2014/main" id="{DC826736-422A-4529-91CE-EF23268A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24 / 36</a:t>
            </a:r>
          </a:p>
        </p:txBody>
      </p:sp>
      <p:sp>
        <p:nvSpPr>
          <p:cNvPr id="6" name="e006_作用保持：T′ = G T G⁻¹">
            <a:extLst xmlns:a="http://schemas.openxmlformats.org/drawingml/2006/main">
              <a:ext uri="{FF2B5EF4-FFF2-40B4-BE49-F238E27FC236}">
                <a16:creationId xmlns:a16="http://schemas.microsoft.com/office/drawing/2014/main" id="{19EB9BE5-0242-4D56-AB08-ADE8926F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531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9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9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9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9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9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9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9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9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9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9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作用保持：T′ = G T G⁻¹</a:t>
            </a:r>
          </a:p>
        </p:txBody>
      </p:sp>
      <p:sp>
        <p:nvSpPr>
          <p:cNvPr id="7" name="e007_z">
            <a:extLst xmlns:a="http://schemas.openxmlformats.org/drawingml/2006/main">
              <a:ext uri="{FF2B5EF4-FFF2-40B4-BE49-F238E27FC236}">
                <a16:creationId xmlns:a16="http://schemas.microsoft.com/office/drawing/2014/main" id="{4339EE6A-351B-4A0B-BE25-DC533B15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1905000" cy="531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z</a:t>
            </a:r>
          </a:p>
        </p:txBody>
      </p:sp>
      <p:sp>
        <p:nvSpPr>
          <p:cNvPr id="8" name="e008_Tz">
            <a:extLst xmlns:a="http://schemas.openxmlformats.org/drawingml/2006/main">
              <a:ext uri="{FF2B5EF4-FFF2-40B4-BE49-F238E27FC236}">
                <a16:creationId xmlns:a16="http://schemas.microsoft.com/office/drawing/2014/main" id="{EFAFB084-845B-43F4-AFA0-436BA86C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05125"/>
            <a:ext cx="1905000" cy="531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Tz</a:t>
            </a:r>
          </a:p>
        </p:txBody>
      </p:sp>
      <p:sp>
        <p:nvSpPr>
          <p:cNvPr id="9" name="e009_Gz">
            <a:extLst xmlns:a="http://schemas.openxmlformats.org/drawingml/2006/main">
              <a:ext uri="{FF2B5EF4-FFF2-40B4-BE49-F238E27FC236}">
                <a16:creationId xmlns:a16="http://schemas.microsoft.com/office/drawing/2014/main" id="{B87011D3-1ED7-4EAC-893D-6A9A8EBA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1905000" cy="531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Gz</a:t>
            </a:r>
          </a:p>
        </p:txBody>
      </p:sp>
      <p:sp>
        <p:nvSpPr>
          <p:cNvPr id="10" name="e010_GTz">
            <a:extLst xmlns:a="http://schemas.openxmlformats.org/drawingml/2006/main">
              <a:ext uri="{FF2B5EF4-FFF2-40B4-BE49-F238E27FC236}">
                <a16:creationId xmlns:a16="http://schemas.microsoft.com/office/drawing/2014/main" id="{40684568-6342-49BB-A728-25EA9B3A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67250"/>
            <a:ext cx="1905000" cy="531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GTz</a:t>
            </a:r>
          </a:p>
        </p:txBody>
      </p:sp>
      <p:sp>
        <p:nvSpPr>
          <p:cNvPr id="11" name="e011_polyline">
            <a:extLst xmlns:a="http://schemas.openxmlformats.org/drawingml/2006/main">
              <a:ext uri="{FF2B5EF4-FFF2-40B4-BE49-F238E27FC236}">
                <a16:creationId xmlns:a16="http://schemas.microsoft.com/office/drawing/2014/main" id="{10A2C50B-8DFF-4658-BCCD-89D02637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09925"/>
            <a:ext cx="4857750" cy="95"/>
          </a:xfrm>
          <a:custGeom xmlns:a="http://schemas.openxmlformats.org/drawingml/2006/main">
            <a:pathLst>
              <a:path w="4857750" h="95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12" name="e012_polyline">
            <a:extLst xmlns:a="http://schemas.openxmlformats.org/drawingml/2006/main">
              <a:ext uri="{FF2B5EF4-FFF2-40B4-BE49-F238E27FC236}">
                <a16:creationId xmlns:a16="http://schemas.microsoft.com/office/drawing/2014/main" id="{8AD02AF2-C54E-43CF-AF7C-36D48AD0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6230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13" name="e013_T">
            <a:extLst xmlns:a="http://schemas.openxmlformats.org/drawingml/2006/main">
              <a:ext uri="{FF2B5EF4-FFF2-40B4-BE49-F238E27FC236}">
                <a16:creationId xmlns:a16="http://schemas.microsoft.com/office/drawing/2014/main" id="{F2A759FC-C587-4642-8FCD-273B8B68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24150"/>
            <a:ext cx="95250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T</a:t>
            </a:r>
          </a:p>
        </p:txBody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2E9D2988-A581-449A-839D-C66CCEB3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72050"/>
            <a:ext cx="4857750" cy="95"/>
          </a:xfrm>
          <a:custGeom xmlns:a="http://schemas.openxmlformats.org/drawingml/2006/main">
            <a:pathLst>
              <a:path w="4857750" h="95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C5138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B1B4B91B-35DD-48BB-BD0A-E151B9D3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2442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C5138"/>
            </a:solidFill>
            <a:prstDash val="solid"/>
          </a:ln>
        </p:spPr>
      </p:sp>
      <p:sp>
        <p:nvSpPr>
          <p:cNvPr id="16" name="e016_T′ = GTG⁻¹">
            <a:extLst xmlns:a="http://schemas.openxmlformats.org/drawingml/2006/main">
              <a:ext uri="{FF2B5EF4-FFF2-40B4-BE49-F238E27FC236}">
                <a16:creationId xmlns:a16="http://schemas.microsoft.com/office/drawing/2014/main" id="{F54DB384-1A49-4A7C-9476-55CE58E4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00550"/>
            <a:ext cx="247650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T′ = GTG⁻¹</a:t>
            </a:r>
          </a:p>
        </p:txBody>
      </p:sp>
      <p:sp>
        <p:nvSpPr>
          <p:cNvPr id="17" name="e017_polyline">
            <a:extLst xmlns:a="http://schemas.openxmlformats.org/drawingml/2006/main">
              <a:ext uri="{FF2B5EF4-FFF2-40B4-BE49-F238E27FC236}">
                <a16:creationId xmlns:a16="http://schemas.microsoft.com/office/drawing/2014/main" id="{5326ADFE-BE4C-4996-866B-ACF12F1E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95" cy="1047750"/>
          </a:xfrm>
          <a:custGeom xmlns:a="http://schemas.openxmlformats.org/drawingml/2006/main">
            <a:pathLst>
              <a:path w="95" h="1047750">
                <a:moveTo>
                  <a:pt x="0" y="0"/>
                </a:moveTo>
                <a:lnTo>
                  <a:pt x="0" y="1047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96974"/>
            </a:solidFill>
            <a:prstDash val="solid"/>
          </a:ln>
        </p:spPr>
      </p:sp>
      <p:sp>
        <p:nvSpPr>
          <p:cNvPr id="18" name="e018_polyline">
            <a:extLst xmlns:a="http://schemas.openxmlformats.org/drawingml/2006/main">
              <a:ext uri="{FF2B5EF4-FFF2-40B4-BE49-F238E27FC236}">
                <a16:creationId xmlns:a16="http://schemas.microsoft.com/office/drawing/2014/main" id="{DF45FF9B-33F1-454E-BC95-A2B8EC6C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10075"/>
            <a:ext cx="95250" cy="114300"/>
          </a:xfrm>
          <a:custGeom xmlns:a="http://schemas.openxmlformats.org/drawingml/2006/main">
            <a:pathLst>
              <a:path w="95250" h="114300">
                <a:moveTo>
                  <a:pt x="95250" y="0"/>
                </a:moveTo>
                <a:lnTo>
                  <a:pt x="47625" y="1143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96974"/>
            </a:solidFill>
            <a:prstDash val="solid"/>
          </a:ln>
        </p:spPr>
      </p:sp>
      <p:sp>
        <p:nvSpPr>
          <p:cNvPr id="19" name="e019_G">
            <a:extLst xmlns:a="http://schemas.openxmlformats.org/drawingml/2006/main">
              <a:ext uri="{FF2B5EF4-FFF2-40B4-BE49-F238E27FC236}">
                <a16:creationId xmlns:a16="http://schemas.microsoft.com/office/drawing/2014/main" id="{5D9C34DD-A3DD-4886-9D40-0F8ACA38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57625"/>
            <a:ext cx="666750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G</a:t>
            </a:r>
          </a:p>
        </p:txBody>
      </p:sp>
      <p:sp>
        <p:nvSpPr>
          <p:cNvPr id="20" name="e020_polyline">
            <a:extLst xmlns:a="http://schemas.openxmlformats.org/drawingml/2006/main">
              <a:ext uri="{FF2B5EF4-FFF2-40B4-BE49-F238E27FC236}">
                <a16:creationId xmlns:a16="http://schemas.microsoft.com/office/drawing/2014/main" id="{FEF608FB-1030-4C29-85ED-1EB3E53B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76625"/>
            <a:ext cx="95" cy="1047750"/>
          </a:xfrm>
          <a:custGeom xmlns:a="http://schemas.openxmlformats.org/drawingml/2006/main">
            <a:pathLst>
              <a:path w="95" h="1047750">
                <a:moveTo>
                  <a:pt x="0" y="0"/>
                </a:moveTo>
                <a:lnTo>
                  <a:pt x="0" y="1047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96974"/>
            </a:solidFill>
            <a:prstDash val="solid"/>
          </a:ln>
        </p:spPr>
      </p:sp>
      <p:sp>
        <p:nvSpPr>
          <p:cNvPr id="21" name="e021_polyline">
            <a:extLst xmlns:a="http://schemas.openxmlformats.org/drawingml/2006/main">
              <a:ext uri="{FF2B5EF4-FFF2-40B4-BE49-F238E27FC236}">
                <a16:creationId xmlns:a16="http://schemas.microsoft.com/office/drawing/2014/main" id="{761A12AF-A545-49CF-B996-155F4B2C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10075"/>
            <a:ext cx="95250" cy="114300"/>
          </a:xfrm>
          <a:custGeom xmlns:a="http://schemas.openxmlformats.org/drawingml/2006/main">
            <a:pathLst>
              <a:path w="95250" h="114300">
                <a:moveTo>
                  <a:pt x="95250" y="0"/>
                </a:moveTo>
                <a:lnTo>
                  <a:pt x="47625" y="1143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96974"/>
            </a:solidFill>
            <a:prstDash val="solid"/>
          </a:ln>
        </p:spPr>
      </p:sp>
      <p:sp>
        <p:nvSpPr>
          <p:cNvPr id="22" name="e022_G">
            <a:extLst xmlns:a="http://schemas.openxmlformats.org/drawingml/2006/main">
              <a:ext uri="{FF2B5EF4-FFF2-40B4-BE49-F238E27FC236}">
                <a16:creationId xmlns:a16="http://schemas.microsoft.com/office/drawing/2014/main" id="{A8EFEA1F-405B-474C-B3F8-81081C9B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57625"/>
            <a:ext cx="666750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G</a:t>
            </a:r>
          </a:p>
        </p:txBody>
      </p:sp>
      <p:sp>
        <p:nvSpPr>
          <p:cNvPr id="23" name="e023_坐标可不同，作用关系须保持；真实模型上的对应仍是假设">
            <a:extLst xmlns:a="http://schemas.openxmlformats.org/drawingml/2006/main">
              <a:ext uri="{FF2B5EF4-FFF2-40B4-BE49-F238E27FC236}">
                <a16:creationId xmlns:a16="http://schemas.microsoft.com/office/drawing/2014/main" id="{8DA0A667-7B85-4AC5-902C-F3E71147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坐标可不同，作用关系须保持；真实模型上的对应仍是假设</a:t>
            </a:r>
          </a:p>
        </p:txBody>
      </p:sp>
    </p:spTree>
    <p:extLst>
      <p:ext uri="{BB962C8B-B14F-4D97-AF65-F5344CB8AC3E}">
        <p14:creationId xmlns:p14="http://schemas.microsoft.com/office/powerpoint/2010/main" val="203862538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001_H35与H47：语义取决于尺度和任务">
            <a:extLst xmlns:a="http://schemas.openxmlformats.org/drawingml/2006/main">
              <a:ext uri="{FF2B5EF4-FFF2-40B4-BE49-F238E27FC236}">
                <a16:creationId xmlns:a16="http://schemas.microsoft.com/office/drawing/2014/main" id="{147CF03B-DB8D-47EB-B6B4-FBA456CF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H35与H47：语义取决于尺度和任务</a:t>
            </a:r>
          </a:p>
        </p:txBody>
      </p:sp>
      <p:sp>
        <p:nvSpPr>
          <p:cNvPr id="2" name="e002_能分辨什么，决定什么需要保留">
            <a:extLst xmlns:a="http://schemas.openxmlformats.org/drawingml/2006/main">
              <a:ext uri="{FF2B5EF4-FFF2-40B4-BE49-F238E27FC236}">
                <a16:creationId xmlns:a16="http://schemas.microsoft.com/office/drawing/2014/main" id="{1433B97E-E0F4-41A1-92A8-9D0320F2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能分辨什么，决定什么需要保留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7E68D221-D0FF-4485-922D-433572F7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解析示意 / 数学示意 · 无模型实测">
            <a:extLst xmlns:a="http://schemas.openxmlformats.org/drawingml/2006/main">
              <a:ext uri="{FF2B5EF4-FFF2-40B4-BE49-F238E27FC236}">
                <a16:creationId xmlns:a16="http://schemas.microsoft.com/office/drawing/2014/main" id="{E77B4666-41A4-4F16-8567-2C2722DB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解析示意 / 数学示意 · 无模型实测</a:t>
            </a:r>
          </a:p>
        </p:txBody>
      </p:sp>
      <p:sp>
        <p:nvSpPr>
          <p:cNvPr id="5" name="e005_25 / 36">
            <a:extLst xmlns:a="http://schemas.openxmlformats.org/drawingml/2006/main">
              <a:ext uri="{FF2B5EF4-FFF2-40B4-BE49-F238E27FC236}">
                <a16:creationId xmlns:a16="http://schemas.microsoft.com/office/drawing/2014/main" id="{1F763DEC-17E3-4BE5-B397-7973148B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25 / 36</a:t>
            </a:r>
          </a:p>
        </p:txBody>
      </p:sp>
      <p:sp>
        <p:nvSpPr>
          <p:cNvPr id="6" name="e006_问题族 Q₁：是否为奇数？">
            <a:extLst xmlns:a="http://schemas.openxmlformats.org/drawingml/2006/main">
              <a:ext uri="{FF2B5EF4-FFF2-40B4-BE49-F238E27FC236}">
                <a16:creationId xmlns:a16="http://schemas.microsoft.com/office/drawing/2014/main" id="{1A93C686-91C3-4E0E-8D35-FAFDBFEE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42925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问题族 Q₁：是否为奇数？</a:t>
            </a:r>
          </a:p>
        </p:txBody>
      </p:sp>
      <p:sp>
        <p:nvSpPr>
          <p:cNvPr id="7" name="e007_rect">
            <a:extLst xmlns:a="http://schemas.openxmlformats.org/drawingml/2006/main">
              <a:ext uri="{FF2B5EF4-FFF2-40B4-BE49-F238E27FC236}">
                <a16:creationId xmlns:a16="http://schemas.microsoft.com/office/drawing/2014/main" id="{154F6938-84B4-4692-80A8-8A9AC566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333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8" name="e008_{1, 3}">
            <a:extLst xmlns:a="http://schemas.openxmlformats.org/drawingml/2006/main">
              <a:ext uri="{FF2B5EF4-FFF2-40B4-BE49-F238E27FC236}">
                <a16:creationId xmlns:a16="http://schemas.microsoft.com/office/drawing/2014/main" id="{423F457A-CF16-48B1-8526-9E659A18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47975"/>
            <a:ext cx="2047875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{1, 3}</a:t>
            </a:r>
          </a:p>
        </p:txBody>
      </p:sp>
      <p:sp>
        <p:nvSpPr>
          <p:cNvPr id="9" name="e009_奇数">
            <a:extLst xmlns:a="http://schemas.openxmlformats.org/drawingml/2006/main">
              <a:ext uri="{FF2B5EF4-FFF2-40B4-BE49-F238E27FC236}">
                <a16:creationId xmlns:a16="http://schemas.microsoft.com/office/drawing/2014/main" id="{BA27BF7A-12C8-480D-AF09-0FA60FB6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52800"/>
            <a:ext cx="2047875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奇数</a:t>
            </a:r>
          </a:p>
        </p:txBody>
      </p:sp>
      <p:sp>
        <p:nvSpPr>
          <p:cNvPr id="10" name="e010_rect">
            <a:extLst xmlns:a="http://schemas.openxmlformats.org/drawingml/2006/main">
              <a:ext uri="{FF2B5EF4-FFF2-40B4-BE49-F238E27FC236}">
                <a16:creationId xmlns:a16="http://schemas.microsoft.com/office/drawing/2014/main" id="{9C52EB3E-77A3-45C2-94F4-D8776B0D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05100"/>
            <a:ext cx="2333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11" name="e011_{2, 4}">
            <a:extLst xmlns:a="http://schemas.openxmlformats.org/drawingml/2006/main">
              <a:ext uri="{FF2B5EF4-FFF2-40B4-BE49-F238E27FC236}">
                <a16:creationId xmlns:a16="http://schemas.microsoft.com/office/drawing/2014/main" id="{F8E22E52-A098-4BA7-BDE4-D2104C89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847975"/>
            <a:ext cx="2047875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{2, 4}</a:t>
            </a:r>
          </a:p>
        </p:txBody>
      </p:sp>
      <p:sp>
        <p:nvSpPr>
          <p:cNvPr id="12" name="e012_偶数">
            <a:extLst xmlns:a="http://schemas.openxmlformats.org/drawingml/2006/main">
              <a:ext uri="{FF2B5EF4-FFF2-40B4-BE49-F238E27FC236}">
                <a16:creationId xmlns:a16="http://schemas.microsoft.com/office/drawing/2014/main" id="{9DD0AF25-4E33-4832-85D1-AD990FA3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352800"/>
            <a:ext cx="2047875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偶数</a:t>
            </a:r>
          </a:p>
        </p:txBody>
      </p:sp>
      <p:sp>
        <p:nvSpPr>
          <p:cNvPr id="13" name="e013_Q₂ = Q₁ ＋「是否大于 2？」">
            <a:extLst xmlns:a="http://schemas.openxmlformats.org/drawingml/2006/main">
              <a:ext uri="{FF2B5EF4-FFF2-40B4-BE49-F238E27FC236}">
                <a16:creationId xmlns:a16="http://schemas.microsoft.com/office/drawing/2014/main" id="{E59F18F9-AFA0-4A5F-BDC1-15B22E9B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4819650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Q₂ = Q₁ ＋「是否大于 2？」</a:t>
            </a:r>
          </a:p>
        </p:txBody>
      </p:sp>
      <p:sp>
        <p:nvSpPr>
          <p:cNvPr id="14" name="e014_rect">
            <a:extLst xmlns:a="http://schemas.openxmlformats.org/drawingml/2006/main">
              <a:ext uri="{FF2B5EF4-FFF2-40B4-BE49-F238E27FC236}">
                <a16:creationId xmlns:a16="http://schemas.microsoft.com/office/drawing/2014/main" id="{91C4AAB3-C624-42C6-A147-CE355839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324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15" name="e015_{1}">
            <a:extLst xmlns:a="http://schemas.openxmlformats.org/drawingml/2006/main">
              <a:ext uri="{FF2B5EF4-FFF2-40B4-BE49-F238E27FC236}">
                <a16:creationId xmlns:a16="http://schemas.microsoft.com/office/drawing/2014/main" id="{C95EA070-D22D-4AB5-98C6-5E887D43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47975"/>
            <a:ext cx="2038350" cy="463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{1}</a:t>
            </a:r>
          </a:p>
        </p:txBody>
      </p:sp>
      <p:sp>
        <p:nvSpPr>
          <p:cNvPr id="16" name="e016_保留原始值">
            <a:extLst xmlns:a="http://schemas.openxmlformats.org/drawingml/2006/main">
              <a:ext uri="{FF2B5EF4-FFF2-40B4-BE49-F238E27FC236}">
                <a16:creationId xmlns:a16="http://schemas.microsoft.com/office/drawing/2014/main" id="{D4308C3A-7FC1-4DDB-96A4-0E49D065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28988"/>
            <a:ext cx="20383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保留原始值</a:t>
            </a:r>
          </a:p>
        </p:txBody>
      </p:sp>
      <p:sp>
        <p:nvSpPr>
          <p:cNvPr id="17" name="e017_rect">
            <a:extLst xmlns:a="http://schemas.openxmlformats.org/drawingml/2006/main">
              <a:ext uri="{FF2B5EF4-FFF2-40B4-BE49-F238E27FC236}">
                <a16:creationId xmlns:a16="http://schemas.microsoft.com/office/drawing/2014/main" id="{EF21DF7F-887E-42AC-85DA-97C8CBC8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05100"/>
            <a:ext cx="2324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8" name="e018_{3}">
            <a:extLst xmlns:a="http://schemas.openxmlformats.org/drawingml/2006/main">
              <a:ext uri="{FF2B5EF4-FFF2-40B4-BE49-F238E27FC236}">
                <a16:creationId xmlns:a16="http://schemas.microsoft.com/office/drawing/2014/main" id="{0F37D8B4-93B4-4860-94CA-DA8F7977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847975"/>
            <a:ext cx="2038350" cy="463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{3}</a:t>
            </a:r>
          </a:p>
        </p:txBody>
      </p:sp>
      <p:sp>
        <p:nvSpPr>
          <p:cNvPr id="19" name="e019_保留原始值">
            <a:extLst xmlns:a="http://schemas.openxmlformats.org/drawingml/2006/main">
              <a:ext uri="{FF2B5EF4-FFF2-40B4-BE49-F238E27FC236}">
                <a16:creationId xmlns:a16="http://schemas.microsoft.com/office/drawing/2014/main" id="{230156C3-0DC5-4768-8731-4A3324B7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328988"/>
            <a:ext cx="20383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保留原始值</a:t>
            </a:r>
          </a:p>
        </p:txBody>
      </p:sp>
      <p:sp>
        <p:nvSpPr>
          <p:cNvPr id="20" name="e020_rect">
            <a:extLst xmlns:a="http://schemas.openxmlformats.org/drawingml/2006/main">
              <a:ext uri="{FF2B5EF4-FFF2-40B4-BE49-F238E27FC236}">
                <a16:creationId xmlns:a16="http://schemas.microsoft.com/office/drawing/2014/main" id="{3C5E25CC-6D0E-4113-966F-E50888E5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81450"/>
            <a:ext cx="2324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21" name="e021_{2}">
            <a:extLst xmlns:a="http://schemas.openxmlformats.org/drawingml/2006/main">
              <a:ext uri="{FF2B5EF4-FFF2-40B4-BE49-F238E27FC236}">
                <a16:creationId xmlns:a16="http://schemas.microsoft.com/office/drawing/2014/main" id="{6A69826A-2464-4B2E-BEFC-05E11B23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24325"/>
            <a:ext cx="2038350" cy="463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{2}</a:t>
            </a:r>
          </a:p>
        </p:txBody>
      </p:sp>
      <p:sp>
        <p:nvSpPr>
          <p:cNvPr id="22" name="e022_保留原始值">
            <a:extLst xmlns:a="http://schemas.openxmlformats.org/drawingml/2006/main">
              <a:ext uri="{FF2B5EF4-FFF2-40B4-BE49-F238E27FC236}">
                <a16:creationId xmlns:a16="http://schemas.microsoft.com/office/drawing/2014/main" id="{DBDDC984-F981-4877-83D3-16F70DD0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05338"/>
            <a:ext cx="20383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保留原始值</a:t>
            </a:r>
          </a:p>
        </p:txBody>
      </p:sp>
      <p:sp>
        <p:nvSpPr>
          <p:cNvPr id="23" name="e023_rect">
            <a:extLst xmlns:a="http://schemas.openxmlformats.org/drawingml/2006/main">
              <a:ext uri="{FF2B5EF4-FFF2-40B4-BE49-F238E27FC236}">
                <a16:creationId xmlns:a16="http://schemas.microsoft.com/office/drawing/2014/main" id="{45A10A2C-CC34-4858-8267-422C2CC8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81450"/>
            <a:ext cx="2324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9E1EC"/>
          </a:solidFill>
          <a:ln xmlns:a="http://schemas.openxmlformats.org/drawingml/2006/main" w="19050">
            <a:solidFill>
              <a:srgbClr val="725D7C"/>
            </a:solidFill>
            <a:prstDash val="solid"/>
          </a:ln>
        </p:spPr>
      </p:sp>
      <p:sp>
        <p:nvSpPr>
          <p:cNvPr id="24" name="e024_{4}">
            <a:extLst xmlns:a="http://schemas.openxmlformats.org/drawingml/2006/main">
              <a:ext uri="{FF2B5EF4-FFF2-40B4-BE49-F238E27FC236}">
                <a16:creationId xmlns:a16="http://schemas.microsoft.com/office/drawing/2014/main" id="{FDC54EE5-6D57-411F-8A31-D8E8AB04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124325"/>
            <a:ext cx="2038350" cy="463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{4}</a:t>
            </a:r>
          </a:p>
        </p:txBody>
      </p:sp>
      <p:sp>
        <p:nvSpPr>
          <p:cNvPr id="25" name="e025_保留原始值">
            <a:extLst xmlns:a="http://schemas.openxmlformats.org/drawingml/2006/main">
              <a:ext uri="{FF2B5EF4-FFF2-40B4-BE49-F238E27FC236}">
                <a16:creationId xmlns:a16="http://schemas.microsoft.com/office/drawing/2014/main" id="{1A01DA50-6172-4998-B927-EEB1FE6F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605338"/>
            <a:ext cx="20383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保留原始值</a:t>
            </a:r>
          </a:p>
        </p:txBody>
      </p:sp>
      <p:sp>
        <p:nvSpPr>
          <p:cNvPr id="26" name="e028_细化">
            <a:extLst xmlns:a="http://schemas.openxmlformats.org/drawingml/2006/main">
              <a:ext uri="{FF2B5EF4-FFF2-40B4-BE49-F238E27FC236}">
                <a16:creationId xmlns:a16="http://schemas.microsoft.com/office/drawing/2014/main" id="{D3655400-D277-4483-9789-AFFAED7D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47950"/>
            <a:ext cx="952500" cy="29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细化</a:t>
            </a:r>
          </a:p>
        </p:txBody>
      </p:sp>
      <p:sp>
        <p:nvSpPr>
          <p:cNvPr id="27" name="e031_粗化">
            <a:extLst xmlns:a="http://schemas.openxmlformats.org/drawingml/2006/main">
              <a:ext uri="{FF2B5EF4-FFF2-40B4-BE49-F238E27FC236}">
                <a16:creationId xmlns:a16="http://schemas.microsoft.com/office/drawing/2014/main" id="{A8751136-9D9E-425E-B8DB-0BDF266E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048250"/>
            <a:ext cx="952500" cy="29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粗化</a:t>
            </a:r>
          </a:p>
        </p:txBody>
      </p:sp>
      <p:sp>
        <p:nvSpPr>
          <p:cNvPr id="28" name="e032_细化所需：&#10;原始状态，或新的可用查询">
            <a:extLst xmlns:a="http://schemas.openxmlformats.org/drawingml/2006/main">
              <a:ext uri="{FF2B5EF4-FFF2-40B4-BE49-F238E27FC236}">
                <a16:creationId xmlns:a16="http://schemas.microsoft.com/office/drawing/2014/main" id="{45DCCE5D-2BB6-4BEF-A915-64ADF17C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5048250" cy="817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细化所需：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原始状态，或新的可用查询</a:t>
            </a:r>
          </a:p>
        </p:txBody>
      </p:sp>
      <p:sp>
        <p:nvSpPr>
          <p:cNvPr id="29" name="e029_polyline">
            <a:extLst xmlns:a="http://schemas.openxmlformats.org/drawingml/2006/main">
              <a:ext uri="{FF2B5EF4-FFF2-40B4-BE49-F238E27FC236}">
                <a16:creationId xmlns:a16="http://schemas.microsoft.com/office/drawing/2014/main" id="{3BB9B82F-88B3-43AD-B16A-A59A5156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24200"/>
            <a:ext cx="742950" cy="95"/>
          </a:xfrm>
          <a:custGeom xmlns:a="http://schemas.openxmlformats.org/drawingml/2006/main">
            <a:pathLst>
              <a:path w="742950" h="9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C5138"/>
            </a:solidFill>
            <a:prstDash val="solid"/>
          </a:ln>
        </p:spPr>
      </p:sp>
      <p:sp>
        <p:nvSpPr>
          <p:cNvPr id="30" name="e030_polyline">
            <a:extLst xmlns:a="http://schemas.openxmlformats.org/drawingml/2006/main">
              <a:ext uri="{FF2B5EF4-FFF2-40B4-BE49-F238E27FC236}">
                <a16:creationId xmlns:a16="http://schemas.microsoft.com/office/drawing/2014/main" id="{FBE5012C-60E9-47FB-9E0E-7F04BB21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765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C5138"/>
            </a:solidFill>
            <a:prstDash val="solid"/>
          </a:ln>
        </p:spPr>
      </p:sp>
      <p:sp>
        <p:nvSpPr>
          <p:cNvPr id="31" name="e031_polyline">
            <a:extLst xmlns:a="http://schemas.openxmlformats.org/drawingml/2006/main">
              <a:ext uri="{FF2B5EF4-FFF2-40B4-BE49-F238E27FC236}">
                <a16:creationId xmlns:a16="http://schemas.microsoft.com/office/drawing/2014/main" id="{95E222C9-621D-44EB-BFBA-9230F463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91075"/>
            <a:ext cx="742950" cy="95"/>
          </a:xfrm>
          <a:custGeom xmlns:a="http://schemas.openxmlformats.org/drawingml/2006/main">
            <a:pathLst>
              <a:path w="742950" h="95">
                <a:moveTo>
                  <a:pt x="7429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06258"/>
            </a:solidFill>
            <a:prstDash val="solid"/>
          </a:ln>
        </p:spPr>
      </p:sp>
      <p:sp>
        <p:nvSpPr>
          <p:cNvPr id="32" name="e032_polyline">
            <a:extLst xmlns:a="http://schemas.openxmlformats.org/drawingml/2006/main">
              <a:ext uri="{FF2B5EF4-FFF2-40B4-BE49-F238E27FC236}">
                <a16:creationId xmlns:a16="http://schemas.microsoft.com/office/drawing/2014/main" id="{BF1A96E8-AB3B-4EB3-94E3-1592495A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434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95250"/>
                </a:moveTo>
                <a:lnTo>
                  <a:pt x="0" y="47625"/>
                </a:ln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06258"/>
            </a:solidFill>
            <a:prstDash val="solid"/>
          </a:ln>
        </p:spPr>
      </p:sp>
      <p:sp>
        <p:nvSpPr>
          <p:cNvPr id="33" name="e033_细化需要原始信息或新查询；粗表示不能凭空恢复已丢差别">
            <a:extLst xmlns:a="http://schemas.openxmlformats.org/drawingml/2006/main">
              <a:ext uri="{FF2B5EF4-FFF2-40B4-BE49-F238E27FC236}">
                <a16:creationId xmlns:a16="http://schemas.microsoft.com/office/drawing/2014/main" id="{F63B6C8D-B6D5-4E1E-9D2B-F5AC4F73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细化需要原始信息或新查询；粗表示不能凭空恢复已丢差别</a:t>
            </a:r>
          </a:p>
        </p:txBody>
      </p:sp>
    </p:spTree>
    <p:extLst>
      <p:ext uri="{BB962C8B-B14F-4D97-AF65-F5344CB8AC3E}">
        <p14:creationId xmlns:p14="http://schemas.microsoft.com/office/powerpoint/2010/main" val="96352697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001_H29：问题也能被计算">
            <a:extLst xmlns:a="http://schemas.openxmlformats.org/drawingml/2006/main">
              <a:ext uri="{FF2B5EF4-FFF2-40B4-BE49-F238E27FC236}">
                <a16:creationId xmlns:a16="http://schemas.microsoft.com/office/drawing/2014/main" id="{45829DFA-46FB-4B49-9B34-3052BAC0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H29：问题也能被计算</a:t>
            </a:r>
          </a:p>
        </p:txBody>
      </p:sp>
      <p:sp>
        <p:nvSpPr>
          <p:cNvPr id="2" name="e002_改写问题必须保留解关系">
            <a:extLst xmlns:a="http://schemas.openxmlformats.org/drawingml/2006/main">
              <a:ext uri="{FF2B5EF4-FFF2-40B4-BE49-F238E27FC236}">
                <a16:creationId xmlns:a16="http://schemas.microsoft.com/office/drawing/2014/main" id="{E106E503-081F-4109-84E3-7720DE66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改写问题必须保留解关系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DA638957-2D57-4F02-AA73-CE79C25B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解析示意 / 数学示意 · 无模型实测">
            <a:extLst xmlns:a="http://schemas.openxmlformats.org/drawingml/2006/main">
              <a:ext uri="{FF2B5EF4-FFF2-40B4-BE49-F238E27FC236}">
                <a16:creationId xmlns:a16="http://schemas.microsoft.com/office/drawing/2014/main" id="{C4D38E62-6774-4228-96EA-F8324064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解析示意 / 数学示意 · 无模型实测</a:t>
            </a:r>
          </a:p>
        </p:txBody>
      </p:sp>
      <p:sp>
        <p:nvSpPr>
          <p:cNvPr id="5" name="e005_26 / 36">
            <a:extLst xmlns:a="http://schemas.openxmlformats.org/drawingml/2006/main">
              <a:ext uri="{FF2B5EF4-FFF2-40B4-BE49-F238E27FC236}">
                <a16:creationId xmlns:a16="http://schemas.microsoft.com/office/drawing/2014/main" id="{9018D48C-08B8-445E-B35D-9D887AB7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26 / 36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981D74CA-840E-4C2F-9FEC-87F50046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333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7" name="e007_问题：x² = 4">
            <a:extLst xmlns:a="http://schemas.openxmlformats.org/drawingml/2006/main">
              <a:ext uri="{FF2B5EF4-FFF2-40B4-BE49-F238E27FC236}">
                <a16:creationId xmlns:a16="http://schemas.microsoft.com/office/drawing/2014/main" id="{66C4E237-F7E3-4D58-B69A-0D1F9A29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00375"/>
            <a:ext cx="3048000" cy="503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问题：x² = 4</a:t>
            </a:r>
          </a:p>
        </p:txBody>
      </p:sp>
      <p:sp>
        <p:nvSpPr>
          <p:cNvPr id="8" name="e008_保留全部解的关系">
            <a:extLst xmlns:a="http://schemas.openxmlformats.org/drawingml/2006/main">
              <a:ext uri="{FF2B5EF4-FFF2-40B4-BE49-F238E27FC236}">
                <a16:creationId xmlns:a16="http://schemas.microsoft.com/office/drawing/2014/main" id="{A022E72F-039B-4296-9F59-ECEC8B26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17106"/>
            <a:ext cx="304800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保留全部解的关系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F481416B-FC6B-4AE1-AE1F-5B4CF32E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1619250" cy="1000125"/>
          </a:xfrm>
          <a:custGeom xmlns:a="http://schemas.openxmlformats.org/drawingml/2006/main">
            <a:pathLst>
              <a:path w="1619250" h="1000125">
                <a:moveTo>
                  <a:pt x="0" y="1000125"/>
                </a:moveTo>
                <a:lnTo>
                  <a:pt x="1619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9593F771-4AA7-4688-B3CA-09182E94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2727" y="2524125"/>
            <a:ext cx="122273" cy="100583"/>
          </a:xfrm>
          <a:custGeom xmlns:a="http://schemas.openxmlformats.org/drawingml/2006/main">
            <a:pathLst>
              <a:path w="122273" h="100583">
                <a:moveTo>
                  <a:pt x="0" y="19545"/>
                </a:moveTo>
                <a:lnTo>
                  <a:pt x="122273" y="0"/>
                </a:lnTo>
                <a:lnTo>
                  <a:pt x="50053" y="10058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11" name="e011_polyline">
            <a:extLst xmlns:a="http://schemas.openxmlformats.org/drawingml/2006/main">
              <a:ext uri="{FF2B5EF4-FFF2-40B4-BE49-F238E27FC236}">
                <a16:creationId xmlns:a16="http://schemas.microsoft.com/office/drawing/2014/main" id="{F1BF709F-0D1A-4BDF-8EB4-9093B542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1619250" cy="1047750"/>
          </a:xfrm>
          <a:custGeom xmlns:a="http://schemas.openxmlformats.org/drawingml/2006/main">
            <a:pathLst>
              <a:path w="1619250" h="1047750">
                <a:moveTo>
                  <a:pt x="0" y="0"/>
                </a:moveTo>
                <a:lnTo>
                  <a:pt x="1619250" y="1047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C5138"/>
            </a:solidFill>
            <a:prstDash val="solid"/>
          </a:ln>
        </p:spPr>
      </p:sp>
      <p:sp>
        <p:nvSpPr>
          <p:cNvPr id="12" name="e012_polyline">
            <a:extLst xmlns:a="http://schemas.openxmlformats.org/drawingml/2006/main">
              <a:ext uri="{FF2B5EF4-FFF2-40B4-BE49-F238E27FC236}">
                <a16:creationId xmlns:a16="http://schemas.microsoft.com/office/drawing/2014/main" id="{3FDDE3BF-BAF0-4E66-A589-4999AF04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165" y="4565172"/>
            <a:ext cx="121835" cy="102078"/>
          </a:xfrm>
          <a:custGeom xmlns:a="http://schemas.openxmlformats.org/drawingml/2006/main">
            <a:pathLst>
              <a:path w="121835" h="102078">
                <a:moveTo>
                  <a:pt x="51745" y="0"/>
                </a:moveTo>
                <a:lnTo>
                  <a:pt x="121835" y="102078"/>
                </a:lnTo>
                <a:lnTo>
                  <a:pt x="0" y="799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C5138"/>
            </a:solidFill>
            <a:prstDash val="solid"/>
          </a:ln>
        </p:spPr>
      </p:sp>
      <p:sp>
        <p:nvSpPr>
          <p:cNvPr id="13" name="e013_x = +2">
            <a:extLst xmlns:a="http://schemas.openxmlformats.org/drawingml/2006/main">
              <a:ext uri="{FF2B5EF4-FFF2-40B4-BE49-F238E27FC236}">
                <a16:creationId xmlns:a16="http://schemas.microsoft.com/office/drawing/2014/main" id="{631764F2-FA6D-4F2B-8B68-7681C88D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762500" cy="653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6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6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6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6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6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6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6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6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6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6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x = +2</a:t>
            </a:r>
          </a:p>
        </p:txBody>
      </p:sp>
      <p:sp>
        <p:nvSpPr>
          <p:cNvPr id="14" name="e014_x = −2">
            <a:extLst xmlns:a="http://schemas.openxmlformats.org/drawingml/2006/main">
              <a:ext uri="{FF2B5EF4-FFF2-40B4-BE49-F238E27FC236}">
                <a16:creationId xmlns:a16="http://schemas.microsoft.com/office/drawing/2014/main" id="{272DFCC2-CAF3-4AF0-AD03-1D2BD9AD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4762500" cy="653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6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6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6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6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6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6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6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6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6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6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x = −2</a:t>
            </a:r>
          </a:p>
        </p:txBody>
      </p:sp>
      <p:sp>
        <p:nvSpPr>
          <p:cNvPr id="15" name="e015_只保留 +2 会丢解">
            <a:extLst xmlns:a="http://schemas.openxmlformats.org/drawingml/2006/main">
              <a:ext uri="{FF2B5EF4-FFF2-40B4-BE49-F238E27FC236}">
                <a16:creationId xmlns:a16="http://schemas.microsoft.com/office/drawing/2014/main" id="{47257CC9-920C-47C0-887D-D4114CF4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9925"/>
            <a:ext cx="476250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rPr>
              <a:t>只保留 +2 会丢解</a:t>
            </a:r>
          </a:p>
        </p:txBody>
      </p:sp>
      <p:sp>
        <p:nvSpPr>
          <p:cNvPr id="16" name="e016_每条变换明确：保持全部解、保持部分解，或仅作启发">
            <a:extLst xmlns:a="http://schemas.openxmlformats.org/drawingml/2006/main">
              <a:ext uri="{FF2B5EF4-FFF2-40B4-BE49-F238E27FC236}">
                <a16:creationId xmlns:a16="http://schemas.microsoft.com/office/drawing/2014/main" id="{DEE3DE99-13D5-49AC-87E2-C5F047D2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每条变换明确：保持全部解、保持部分解，或仅作启发</a:t>
            </a:r>
          </a:p>
        </p:txBody>
      </p:sp>
    </p:spTree>
    <p:extLst>
      <p:ext uri="{BB962C8B-B14F-4D97-AF65-F5344CB8AC3E}">
        <p14:creationId xmlns:p14="http://schemas.microsoft.com/office/powerpoint/2010/main" val="13994209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001_H30：类比是可以执行的映射">
            <a:extLst xmlns:a="http://schemas.openxmlformats.org/drawingml/2006/main">
              <a:ext uri="{FF2B5EF4-FFF2-40B4-BE49-F238E27FC236}">
                <a16:creationId xmlns:a16="http://schemas.microsoft.com/office/drawing/2014/main" id="{F3A1FEE7-B54F-492E-A447-FB63ACCF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H30：类比是可以执行的映射</a:t>
            </a:r>
          </a:p>
        </p:txBody>
      </p:sp>
      <p:sp>
        <p:nvSpPr>
          <p:cNvPr id="2" name="e002_把做法搬过去，而非只说看起来像">
            <a:extLst xmlns:a="http://schemas.openxmlformats.org/drawingml/2006/main">
              <a:ext uri="{FF2B5EF4-FFF2-40B4-BE49-F238E27FC236}">
                <a16:creationId xmlns:a16="http://schemas.microsoft.com/office/drawing/2014/main" id="{2B0B191D-A783-47AF-A942-C893D84E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把做法搬过去，而非只说看起来像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43245242-5634-4801-9CFA-1A3FB7A5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解析示意 / 数学示意 · 无模型实测">
            <a:extLst xmlns:a="http://schemas.openxmlformats.org/drawingml/2006/main">
              <a:ext uri="{FF2B5EF4-FFF2-40B4-BE49-F238E27FC236}">
                <a16:creationId xmlns:a16="http://schemas.microsoft.com/office/drawing/2014/main" id="{6307FA73-79A1-470D-B456-B280A76B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解析示意 / 数学示意 · 无模型实测</a:t>
            </a:r>
          </a:p>
        </p:txBody>
      </p:sp>
      <p:sp>
        <p:nvSpPr>
          <p:cNvPr id="5" name="e005_27 / 36">
            <a:extLst xmlns:a="http://schemas.openxmlformats.org/drawingml/2006/main">
              <a:ext uri="{FF2B5EF4-FFF2-40B4-BE49-F238E27FC236}">
                <a16:creationId xmlns:a16="http://schemas.microsoft.com/office/drawing/2014/main" id="{4D235DB3-7AC3-4D95-9EA7-95410D3A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27 / 36</a:t>
            </a:r>
          </a:p>
        </p:txBody>
      </p:sp>
      <p:sp>
        <p:nvSpPr>
          <p:cNvPr id="6" name="e006_x">
            <a:extLst xmlns:a="http://schemas.openxmlformats.org/drawingml/2006/main">
              <a:ext uri="{FF2B5EF4-FFF2-40B4-BE49-F238E27FC236}">
                <a16:creationId xmlns:a16="http://schemas.microsoft.com/office/drawing/2014/main" id="{18933EB0-3696-4855-B11E-57C841DA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2381250" cy="572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x</a:t>
            </a:r>
          </a:p>
        </p:txBody>
      </p:sp>
      <p:sp>
        <p:nvSpPr>
          <p:cNvPr id="7" name="e007_x + 1">
            <a:extLst xmlns:a="http://schemas.openxmlformats.org/drawingml/2006/main">
              <a:ext uri="{FF2B5EF4-FFF2-40B4-BE49-F238E27FC236}">
                <a16:creationId xmlns:a16="http://schemas.microsoft.com/office/drawing/2014/main" id="{6E068884-3090-4B73-B5C2-8213C6ED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24125"/>
            <a:ext cx="2381250" cy="572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x + 1</a:t>
            </a:r>
          </a:p>
        </p:txBody>
      </p:sp>
      <p:sp>
        <p:nvSpPr>
          <p:cNvPr id="8" name="e008_2x">
            <a:extLst xmlns:a="http://schemas.openxmlformats.org/drawingml/2006/main">
              <a:ext uri="{FF2B5EF4-FFF2-40B4-BE49-F238E27FC236}">
                <a16:creationId xmlns:a16="http://schemas.microsoft.com/office/drawing/2014/main" id="{5EEE0DF1-3632-4222-8A1D-F2B400D3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381250" cy="572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31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31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31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31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31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31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31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31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31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31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2x</a:t>
            </a:r>
          </a:p>
        </p:txBody>
      </p:sp>
      <p:sp>
        <p:nvSpPr>
          <p:cNvPr id="9" name="e009_2x + 2">
            <a:extLst xmlns:a="http://schemas.openxmlformats.org/drawingml/2006/main">
              <a:ext uri="{FF2B5EF4-FFF2-40B4-BE49-F238E27FC236}">
                <a16:creationId xmlns:a16="http://schemas.microsoft.com/office/drawing/2014/main" id="{C5E07BAD-10C4-4E07-B5D6-5B1A3B54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375"/>
            <a:ext cx="2381250" cy="572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31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31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31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31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31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31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31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31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31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31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2x + 2</a:t>
            </a:r>
          </a:p>
        </p:txBody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822AC1F2-6A39-436A-958F-C06DF4DA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4476750" cy="95"/>
          </a:xfrm>
          <a:custGeom xmlns:a="http://schemas.openxmlformats.org/drawingml/2006/main">
            <a:pathLst>
              <a:path w="4476750" h="95">
                <a:moveTo>
                  <a:pt x="0" y="0"/>
                </a:moveTo>
                <a:lnTo>
                  <a:pt x="447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11" name="e011_polyline">
            <a:extLst xmlns:a="http://schemas.openxmlformats.org/drawingml/2006/main">
              <a:ext uri="{FF2B5EF4-FFF2-40B4-BE49-F238E27FC236}">
                <a16:creationId xmlns:a16="http://schemas.microsoft.com/office/drawing/2014/main" id="{A06E1E37-882D-4D99-988F-83A78CDC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098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12" name="e012_源操作 +1">
            <a:extLst xmlns:a="http://schemas.openxmlformats.org/drawingml/2006/main">
              <a:ext uri="{FF2B5EF4-FFF2-40B4-BE49-F238E27FC236}">
                <a16:creationId xmlns:a16="http://schemas.microsoft.com/office/drawing/2014/main" id="{DBD03ECA-498A-4661-A314-FA680EB5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2286000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源操作 +1</a:t>
            </a:r>
          </a:p>
        </p:txBody>
      </p:sp>
      <p:sp>
        <p:nvSpPr>
          <p:cNvPr id="13" name="e013_polyline">
            <a:extLst xmlns:a="http://schemas.openxmlformats.org/drawingml/2006/main">
              <a:ext uri="{FF2B5EF4-FFF2-40B4-BE49-F238E27FC236}">
                <a16:creationId xmlns:a16="http://schemas.microsoft.com/office/drawing/2014/main" id="{3F929DCC-2B40-4456-8A38-AA222654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57750"/>
            <a:ext cx="4476750" cy="95"/>
          </a:xfrm>
          <a:custGeom xmlns:a="http://schemas.openxmlformats.org/drawingml/2006/main">
            <a:pathLst>
              <a:path w="4476750" h="95">
                <a:moveTo>
                  <a:pt x="0" y="0"/>
                </a:moveTo>
                <a:lnTo>
                  <a:pt x="447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C5138"/>
            </a:solidFill>
            <a:prstDash val="solid"/>
          </a:ln>
        </p:spPr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387924B2-25AD-46ED-AC35-10F44ADE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1012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C5138"/>
            </a:solidFill>
            <a:prstDash val="solid"/>
          </a:ln>
        </p:spPr>
      </p:sp>
      <p:sp>
        <p:nvSpPr>
          <p:cNvPr id="15" name="e015_目标操作 +2">
            <a:extLst xmlns:a="http://schemas.openxmlformats.org/drawingml/2006/main">
              <a:ext uri="{FF2B5EF4-FFF2-40B4-BE49-F238E27FC236}">
                <a16:creationId xmlns:a16="http://schemas.microsoft.com/office/drawing/2014/main" id="{BB74BF55-DA2E-4F00-ADAF-C3E383B3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05300"/>
            <a:ext cx="2286000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目标操作 +2</a:t>
            </a:r>
          </a:p>
        </p:txBody>
      </p:sp>
      <p:sp>
        <p:nvSpPr>
          <p:cNvPr id="16" name="e016_polyline">
            <a:extLst xmlns:a="http://schemas.openxmlformats.org/drawingml/2006/main">
              <a:ext uri="{FF2B5EF4-FFF2-40B4-BE49-F238E27FC236}">
                <a16:creationId xmlns:a16="http://schemas.microsoft.com/office/drawing/2014/main" id="{7389B134-0721-4E12-889B-04332FAD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19450"/>
            <a:ext cx="95" cy="1114425"/>
          </a:xfrm>
          <a:custGeom xmlns:a="http://schemas.openxmlformats.org/drawingml/2006/main">
            <a:pathLst>
              <a:path w="95" h="1114425">
                <a:moveTo>
                  <a:pt x="0" y="0"/>
                </a:moveTo>
                <a:lnTo>
                  <a:pt x="0" y="11144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96974"/>
            </a:solidFill>
            <a:prstDash val="solid"/>
          </a:ln>
        </p:spPr>
      </p:sp>
      <p:sp>
        <p:nvSpPr>
          <p:cNvPr id="17" name="e017_polyline">
            <a:extLst xmlns:a="http://schemas.openxmlformats.org/drawingml/2006/main">
              <a:ext uri="{FF2B5EF4-FFF2-40B4-BE49-F238E27FC236}">
                <a16:creationId xmlns:a16="http://schemas.microsoft.com/office/drawing/2014/main" id="{D30326BF-9F05-4AE1-8075-C6B60C20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19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95250" y="0"/>
                </a:moveTo>
                <a:lnTo>
                  <a:pt x="47625" y="1143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96974"/>
            </a:solidFill>
            <a:prstDash val="solid"/>
          </a:ln>
        </p:spPr>
      </p:sp>
      <p:sp>
        <p:nvSpPr>
          <p:cNvPr id="18" name="e018_f(x) = 2x">
            <a:extLst xmlns:a="http://schemas.openxmlformats.org/drawingml/2006/main">
              <a:ext uri="{FF2B5EF4-FFF2-40B4-BE49-F238E27FC236}">
                <a16:creationId xmlns:a16="http://schemas.microsoft.com/office/drawing/2014/main" id="{630FFAF2-9D30-4F68-88B7-1D80D580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619250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f(x) = 2x</a:t>
            </a:r>
          </a:p>
        </p:txBody>
      </p:sp>
      <p:sp>
        <p:nvSpPr>
          <p:cNvPr id="19" name="e019_polyline">
            <a:extLst xmlns:a="http://schemas.openxmlformats.org/drawingml/2006/main">
              <a:ext uri="{FF2B5EF4-FFF2-40B4-BE49-F238E27FC236}">
                <a16:creationId xmlns:a16="http://schemas.microsoft.com/office/drawing/2014/main" id="{261769E5-A47B-4B2E-A3EA-1686768B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19450"/>
            <a:ext cx="95" cy="1114425"/>
          </a:xfrm>
          <a:custGeom xmlns:a="http://schemas.openxmlformats.org/drawingml/2006/main">
            <a:pathLst>
              <a:path w="95" h="1114425">
                <a:moveTo>
                  <a:pt x="0" y="0"/>
                </a:moveTo>
                <a:lnTo>
                  <a:pt x="0" y="11144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96974"/>
            </a:solidFill>
            <a:prstDash val="solid"/>
          </a:ln>
        </p:spPr>
      </p:sp>
      <p:sp>
        <p:nvSpPr>
          <p:cNvPr id="20" name="e020_polyline">
            <a:extLst xmlns:a="http://schemas.openxmlformats.org/drawingml/2006/main">
              <a:ext uri="{FF2B5EF4-FFF2-40B4-BE49-F238E27FC236}">
                <a16:creationId xmlns:a16="http://schemas.microsoft.com/office/drawing/2014/main" id="{BC4F1D7D-8760-43D8-9E37-897F160A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19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95250" y="0"/>
                </a:moveTo>
                <a:lnTo>
                  <a:pt x="47625" y="1143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96974"/>
            </a:solidFill>
            <a:prstDash val="solid"/>
          </a:ln>
        </p:spPr>
      </p:sp>
      <p:sp>
        <p:nvSpPr>
          <p:cNvPr id="21" name="e021_映射对象与操作，并检查复合关系；只像外观不足以构成可执行类比">
            <a:extLst xmlns:a="http://schemas.openxmlformats.org/drawingml/2006/main">
              <a:ext uri="{FF2B5EF4-FFF2-40B4-BE49-F238E27FC236}">
                <a16:creationId xmlns:a16="http://schemas.microsoft.com/office/drawing/2014/main" id="{02D86CC8-C459-4C8A-AF56-CAB6E54E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映射对象与操作，并检查复合关系；只像外观不足以构成可执行类比</a:t>
            </a:r>
          </a:p>
        </p:txBody>
      </p:sp>
    </p:spTree>
    <p:extLst>
      <p:ext uri="{BB962C8B-B14F-4D97-AF65-F5344CB8AC3E}">
        <p14:creationId xmlns:p14="http://schemas.microsoft.com/office/powerpoint/2010/main" val="69190003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001_H33与H34：思想可能在轨迹里">
            <a:extLst xmlns:a="http://schemas.openxmlformats.org/drawingml/2006/main">
              <a:ext uri="{FF2B5EF4-FFF2-40B4-BE49-F238E27FC236}">
                <a16:creationId xmlns:a16="http://schemas.microsoft.com/office/drawing/2014/main" id="{4AE657FB-8EF0-4A14-A363-800E2F37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H33与H34：思想可能在轨迹里</a:t>
            </a:r>
          </a:p>
        </p:txBody>
      </p:sp>
      <p:sp>
        <p:nvSpPr>
          <p:cNvPr id="2" name="e002_终点不是唯一的读出对象">
            <a:extLst xmlns:a="http://schemas.openxmlformats.org/drawingml/2006/main">
              <a:ext uri="{FF2B5EF4-FFF2-40B4-BE49-F238E27FC236}">
                <a16:creationId xmlns:a16="http://schemas.microsoft.com/office/drawing/2014/main" id="{3E084F76-5C9F-430E-AD93-A4CCF61B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终点不是唯一的读出对象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4B34B9E3-9620-42B6-A53F-636C71AC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解析示意 / 数学示意 · 无模型实测">
            <a:extLst xmlns:a="http://schemas.openxmlformats.org/drawingml/2006/main">
              <a:ext uri="{FF2B5EF4-FFF2-40B4-BE49-F238E27FC236}">
                <a16:creationId xmlns:a16="http://schemas.microsoft.com/office/drawing/2014/main" id="{34734357-AF80-43F7-B265-397DC246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解析示意 / 数学示意 · 无模型实测</a:t>
            </a:r>
          </a:p>
        </p:txBody>
      </p:sp>
      <p:sp>
        <p:nvSpPr>
          <p:cNvPr id="5" name="e005_28 / 36">
            <a:extLst xmlns:a="http://schemas.openxmlformats.org/drawingml/2006/main">
              <a:ext uri="{FF2B5EF4-FFF2-40B4-BE49-F238E27FC236}">
                <a16:creationId xmlns:a16="http://schemas.microsoft.com/office/drawing/2014/main" id="{5FE2072E-5C7A-4D96-AAF2-CC2B87D8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28 / 36</a:t>
            </a:r>
          </a:p>
        </p:txBody>
      </p:sp>
      <p:sp>
        <p:nvSpPr>
          <p:cNvPr id="6" name="e006_polyline">
            <a:extLst xmlns:a="http://schemas.openxmlformats.org/drawingml/2006/main">
              <a:ext uri="{FF2B5EF4-FFF2-40B4-BE49-F238E27FC236}">
                <a16:creationId xmlns:a16="http://schemas.microsoft.com/office/drawing/2014/main" id="{89C97EB2-AD75-46EC-B298-D38A4199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409825"/>
            <a:ext cx="2324100" cy="2324100"/>
          </a:xfrm>
          <a:custGeom xmlns:a="http://schemas.openxmlformats.org/drawingml/2006/main">
            <a:pathLst>
              <a:path w="2324100" h="2324100">
                <a:moveTo>
                  <a:pt x="2324100" y="1162050"/>
                </a:moveTo>
                <a:lnTo>
                  <a:pt x="2317734" y="1283517"/>
                </a:lnTo>
                <a:lnTo>
                  <a:pt x="2298706" y="1403654"/>
                </a:lnTo>
                <a:lnTo>
                  <a:pt x="2267225" y="1521143"/>
                </a:lnTo>
                <a:lnTo>
                  <a:pt x="2223635" y="1634698"/>
                </a:lnTo>
                <a:lnTo>
                  <a:pt x="2168415" y="1743075"/>
                </a:lnTo>
                <a:lnTo>
                  <a:pt x="2102168" y="1845086"/>
                </a:lnTo>
                <a:lnTo>
                  <a:pt x="2025621" y="1939613"/>
                </a:lnTo>
                <a:lnTo>
                  <a:pt x="1939613" y="2025621"/>
                </a:lnTo>
                <a:lnTo>
                  <a:pt x="1845086" y="2102168"/>
                </a:lnTo>
                <a:lnTo>
                  <a:pt x="1743075" y="2168415"/>
                </a:lnTo>
                <a:lnTo>
                  <a:pt x="1634698" y="2223635"/>
                </a:lnTo>
                <a:lnTo>
                  <a:pt x="1521143" y="2267225"/>
                </a:lnTo>
                <a:lnTo>
                  <a:pt x="1403654" y="2298706"/>
                </a:lnTo>
                <a:lnTo>
                  <a:pt x="1283517" y="2317734"/>
                </a:lnTo>
                <a:lnTo>
                  <a:pt x="1162050" y="2324100"/>
                </a:lnTo>
                <a:lnTo>
                  <a:pt x="1040583" y="2317734"/>
                </a:lnTo>
                <a:lnTo>
                  <a:pt x="920446" y="2298706"/>
                </a:lnTo>
                <a:lnTo>
                  <a:pt x="802957" y="2267225"/>
                </a:lnTo>
                <a:lnTo>
                  <a:pt x="689402" y="2223635"/>
                </a:lnTo>
                <a:lnTo>
                  <a:pt x="581025" y="2168415"/>
                </a:lnTo>
                <a:lnTo>
                  <a:pt x="479014" y="2102168"/>
                </a:lnTo>
                <a:lnTo>
                  <a:pt x="384487" y="2025621"/>
                </a:lnTo>
                <a:lnTo>
                  <a:pt x="298479" y="1939613"/>
                </a:lnTo>
                <a:lnTo>
                  <a:pt x="221932" y="1845086"/>
                </a:lnTo>
                <a:lnTo>
                  <a:pt x="155685" y="1743075"/>
                </a:lnTo>
                <a:lnTo>
                  <a:pt x="100465" y="1634698"/>
                </a:lnTo>
                <a:lnTo>
                  <a:pt x="56875" y="1521143"/>
                </a:lnTo>
                <a:lnTo>
                  <a:pt x="25394" y="1403654"/>
                </a:lnTo>
                <a:lnTo>
                  <a:pt x="6366" y="1283517"/>
                </a:lnTo>
                <a:lnTo>
                  <a:pt x="0" y="1162050"/>
                </a:lnTo>
                <a:lnTo>
                  <a:pt x="6366" y="1040583"/>
                </a:lnTo>
                <a:lnTo>
                  <a:pt x="25394" y="920446"/>
                </a:lnTo>
                <a:lnTo>
                  <a:pt x="56875" y="802957"/>
                </a:lnTo>
                <a:lnTo>
                  <a:pt x="100465" y="689402"/>
                </a:lnTo>
                <a:lnTo>
                  <a:pt x="155685" y="581025"/>
                </a:lnTo>
                <a:lnTo>
                  <a:pt x="221932" y="479014"/>
                </a:lnTo>
                <a:lnTo>
                  <a:pt x="298479" y="384487"/>
                </a:lnTo>
                <a:lnTo>
                  <a:pt x="384487" y="298479"/>
                </a:lnTo>
                <a:lnTo>
                  <a:pt x="479014" y="221932"/>
                </a:lnTo>
                <a:lnTo>
                  <a:pt x="581025" y="155685"/>
                </a:lnTo>
                <a:lnTo>
                  <a:pt x="689402" y="100465"/>
                </a:lnTo>
                <a:lnTo>
                  <a:pt x="802957" y="56875"/>
                </a:lnTo>
                <a:lnTo>
                  <a:pt x="920446" y="25394"/>
                </a:lnTo>
                <a:lnTo>
                  <a:pt x="1040583" y="6366"/>
                </a:lnTo>
                <a:lnTo>
                  <a:pt x="1162050" y="0"/>
                </a:lnTo>
                <a:lnTo>
                  <a:pt x="1283517" y="6366"/>
                </a:lnTo>
                <a:lnTo>
                  <a:pt x="1403654" y="25394"/>
                </a:lnTo>
                <a:lnTo>
                  <a:pt x="1521143" y="56875"/>
                </a:lnTo>
                <a:lnTo>
                  <a:pt x="1634698" y="100465"/>
                </a:lnTo>
                <a:lnTo>
                  <a:pt x="1743075" y="155685"/>
                </a:lnTo>
                <a:lnTo>
                  <a:pt x="1845086" y="221932"/>
                </a:lnTo>
                <a:lnTo>
                  <a:pt x="1939613" y="298479"/>
                </a:lnTo>
                <a:lnTo>
                  <a:pt x="2025621" y="384487"/>
                </a:lnTo>
                <a:lnTo>
                  <a:pt x="2102168" y="479014"/>
                </a:lnTo>
                <a:lnTo>
                  <a:pt x="2168415" y="581025"/>
                </a:lnTo>
                <a:lnTo>
                  <a:pt x="2223635" y="689402"/>
                </a:lnTo>
                <a:lnTo>
                  <a:pt x="2267225" y="802957"/>
                </a:lnTo>
                <a:lnTo>
                  <a:pt x="2298706" y="920446"/>
                </a:lnTo>
                <a:lnTo>
                  <a:pt x="2317734" y="1040583"/>
                </a:lnTo>
                <a:lnTo>
                  <a:pt x="2324100" y="11620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536647"/>
            </a:solidFill>
            <a:prstDash val="solid"/>
          </a:ln>
        </p:spPr>
      </p:sp>
      <p:sp>
        <p:nvSpPr>
          <p:cNvPr id="7" name="e007_ellipse">
            <a:extLst xmlns:a="http://schemas.openxmlformats.org/drawingml/2006/main">
              <a:ext uri="{FF2B5EF4-FFF2-40B4-BE49-F238E27FC236}">
                <a16:creationId xmlns:a16="http://schemas.microsoft.com/office/drawing/2014/main" id="{D51DAE5F-D0F1-4159-8397-2E117E73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86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6647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8" name="e008_相位 / 顺序 / 事件读出">
            <a:extLst xmlns:a="http://schemas.openxmlformats.org/drawingml/2006/main">
              <a:ext uri="{FF2B5EF4-FFF2-40B4-BE49-F238E27FC236}">
                <a16:creationId xmlns:a16="http://schemas.microsoft.com/office/drawing/2014/main" id="{E0377053-30AF-4327-BC8C-4926B736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95875"/>
            <a:ext cx="4381500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相位 / 顺序 / 事件读出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10CC92B2-039C-43E9-8ED3-79FE6BE7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80861"/>
            <a:ext cx="3714750" cy="1492902"/>
          </a:xfrm>
          <a:custGeom xmlns:a="http://schemas.openxmlformats.org/drawingml/2006/main">
            <a:pathLst>
              <a:path w="3714750" h="1492902">
                <a:moveTo>
                  <a:pt x="0" y="1491139"/>
                </a:moveTo>
                <a:lnTo>
                  <a:pt x="61913" y="1492252"/>
                </a:lnTo>
                <a:lnTo>
                  <a:pt x="123825" y="1492902"/>
                </a:lnTo>
                <a:lnTo>
                  <a:pt x="185738" y="1492632"/>
                </a:lnTo>
                <a:lnTo>
                  <a:pt x="247650" y="1491002"/>
                </a:lnTo>
                <a:lnTo>
                  <a:pt x="309563" y="1487590"/>
                </a:lnTo>
                <a:lnTo>
                  <a:pt x="371475" y="1482004"/>
                </a:lnTo>
                <a:lnTo>
                  <a:pt x="433388" y="1473885"/>
                </a:lnTo>
                <a:lnTo>
                  <a:pt x="495300" y="1462914"/>
                </a:lnTo>
                <a:lnTo>
                  <a:pt x="557213" y="1448816"/>
                </a:lnTo>
                <a:lnTo>
                  <a:pt x="619125" y="1431366"/>
                </a:lnTo>
                <a:lnTo>
                  <a:pt x="681038" y="1410389"/>
                </a:lnTo>
                <a:lnTo>
                  <a:pt x="742950" y="1385767"/>
                </a:lnTo>
                <a:lnTo>
                  <a:pt x="804863" y="1357439"/>
                </a:lnTo>
                <a:lnTo>
                  <a:pt x="866775" y="1325400"/>
                </a:lnTo>
                <a:lnTo>
                  <a:pt x="928688" y="1289705"/>
                </a:lnTo>
                <a:lnTo>
                  <a:pt x="990600" y="1250465"/>
                </a:lnTo>
                <a:lnTo>
                  <a:pt x="1052513" y="1207846"/>
                </a:lnTo>
                <a:lnTo>
                  <a:pt x="1114425" y="1162067"/>
                </a:lnTo>
                <a:lnTo>
                  <a:pt x="1176338" y="1113398"/>
                </a:lnTo>
                <a:lnTo>
                  <a:pt x="1238250" y="1062150"/>
                </a:lnTo>
                <a:lnTo>
                  <a:pt x="1300163" y="1008679"/>
                </a:lnTo>
                <a:lnTo>
                  <a:pt x="1362075" y="953372"/>
                </a:lnTo>
                <a:lnTo>
                  <a:pt x="1423988" y="896647"/>
                </a:lnTo>
                <a:lnTo>
                  <a:pt x="1485900" y="838943"/>
                </a:lnTo>
                <a:lnTo>
                  <a:pt x="1547813" y="780715"/>
                </a:lnTo>
                <a:lnTo>
                  <a:pt x="1609725" y="722425"/>
                </a:lnTo>
                <a:lnTo>
                  <a:pt x="1671638" y="664537"/>
                </a:lnTo>
                <a:lnTo>
                  <a:pt x="1733550" y="607508"/>
                </a:lnTo>
                <a:lnTo>
                  <a:pt x="1795463" y="551784"/>
                </a:lnTo>
                <a:lnTo>
                  <a:pt x="1857375" y="497786"/>
                </a:lnTo>
                <a:lnTo>
                  <a:pt x="1919288" y="445912"/>
                </a:lnTo>
                <a:lnTo>
                  <a:pt x="1981200" y="396525"/>
                </a:lnTo>
                <a:lnTo>
                  <a:pt x="2043113" y="349951"/>
                </a:lnTo>
                <a:lnTo>
                  <a:pt x="2105025" y="306469"/>
                </a:lnTo>
                <a:lnTo>
                  <a:pt x="2166938" y="266314"/>
                </a:lnTo>
                <a:lnTo>
                  <a:pt x="2228850" y="229664"/>
                </a:lnTo>
                <a:lnTo>
                  <a:pt x="2290763" y="196647"/>
                </a:lnTo>
                <a:lnTo>
                  <a:pt x="2352675" y="167332"/>
                </a:lnTo>
                <a:lnTo>
                  <a:pt x="2414588" y="141730"/>
                </a:lnTo>
                <a:lnTo>
                  <a:pt x="2476500" y="119795"/>
                </a:lnTo>
                <a:lnTo>
                  <a:pt x="2538413" y="101423"/>
                </a:lnTo>
                <a:lnTo>
                  <a:pt x="2600325" y="86455"/>
                </a:lnTo>
                <a:lnTo>
                  <a:pt x="2662238" y="74679"/>
                </a:lnTo>
                <a:lnTo>
                  <a:pt x="2724150" y="65832"/>
                </a:lnTo>
                <a:lnTo>
                  <a:pt x="2786063" y="59607"/>
                </a:lnTo>
                <a:lnTo>
                  <a:pt x="2847975" y="55655"/>
                </a:lnTo>
                <a:lnTo>
                  <a:pt x="2909888" y="53591"/>
                </a:lnTo>
                <a:lnTo>
                  <a:pt x="2971800" y="53003"/>
                </a:lnTo>
                <a:lnTo>
                  <a:pt x="3033713" y="53453"/>
                </a:lnTo>
                <a:lnTo>
                  <a:pt x="3095625" y="54488"/>
                </a:lnTo>
                <a:lnTo>
                  <a:pt x="3157538" y="55646"/>
                </a:lnTo>
                <a:lnTo>
                  <a:pt x="3219450" y="56464"/>
                </a:lnTo>
                <a:lnTo>
                  <a:pt x="3281363" y="56483"/>
                </a:lnTo>
                <a:lnTo>
                  <a:pt x="3343275" y="55256"/>
                </a:lnTo>
                <a:lnTo>
                  <a:pt x="3405188" y="52356"/>
                </a:lnTo>
                <a:lnTo>
                  <a:pt x="3467100" y="47384"/>
                </a:lnTo>
                <a:lnTo>
                  <a:pt x="3529013" y="39970"/>
                </a:lnTo>
                <a:lnTo>
                  <a:pt x="3590925" y="29785"/>
                </a:lnTo>
                <a:lnTo>
                  <a:pt x="3652838" y="16541"/>
                </a:lnTo>
                <a:lnTo>
                  <a:pt x="3714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96974"/>
            </a:solidFill>
            <a:prstDash val="solid"/>
          </a:ln>
        </p:spPr>
      </p:sp>
      <p:sp>
        <p:nvSpPr>
          <p:cNvPr id="10" name="e010_ellipse">
            <a:extLst xmlns:a="http://schemas.openxmlformats.org/drawingml/2006/main">
              <a:ext uri="{FF2B5EF4-FFF2-40B4-BE49-F238E27FC236}">
                <a16:creationId xmlns:a16="http://schemas.microsoft.com/office/drawing/2014/main" id="{EC2E282F-5846-42A9-ACE9-A858B24E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95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974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11" name="e011_ellipse">
            <a:extLst xmlns:a="http://schemas.openxmlformats.org/drawingml/2006/main">
              <a:ext uri="{FF2B5EF4-FFF2-40B4-BE49-F238E27FC236}">
                <a16:creationId xmlns:a16="http://schemas.microsoft.com/office/drawing/2014/main" id="{A5C5A59E-E88E-4406-BF5D-E1AB90F4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004661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138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2" name="e012_双端约束，不偷用未来信息">
            <a:extLst xmlns:a="http://schemas.openxmlformats.org/drawingml/2006/main">
              <a:ext uri="{FF2B5EF4-FFF2-40B4-BE49-F238E27FC236}">
                <a16:creationId xmlns:a16="http://schemas.microsoft.com/office/drawing/2014/main" id="{E430CBB1-A3E1-4332-B614-022BDFEC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4762500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双端约束，不偷用未来信息</a:t>
            </a:r>
          </a:p>
        </p:txBody>
      </p:sp>
      <p:sp>
        <p:nvSpPr>
          <p:cNvPr id="13" name="e013_有界非收敛轨迹可有意义；数值发散仍是失败，而非更深的智能">
            <a:extLst xmlns:a="http://schemas.openxmlformats.org/drawingml/2006/main">
              <a:ext uri="{FF2B5EF4-FFF2-40B4-BE49-F238E27FC236}">
                <a16:creationId xmlns:a16="http://schemas.microsoft.com/office/drawing/2014/main" id="{8BBB39B0-F761-48F8-92A2-9CB20CE6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有界非收敛轨迹可有意义；数值发散仍是失败，而非更深的智能</a:t>
            </a:r>
          </a:p>
        </p:txBody>
      </p:sp>
    </p:spTree>
    <p:extLst>
      <p:ext uri="{BB962C8B-B14F-4D97-AF65-F5344CB8AC3E}">
        <p14:creationId xmlns:p14="http://schemas.microsoft.com/office/powerpoint/2010/main" val="96650586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001_H28：结构改变，而不只是参数改变">
            <a:extLst xmlns:a="http://schemas.openxmlformats.org/drawingml/2006/main">
              <a:ext uri="{FF2B5EF4-FFF2-40B4-BE49-F238E27FC236}">
                <a16:creationId xmlns:a16="http://schemas.microsoft.com/office/drawing/2014/main" id="{04ADD689-49EE-45D1-A2FF-522584F2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H28：结构改变，而不只是参数改变</a:t>
            </a:r>
          </a:p>
        </p:txBody>
      </p:sp>
      <p:sp>
        <p:nvSpPr>
          <p:cNvPr id="2" name="e002_一种表示可以分裂成几种有效结构">
            <a:extLst xmlns:a="http://schemas.openxmlformats.org/drawingml/2006/main">
              <a:ext uri="{FF2B5EF4-FFF2-40B4-BE49-F238E27FC236}">
                <a16:creationId xmlns:a16="http://schemas.microsoft.com/office/drawing/2014/main" id="{CDF8EA9C-B585-49E9-9497-8C732E36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一种表示可以分裂成几种有效结构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97C513BA-AF90-43DD-AB98-0551D5D9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解析示意 / 数学示意 · 无模型实测">
            <a:extLst xmlns:a="http://schemas.openxmlformats.org/drawingml/2006/main">
              <a:ext uri="{FF2B5EF4-FFF2-40B4-BE49-F238E27FC236}">
                <a16:creationId xmlns:a16="http://schemas.microsoft.com/office/drawing/2014/main" id="{A12A4664-1EFB-4902-92C3-9C1B2D44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解析示意 / 数学示意 · 无模型实测</a:t>
            </a:r>
          </a:p>
        </p:txBody>
      </p:sp>
      <p:sp>
        <p:nvSpPr>
          <p:cNvPr id="5" name="e005_29 / 36">
            <a:extLst xmlns:a="http://schemas.openxmlformats.org/drawingml/2006/main">
              <a:ext uri="{FF2B5EF4-FFF2-40B4-BE49-F238E27FC236}">
                <a16:creationId xmlns:a16="http://schemas.microsoft.com/office/drawing/2014/main" id="{DC9323DC-FA38-4BB6-823B-F30D7675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29 / 36</a:t>
            </a:r>
          </a:p>
        </p:txBody>
      </p:sp>
      <p:sp>
        <p:nvSpPr>
          <p:cNvPr id="6" name="e006_V(z) = z⁴/4 − αz²/2">
            <a:extLst xmlns:a="http://schemas.openxmlformats.org/drawingml/2006/main">
              <a:ext uri="{FF2B5EF4-FFF2-40B4-BE49-F238E27FC236}">
                <a16:creationId xmlns:a16="http://schemas.microsoft.com/office/drawing/2014/main" id="{B48D976B-6618-4D1E-B774-007610C8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517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8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8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8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8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8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8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8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8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8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8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V(z) = z⁴/4 − αz²/2</a:t>
            </a:r>
          </a:p>
        </p:txBody>
      </p:sp>
      <p:sp>
        <p:nvSpPr>
          <p:cNvPr id="7" name="e007_polyline">
            <a:extLst xmlns:a="http://schemas.openxmlformats.org/drawingml/2006/main">
              <a:ext uri="{FF2B5EF4-FFF2-40B4-BE49-F238E27FC236}">
                <a16:creationId xmlns:a16="http://schemas.microsoft.com/office/drawing/2014/main" id="{53F9C0FC-BA6C-4CD9-9E19-6E744DC8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3048000" cy="95"/>
          </a:xfrm>
          <a:custGeom xmlns:a="http://schemas.openxmlformats.org/drawingml/2006/main">
            <a:pathLst>
              <a:path w="3048000" h="9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8" name="e008_polyline">
            <a:extLst xmlns:a="http://schemas.openxmlformats.org/drawingml/2006/main">
              <a:ext uri="{FF2B5EF4-FFF2-40B4-BE49-F238E27FC236}">
                <a16:creationId xmlns:a16="http://schemas.microsoft.com/office/drawing/2014/main" id="{580253E3-D62B-4AED-9376-86221F8F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57500"/>
            <a:ext cx="95" cy="2238375"/>
          </a:xfrm>
          <a:custGeom xmlns:a="http://schemas.openxmlformats.org/drawingml/2006/main">
            <a:pathLst>
              <a:path w="95" h="2238375">
                <a:moveTo>
                  <a:pt x="0" y="0"/>
                </a:moveTo>
                <a:lnTo>
                  <a:pt x="0" y="22383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2445F5F4-6CC6-451F-B561-26DA7A67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3101"/>
            <a:ext cx="3048000" cy="1658899"/>
          </a:xfrm>
          <a:custGeom xmlns:a="http://schemas.openxmlformats.org/drawingml/2006/main">
            <a:pathLst>
              <a:path w="3048000" h="1658899">
                <a:moveTo>
                  <a:pt x="0" y="0"/>
                </a:moveTo>
                <a:lnTo>
                  <a:pt x="50800" y="157201"/>
                </a:lnTo>
                <a:lnTo>
                  <a:pt x="101600" y="302617"/>
                </a:lnTo>
                <a:lnTo>
                  <a:pt x="152400" y="436916"/>
                </a:lnTo>
                <a:lnTo>
                  <a:pt x="203200" y="560741"/>
                </a:lnTo>
                <a:lnTo>
                  <a:pt x="254000" y="674715"/>
                </a:lnTo>
                <a:lnTo>
                  <a:pt x="304800" y="779435"/>
                </a:lnTo>
                <a:lnTo>
                  <a:pt x="355600" y="875474"/>
                </a:lnTo>
                <a:lnTo>
                  <a:pt x="406400" y="963385"/>
                </a:lnTo>
                <a:lnTo>
                  <a:pt x="457200" y="1043693"/>
                </a:lnTo>
                <a:lnTo>
                  <a:pt x="508000" y="1116903"/>
                </a:lnTo>
                <a:lnTo>
                  <a:pt x="558800" y="1183495"/>
                </a:lnTo>
                <a:lnTo>
                  <a:pt x="609600" y="1243927"/>
                </a:lnTo>
                <a:lnTo>
                  <a:pt x="660400" y="1298631"/>
                </a:lnTo>
                <a:lnTo>
                  <a:pt x="711200" y="1348018"/>
                </a:lnTo>
                <a:lnTo>
                  <a:pt x="762000" y="1392475"/>
                </a:lnTo>
                <a:lnTo>
                  <a:pt x="812800" y="1432364"/>
                </a:lnTo>
                <a:lnTo>
                  <a:pt x="863600" y="1468026"/>
                </a:lnTo>
                <a:lnTo>
                  <a:pt x="914400" y="1499777"/>
                </a:lnTo>
                <a:lnTo>
                  <a:pt x="965200" y="1527910"/>
                </a:lnTo>
                <a:lnTo>
                  <a:pt x="1016000" y="1552694"/>
                </a:lnTo>
                <a:lnTo>
                  <a:pt x="1066800" y="1574376"/>
                </a:lnTo>
                <a:lnTo>
                  <a:pt x="1117600" y="1593178"/>
                </a:lnTo>
                <a:lnTo>
                  <a:pt x="1168400" y="1609299"/>
                </a:lnTo>
                <a:lnTo>
                  <a:pt x="1219200" y="1622915"/>
                </a:lnTo>
                <a:lnTo>
                  <a:pt x="1270000" y="1634179"/>
                </a:lnTo>
                <a:lnTo>
                  <a:pt x="1320800" y="1643219"/>
                </a:lnTo>
                <a:lnTo>
                  <a:pt x="1371600" y="1650141"/>
                </a:lnTo>
                <a:lnTo>
                  <a:pt x="1422400" y="1655026"/>
                </a:lnTo>
                <a:lnTo>
                  <a:pt x="1473200" y="1657934"/>
                </a:lnTo>
                <a:lnTo>
                  <a:pt x="1524000" y="1658899"/>
                </a:lnTo>
                <a:lnTo>
                  <a:pt x="1574800" y="1657934"/>
                </a:lnTo>
                <a:lnTo>
                  <a:pt x="1625600" y="1655026"/>
                </a:lnTo>
                <a:lnTo>
                  <a:pt x="1676400" y="1650141"/>
                </a:lnTo>
                <a:lnTo>
                  <a:pt x="1727200" y="1643219"/>
                </a:lnTo>
                <a:lnTo>
                  <a:pt x="1778000" y="1634179"/>
                </a:lnTo>
                <a:lnTo>
                  <a:pt x="1828800" y="1622915"/>
                </a:lnTo>
                <a:lnTo>
                  <a:pt x="1879600" y="1609299"/>
                </a:lnTo>
                <a:lnTo>
                  <a:pt x="1930400" y="1593178"/>
                </a:lnTo>
                <a:lnTo>
                  <a:pt x="1981200" y="1574376"/>
                </a:lnTo>
                <a:lnTo>
                  <a:pt x="2032000" y="1552694"/>
                </a:lnTo>
                <a:lnTo>
                  <a:pt x="2082800" y="1527910"/>
                </a:lnTo>
                <a:lnTo>
                  <a:pt x="2133600" y="1499777"/>
                </a:lnTo>
                <a:lnTo>
                  <a:pt x="2184400" y="1468026"/>
                </a:lnTo>
                <a:lnTo>
                  <a:pt x="2235200" y="1432364"/>
                </a:lnTo>
                <a:lnTo>
                  <a:pt x="2286000" y="1392475"/>
                </a:lnTo>
                <a:lnTo>
                  <a:pt x="2336800" y="1348018"/>
                </a:lnTo>
                <a:lnTo>
                  <a:pt x="2387600" y="1298631"/>
                </a:lnTo>
                <a:lnTo>
                  <a:pt x="2438400" y="1243927"/>
                </a:lnTo>
                <a:lnTo>
                  <a:pt x="2489200" y="1183495"/>
                </a:lnTo>
                <a:lnTo>
                  <a:pt x="2540000" y="1116903"/>
                </a:lnTo>
                <a:lnTo>
                  <a:pt x="2590800" y="1043693"/>
                </a:lnTo>
                <a:lnTo>
                  <a:pt x="2641600" y="963385"/>
                </a:lnTo>
                <a:lnTo>
                  <a:pt x="2692400" y="875474"/>
                </a:lnTo>
                <a:lnTo>
                  <a:pt x="2743200" y="779435"/>
                </a:lnTo>
                <a:lnTo>
                  <a:pt x="2794000" y="674715"/>
                </a:lnTo>
                <a:lnTo>
                  <a:pt x="2844800" y="560741"/>
                </a:lnTo>
                <a:lnTo>
                  <a:pt x="2895600" y="436916"/>
                </a:lnTo>
                <a:lnTo>
                  <a:pt x="2946400" y="302617"/>
                </a:lnTo>
                <a:lnTo>
                  <a:pt x="2997200" y="157201"/>
                </a:lnTo>
                <a:lnTo>
                  <a:pt x="304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96974"/>
            </a:solidFill>
            <a:prstDash val="solid"/>
          </a:ln>
        </p:spPr>
      </p:sp>
      <p:sp>
        <p:nvSpPr>
          <p:cNvPr id="10" name="e010_α = -1">
            <a:extLst xmlns:a="http://schemas.openxmlformats.org/drawingml/2006/main">
              <a:ext uri="{FF2B5EF4-FFF2-40B4-BE49-F238E27FC236}">
                <a16:creationId xmlns:a16="http://schemas.microsoft.com/office/drawing/2014/main" id="{B44A7C76-B9D2-409C-8C0B-B7BA82EA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048000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α = -1</a:t>
            </a:r>
          </a:p>
        </p:txBody>
      </p:sp>
      <p:sp>
        <p:nvSpPr>
          <p:cNvPr id="11" name="e011_z">
            <a:extLst xmlns:a="http://schemas.openxmlformats.org/drawingml/2006/main">
              <a:ext uri="{FF2B5EF4-FFF2-40B4-BE49-F238E27FC236}">
                <a16:creationId xmlns:a16="http://schemas.microsoft.com/office/drawing/2014/main" id="{A284ABF9-B067-4AA8-AC24-B4D4BF11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629150"/>
            <a:ext cx="285750" cy="29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z</a:t>
            </a:r>
          </a:p>
        </p:txBody>
      </p:sp>
      <p:sp>
        <p:nvSpPr>
          <p:cNvPr id="12" name="e012_V">
            <a:extLst xmlns:a="http://schemas.openxmlformats.org/drawingml/2006/main">
              <a:ext uri="{FF2B5EF4-FFF2-40B4-BE49-F238E27FC236}">
                <a16:creationId xmlns:a16="http://schemas.microsoft.com/office/drawing/2014/main" id="{5EE471D1-972D-4927-96BB-B80F463F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43200"/>
            <a:ext cx="285750" cy="29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V</a:t>
            </a:r>
          </a:p>
        </p:txBody>
      </p:sp>
      <p:sp>
        <p:nvSpPr>
          <p:cNvPr id="13" name="e013_polyline">
            <a:extLst xmlns:a="http://schemas.openxmlformats.org/drawingml/2006/main">
              <a:ext uri="{FF2B5EF4-FFF2-40B4-BE49-F238E27FC236}">
                <a16:creationId xmlns:a16="http://schemas.microsoft.com/office/drawing/2014/main" id="{4F48A294-3520-4EFC-AF57-CD482455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72000"/>
            <a:ext cx="3048000" cy="95"/>
          </a:xfrm>
          <a:custGeom xmlns:a="http://schemas.openxmlformats.org/drawingml/2006/main">
            <a:pathLst>
              <a:path w="3048000" h="9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10353494-8D13-4F99-9C73-46DB4681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95" cy="2238375"/>
          </a:xfrm>
          <a:custGeom xmlns:a="http://schemas.openxmlformats.org/drawingml/2006/main">
            <a:pathLst>
              <a:path w="95" h="2238375">
                <a:moveTo>
                  <a:pt x="0" y="0"/>
                </a:moveTo>
                <a:lnTo>
                  <a:pt x="0" y="22383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FFEC7E47-0511-4777-814C-D6E7BA7B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81066"/>
            <a:ext cx="3048000" cy="790934"/>
          </a:xfrm>
          <a:custGeom xmlns:a="http://schemas.openxmlformats.org/drawingml/2006/main">
            <a:pathLst>
              <a:path w="3048000" h="790934">
                <a:moveTo>
                  <a:pt x="0" y="0"/>
                </a:moveTo>
                <a:lnTo>
                  <a:pt x="50800" y="100301"/>
                </a:lnTo>
                <a:lnTo>
                  <a:pt x="101600" y="190746"/>
                </a:lnTo>
                <a:lnTo>
                  <a:pt x="152400" y="272002"/>
                </a:lnTo>
                <a:lnTo>
                  <a:pt x="203200" y="344714"/>
                </a:lnTo>
                <a:lnTo>
                  <a:pt x="254000" y="409503"/>
                </a:lnTo>
                <a:lnTo>
                  <a:pt x="304800" y="466967"/>
                </a:lnTo>
                <a:lnTo>
                  <a:pt x="355600" y="517680"/>
                </a:lnTo>
                <a:lnTo>
                  <a:pt x="406400" y="562192"/>
                </a:lnTo>
                <a:lnTo>
                  <a:pt x="457200" y="601031"/>
                </a:lnTo>
                <a:lnTo>
                  <a:pt x="508000" y="634700"/>
                </a:lnTo>
                <a:lnTo>
                  <a:pt x="558800" y="663680"/>
                </a:lnTo>
                <a:lnTo>
                  <a:pt x="609600" y="688429"/>
                </a:lnTo>
                <a:lnTo>
                  <a:pt x="660400" y="709379"/>
                </a:lnTo>
                <a:lnTo>
                  <a:pt x="711200" y="726940"/>
                </a:lnTo>
                <a:lnTo>
                  <a:pt x="762000" y="741500"/>
                </a:lnTo>
                <a:lnTo>
                  <a:pt x="812800" y="753422"/>
                </a:lnTo>
                <a:lnTo>
                  <a:pt x="863600" y="763045"/>
                </a:lnTo>
                <a:lnTo>
                  <a:pt x="914400" y="770686"/>
                </a:lnTo>
                <a:lnTo>
                  <a:pt x="965200" y="776637"/>
                </a:lnTo>
                <a:lnTo>
                  <a:pt x="1016000" y="781169"/>
                </a:lnTo>
                <a:lnTo>
                  <a:pt x="1066800" y="784527"/>
                </a:lnTo>
                <a:lnTo>
                  <a:pt x="1117600" y="786934"/>
                </a:lnTo>
                <a:lnTo>
                  <a:pt x="1168400" y="788589"/>
                </a:lnTo>
                <a:lnTo>
                  <a:pt x="1219200" y="789668"/>
                </a:lnTo>
                <a:lnTo>
                  <a:pt x="1270000" y="790323"/>
                </a:lnTo>
                <a:lnTo>
                  <a:pt x="1320800" y="790684"/>
                </a:lnTo>
                <a:lnTo>
                  <a:pt x="1371600" y="790855"/>
                </a:lnTo>
                <a:lnTo>
                  <a:pt x="1422400" y="790918"/>
                </a:lnTo>
                <a:lnTo>
                  <a:pt x="1473200" y="790933"/>
                </a:lnTo>
                <a:lnTo>
                  <a:pt x="1524000" y="790934"/>
                </a:lnTo>
                <a:lnTo>
                  <a:pt x="1574800" y="790933"/>
                </a:lnTo>
                <a:lnTo>
                  <a:pt x="1625600" y="790918"/>
                </a:lnTo>
                <a:lnTo>
                  <a:pt x="1676400" y="790855"/>
                </a:lnTo>
                <a:lnTo>
                  <a:pt x="1727200" y="790684"/>
                </a:lnTo>
                <a:lnTo>
                  <a:pt x="1778000" y="790323"/>
                </a:lnTo>
                <a:lnTo>
                  <a:pt x="1828800" y="789668"/>
                </a:lnTo>
                <a:lnTo>
                  <a:pt x="1879600" y="788589"/>
                </a:lnTo>
                <a:lnTo>
                  <a:pt x="1930400" y="786934"/>
                </a:lnTo>
                <a:lnTo>
                  <a:pt x="1981200" y="784527"/>
                </a:lnTo>
                <a:lnTo>
                  <a:pt x="2032000" y="781169"/>
                </a:lnTo>
                <a:lnTo>
                  <a:pt x="2082800" y="776637"/>
                </a:lnTo>
                <a:lnTo>
                  <a:pt x="2133600" y="770686"/>
                </a:lnTo>
                <a:lnTo>
                  <a:pt x="2184400" y="763045"/>
                </a:lnTo>
                <a:lnTo>
                  <a:pt x="2235200" y="753422"/>
                </a:lnTo>
                <a:lnTo>
                  <a:pt x="2286000" y="741500"/>
                </a:lnTo>
                <a:lnTo>
                  <a:pt x="2336800" y="726940"/>
                </a:lnTo>
                <a:lnTo>
                  <a:pt x="2387600" y="709379"/>
                </a:lnTo>
                <a:lnTo>
                  <a:pt x="2438400" y="688429"/>
                </a:lnTo>
                <a:lnTo>
                  <a:pt x="2489200" y="663680"/>
                </a:lnTo>
                <a:lnTo>
                  <a:pt x="2540000" y="634700"/>
                </a:lnTo>
                <a:lnTo>
                  <a:pt x="2590800" y="601031"/>
                </a:lnTo>
                <a:lnTo>
                  <a:pt x="2641600" y="562192"/>
                </a:lnTo>
                <a:lnTo>
                  <a:pt x="2692400" y="517680"/>
                </a:lnTo>
                <a:lnTo>
                  <a:pt x="2743200" y="466967"/>
                </a:lnTo>
                <a:lnTo>
                  <a:pt x="2794000" y="409503"/>
                </a:lnTo>
                <a:lnTo>
                  <a:pt x="2844800" y="344714"/>
                </a:lnTo>
                <a:lnTo>
                  <a:pt x="2895600" y="272002"/>
                </a:lnTo>
                <a:lnTo>
                  <a:pt x="2946400" y="190746"/>
                </a:lnTo>
                <a:lnTo>
                  <a:pt x="2997200" y="100301"/>
                </a:lnTo>
                <a:lnTo>
                  <a:pt x="304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C5138"/>
            </a:solidFill>
            <a:prstDash val="solid"/>
          </a:ln>
        </p:spPr>
      </p:sp>
      <p:sp>
        <p:nvSpPr>
          <p:cNvPr id="16" name="e016_α = 0">
            <a:extLst xmlns:a="http://schemas.openxmlformats.org/drawingml/2006/main">
              <a:ext uri="{FF2B5EF4-FFF2-40B4-BE49-F238E27FC236}">
                <a16:creationId xmlns:a16="http://schemas.microsoft.com/office/drawing/2014/main" id="{2320EE87-AD42-4DE7-90FF-4469F544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143500"/>
            <a:ext cx="3048000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α = 0</a:t>
            </a:r>
          </a:p>
        </p:txBody>
      </p:sp>
      <p:sp>
        <p:nvSpPr>
          <p:cNvPr id="17" name="e017_z">
            <a:extLst xmlns:a="http://schemas.openxmlformats.org/drawingml/2006/main">
              <a:ext uri="{FF2B5EF4-FFF2-40B4-BE49-F238E27FC236}">
                <a16:creationId xmlns:a16="http://schemas.microsoft.com/office/drawing/2014/main" id="{A880BF8A-0BC6-49F3-899A-87513EDA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629150"/>
            <a:ext cx="285750" cy="29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z</a:t>
            </a:r>
          </a:p>
        </p:txBody>
      </p:sp>
      <p:sp>
        <p:nvSpPr>
          <p:cNvPr id="18" name="e018_V">
            <a:extLst xmlns:a="http://schemas.openxmlformats.org/drawingml/2006/main">
              <a:ext uri="{FF2B5EF4-FFF2-40B4-BE49-F238E27FC236}">
                <a16:creationId xmlns:a16="http://schemas.microsoft.com/office/drawing/2014/main" id="{63EED8B5-E6B7-491B-919A-5BCA132F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43200"/>
            <a:ext cx="285750" cy="29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V</a:t>
            </a:r>
          </a:p>
        </p:txBody>
      </p:sp>
      <p:sp>
        <p:nvSpPr>
          <p:cNvPr id="19" name="e019_polyline">
            <a:extLst xmlns:a="http://schemas.openxmlformats.org/drawingml/2006/main">
              <a:ext uri="{FF2B5EF4-FFF2-40B4-BE49-F238E27FC236}">
                <a16:creationId xmlns:a16="http://schemas.microsoft.com/office/drawing/2014/main" id="{A6F73055-24C8-46C5-8881-C04BFA5A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3048000" cy="95"/>
          </a:xfrm>
          <a:custGeom xmlns:a="http://schemas.openxmlformats.org/drawingml/2006/main">
            <a:pathLst>
              <a:path w="3048000" h="9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20" name="e020_polyline">
            <a:extLst xmlns:a="http://schemas.openxmlformats.org/drawingml/2006/main">
              <a:ext uri="{FF2B5EF4-FFF2-40B4-BE49-F238E27FC236}">
                <a16:creationId xmlns:a16="http://schemas.microsoft.com/office/drawing/2014/main" id="{73D0FFE4-3658-433B-B023-584EBB14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57500"/>
            <a:ext cx="95" cy="2238375"/>
          </a:xfrm>
          <a:custGeom xmlns:a="http://schemas.openxmlformats.org/drawingml/2006/main">
            <a:pathLst>
              <a:path w="95" h="2238375">
                <a:moveTo>
                  <a:pt x="0" y="0"/>
                </a:moveTo>
                <a:lnTo>
                  <a:pt x="0" y="22383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21" name="e021_polyline">
            <a:extLst xmlns:a="http://schemas.openxmlformats.org/drawingml/2006/main">
              <a:ext uri="{FF2B5EF4-FFF2-40B4-BE49-F238E27FC236}">
                <a16:creationId xmlns:a16="http://schemas.microsoft.com/office/drawing/2014/main" id="{859C4759-B933-4207-9DD6-94EC3F30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3048000" cy="238031"/>
          </a:xfrm>
          <a:custGeom xmlns:a="http://schemas.openxmlformats.org/drawingml/2006/main">
            <a:pathLst>
              <a:path w="3048000" h="238031">
                <a:moveTo>
                  <a:pt x="0" y="77032"/>
                </a:moveTo>
                <a:lnTo>
                  <a:pt x="50800" y="120433"/>
                </a:lnTo>
                <a:lnTo>
                  <a:pt x="101600" y="155907"/>
                </a:lnTo>
                <a:lnTo>
                  <a:pt x="152400" y="184121"/>
                </a:lnTo>
                <a:lnTo>
                  <a:pt x="203200" y="205719"/>
                </a:lnTo>
                <a:lnTo>
                  <a:pt x="254000" y="221324"/>
                </a:lnTo>
                <a:lnTo>
                  <a:pt x="304800" y="231532"/>
                </a:lnTo>
                <a:lnTo>
                  <a:pt x="355600" y="236917"/>
                </a:lnTo>
                <a:lnTo>
                  <a:pt x="406400" y="238031"/>
                </a:lnTo>
                <a:lnTo>
                  <a:pt x="457200" y="235400"/>
                </a:lnTo>
                <a:lnTo>
                  <a:pt x="508000" y="229529"/>
                </a:lnTo>
                <a:lnTo>
                  <a:pt x="558800" y="220897"/>
                </a:lnTo>
                <a:lnTo>
                  <a:pt x="609600" y="209963"/>
                </a:lnTo>
                <a:lnTo>
                  <a:pt x="660400" y="197158"/>
                </a:lnTo>
                <a:lnTo>
                  <a:pt x="711200" y="182895"/>
                </a:lnTo>
                <a:lnTo>
                  <a:pt x="762000" y="167558"/>
                </a:lnTo>
                <a:lnTo>
                  <a:pt x="812800" y="151512"/>
                </a:lnTo>
                <a:lnTo>
                  <a:pt x="863600" y="135096"/>
                </a:lnTo>
                <a:lnTo>
                  <a:pt x="914400" y="118627"/>
                </a:lnTo>
                <a:lnTo>
                  <a:pt x="965200" y="102397"/>
                </a:lnTo>
                <a:lnTo>
                  <a:pt x="1016000" y="86676"/>
                </a:lnTo>
                <a:lnTo>
                  <a:pt x="1066800" y="71710"/>
                </a:lnTo>
                <a:lnTo>
                  <a:pt x="1117600" y="57722"/>
                </a:lnTo>
                <a:lnTo>
                  <a:pt x="1168400" y="44911"/>
                </a:lnTo>
                <a:lnTo>
                  <a:pt x="1219200" y="33453"/>
                </a:lnTo>
                <a:lnTo>
                  <a:pt x="1270000" y="23500"/>
                </a:lnTo>
                <a:lnTo>
                  <a:pt x="1320800" y="15181"/>
                </a:lnTo>
                <a:lnTo>
                  <a:pt x="1371600" y="8601"/>
                </a:lnTo>
                <a:lnTo>
                  <a:pt x="1422400" y="3842"/>
                </a:lnTo>
                <a:lnTo>
                  <a:pt x="1473200" y="963"/>
                </a:lnTo>
                <a:lnTo>
                  <a:pt x="1524000" y="0"/>
                </a:lnTo>
                <a:lnTo>
                  <a:pt x="1574800" y="963"/>
                </a:lnTo>
                <a:lnTo>
                  <a:pt x="1625600" y="3842"/>
                </a:lnTo>
                <a:lnTo>
                  <a:pt x="1676400" y="8601"/>
                </a:lnTo>
                <a:lnTo>
                  <a:pt x="1727200" y="15181"/>
                </a:lnTo>
                <a:lnTo>
                  <a:pt x="1778000" y="23500"/>
                </a:lnTo>
                <a:lnTo>
                  <a:pt x="1828800" y="33453"/>
                </a:lnTo>
                <a:lnTo>
                  <a:pt x="1879600" y="44911"/>
                </a:lnTo>
                <a:lnTo>
                  <a:pt x="1930400" y="57722"/>
                </a:lnTo>
                <a:lnTo>
                  <a:pt x="1981200" y="71710"/>
                </a:lnTo>
                <a:lnTo>
                  <a:pt x="2032000" y="86676"/>
                </a:lnTo>
                <a:lnTo>
                  <a:pt x="2082800" y="102397"/>
                </a:lnTo>
                <a:lnTo>
                  <a:pt x="2133600" y="118627"/>
                </a:lnTo>
                <a:lnTo>
                  <a:pt x="2184400" y="135096"/>
                </a:lnTo>
                <a:lnTo>
                  <a:pt x="2235200" y="151512"/>
                </a:lnTo>
                <a:lnTo>
                  <a:pt x="2286000" y="167558"/>
                </a:lnTo>
                <a:lnTo>
                  <a:pt x="2336800" y="182895"/>
                </a:lnTo>
                <a:lnTo>
                  <a:pt x="2387600" y="197158"/>
                </a:lnTo>
                <a:lnTo>
                  <a:pt x="2438400" y="209963"/>
                </a:lnTo>
                <a:lnTo>
                  <a:pt x="2489200" y="220897"/>
                </a:lnTo>
                <a:lnTo>
                  <a:pt x="2540000" y="229529"/>
                </a:lnTo>
                <a:lnTo>
                  <a:pt x="2590800" y="235400"/>
                </a:lnTo>
                <a:lnTo>
                  <a:pt x="2641600" y="238031"/>
                </a:lnTo>
                <a:lnTo>
                  <a:pt x="2692400" y="236917"/>
                </a:lnTo>
                <a:lnTo>
                  <a:pt x="2743200" y="231532"/>
                </a:lnTo>
                <a:lnTo>
                  <a:pt x="2794000" y="221324"/>
                </a:lnTo>
                <a:lnTo>
                  <a:pt x="2844800" y="205719"/>
                </a:lnTo>
                <a:lnTo>
                  <a:pt x="2895600" y="184121"/>
                </a:lnTo>
                <a:lnTo>
                  <a:pt x="2946400" y="155907"/>
                </a:lnTo>
                <a:lnTo>
                  <a:pt x="2997200" y="120433"/>
                </a:lnTo>
                <a:lnTo>
                  <a:pt x="3048000" y="7703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22" name="e022_α = 1">
            <a:extLst xmlns:a="http://schemas.openxmlformats.org/drawingml/2006/main">
              <a:ext uri="{FF2B5EF4-FFF2-40B4-BE49-F238E27FC236}">
                <a16:creationId xmlns:a16="http://schemas.microsoft.com/office/drawing/2014/main" id="{24918597-EC99-4A4F-8A07-62649E78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43500"/>
            <a:ext cx="3048000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α = 1</a:t>
            </a:r>
          </a:p>
        </p:txBody>
      </p:sp>
      <p:sp>
        <p:nvSpPr>
          <p:cNvPr id="23" name="e023_z">
            <a:extLst xmlns:a="http://schemas.openxmlformats.org/drawingml/2006/main">
              <a:ext uri="{FF2B5EF4-FFF2-40B4-BE49-F238E27FC236}">
                <a16:creationId xmlns:a16="http://schemas.microsoft.com/office/drawing/2014/main" id="{9FC34CF7-BC3A-449E-B1FE-17F1563E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4629150"/>
            <a:ext cx="285750" cy="29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z</a:t>
            </a:r>
          </a:p>
        </p:txBody>
      </p:sp>
      <p:sp>
        <p:nvSpPr>
          <p:cNvPr id="24" name="e024_V">
            <a:extLst xmlns:a="http://schemas.openxmlformats.org/drawingml/2006/main">
              <a:ext uri="{FF2B5EF4-FFF2-40B4-BE49-F238E27FC236}">
                <a16:creationId xmlns:a16="http://schemas.microsoft.com/office/drawing/2014/main" id="{391C888B-E1D9-4FE7-B5A6-91D42ABE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43200"/>
            <a:ext cx="285750" cy="29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V</a:t>
            </a:r>
          </a:p>
        </p:txBody>
      </p:sp>
      <p:sp>
        <p:nvSpPr>
          <p:cNvPr id="25" name="e025_解析势能结构分岔，仅用于说明路线；不是神经智能相变的实测">
            <a:extLst xmlns:a="http://schemas.openxmlformats.org/drawingml/2006/main">
              <a:ext uri="{FF2B5EF4-FFF2-40B4-BE49-F238E27FC236}">
                <a16:creationId xmlns:a16="http://schemas.microsoft.com/office/drawing/2014/main" id="{C0BFF19C-B956-47F2-AC3D-4CEB425E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解析势能结构分岔，仅用于说明路线；不是神经智能相变的实测</a:t>
            </a:r>
          </a:p>
        </p:txBody>
      </p:sp>
    </p:spTree>
    <p:extLst>
      <p:ext uri="{BB962C8B-B14F-4D97-AF65-F5344CB8AC3E}">
        <p14:creationId xmlns:p14="http://schemas.microsoft.com/office/powerpoint/2010/main" val="84309971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001_H45与H46：未知也有结构">
            <a:extLst xmlns:a="http://schemas.openxmlformats.org/drawingml/2006/main">
              <a:ext uri="{FF2B5EF4-FFF2-40B4-BE49-F238E27FC236}">
                <a16:creationId xmlns:a16="http://schemas.microsoft.com/office/drawing/2014/main" id="{405E677B-7CFC-4213-B061-0CEC2396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H45与H46：未知也有结构</a:t>
            </a:r>
          </a:p>
        </p:txBody>
      </p:sp>
      <p:sp>
        <p:nvSpPr>
          <p:cNvPr id="2" name="e002_什么能区分，什么在何条件下不可能">
            <a:extLst xmlns:a="http://schemas.openxmlformats.org/drawingml/2006/main">
              <a:ext uri="{FF2B5EF4-FFF2-40B4-BE49-F238E27FC236}">
                <a16:creationId xmlns:a16="http://schemas.microsoft.com/office/drawing/2014/main" id="{F8E84F3D-F22A-4887-9C19-5B0850F8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什么能区分，什么在何条件下不可能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8D57760B-7A1C-4CCB-86BD-F500DEB8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3FEDF2E7-9A9E-4641-9865-8479ADC2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30 / 36">
            <a:extLst xmlns:a="http://schemas.openxmlformats.org/drawingml/2006/main">
              <a:ext uri="{FF2B5EF4-FFF2-40B4-BE49-F238E27FC236}">
                <a16:creationId xmlns:a16="http://schemas.microsoft.com/office/drawing/2014/main" id="{9CBC8DCE-B43B-4155-B83E-D0803F55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30 / 36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651005B8-9689-440C-AE23-EB34F012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454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7" name="e007_候选假设集">
            <a:extLst xmlns:a="http://schemas.openxmlformats.org/drawingml/2006/main">
              <a:ext uri="{FF2B5EF4-FFF2-40B4-BE49-F238E27FC236}">
                <a16:creationId xmlns:a16="http://schemas.microsoft.com/office/drawing/2014/main" id="{F91472B1-6EE5-426E-971E-338A857A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14625"/>
            <a:ext cx="316865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候选假设集</a:t>
            </a:r>
          </a:p>
        </p:txBody>
      </p:sp>
      <p:sp>
        <p:nvSpPr>
          <p:cNvPr id="8" name="e008_哪些仍然可行？">
            <a:extLst xmlns:a="http://schemas.openxmlformats.org/drawingml/2006/main">
              <a:ext uri="{FF2B5EF4-FFF2-40B4-BE49-F238E27FC236}">
                <a16:creationId xmlns:a16="http://schemas.microsoft.com/office/drawing/2014/main" id="{3C9632C3-57DD-4394-B6DD-02723538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83731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哪些仍然可行？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38EAF1DD-F9B2-42C2-AFF6-569F85EA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150" y="338137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C0797FD6-65A4-4EF1-9792-F3E7F09A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33375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1" name="e011_rect">
            <a:extLst xmlns:a="http://schemas.openxmlformats.org/drawingml/2006/main">
              <a:ext uri="{FF2B5EF4-FFF2-40B4-BE49-F238E27FC236}">
                <a16:creationId xmlns:a16="http://schemas.microsoft.com/office/drawing/2014/main" id="{2EAC60CA-F650-4F6A-AA25-31F7E88D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571750"/>
            <a:ext cx="3454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12" name="e012_合法查询">
            <a:extLst xmlns:a="http://schemas.openxmlformats.org/drawingml/2006/main">
              <a:ext uri="{FF2B5EF4-FFF2-40B4-BE49-F238E27FC236}">
                <a16:creationId xmlns:a16="http://schemas.microsoft.com/office/drawing/2014/main" id="{34718697-972B-4B63-BAA4-31963A5D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2714625"/>
            <a:ext cx="316865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合法查询</a:t>
            </a:r>
          </a:p>
        </p:txBody>
      </p:sp>
      <p:sp>
        <p:nvSpPr>
          <p:cNvPr id="13" name="e013_怎样划分候选？">
            <a:extLst xmlns:a="http://schemas.openxmlformats.org/drawingml/2006/main">
              <a:ext uri="{FF2B5EF4-FFF2-40B4-BE49-F238E27FC236}">
                <a16:creationId xmlns:a16="http://schemas.microsoft.com/office/drawing/2014/main" id="{636C347A-A17D-473E-93AF-55C84C6F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3183731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怎样划分候选？</a:t>
            </a:r>
          </a:p>
        </p:txBody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D6FD093E-5670-4D36-BDB7-D0732F50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350" y="338137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D4D92E2D-90BC-47B5-9B7F-77F39B75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33375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6" name="e016_rect">
            <a:extLst xmlns:a="http://schemas.openxmlformats.org/drawingml/2006/main">
              <a:ext uri="{FF2B5EF4-FFF2-40B4-BE49-F238E27FC236}">
                <a16:creationId xmlns:a16="http://schemas.microsoft.com/office/drawing/2014/main" id="{4F2DFEF1-CC7F-46A9-8AF7-A0710FCC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571750"/>
            <a:ext cx="3454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7" name="e017_条件排除">
            <a:extLst xmlns:a="http://schemas.openxmlformats.org/drawingml/2006/main">
              <a:ext uri="{FF2B5EF4-FFF2-40B4-BE49-F238E27FC236}">
                <a16:creationId xmlns:a16="http://schemas.microsoft.com/office/drawing/2014/main" id="{BB37AE68-6883-4E45-B719-86C6EBB3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2714625"/>
            <a:ext cx="316865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条件排除</a:t>
            </a:r>
          </a:p>
        </p:txBody>
      </p:sp>
      <p:sp>
        <p:nvSpPr>
          <p:cNvPr id="18" name="e018_何假设下不可能？">
            <a:extLst xmlns:a="http://schemas.openxmlformats.org/drawingml/2006/main">
              <a:ext uri="{FF2B5EF4-FFF2-40B4-BE49-F238E27FC236}">
                <a16:creationId xmlns:a16="http://schemas.microsoft.com/office/drawing/2014/main" id="{68A38713-AA98-4CAF-816A-03AE0FE6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3183731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何假设下不可能？</a:t>
            </a:r>
          </a:p>
        </p:txBody>
      </p:sp>
      <p:sp>
        <p:nvSpPr>
          <p:cNvPr id="19" name="e019_无合法查询 / 超时未找到：unknown">
            <a:extLst xmlns:a="http://schemas.openxmlformats.org/drawingml/2006/main">
              <a:ext uri="{FF2B5EF4-FFF2-40B4-BE49-F238E27FC236}">
                <a16:creationId xmlns:a16="http://schemas.microsoft.com/office/drawing/2014/main" id="{D063A421-EB68-4448-BC67-F6E07D6B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463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55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无合法查询 / 超时未找到：unknown</a:t>
            </a:r>
          </a:p>
        </p:txBody>
      </p:sp>
      <p:sp>
        <p:nvSpPr>
          <p:cNvPr id="20" name="e020_“尚未找到”不等于“不可能”；负知识必须带前提与见证">
            <a:extLst xmlns:a="http://schemas.openxmlformats.org/drawingml/2006/main">
              <a:ext uri="{FF2B5EF4-FFF2-40B4-BE49-F238E27FC236}">
                <a16:creationId xmlns:a16="http://schemas.microsoft.com/office/drawing/2014/main" id="{0DA05A58-A38B-42EF-9944-ADBF8E41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“尚未找到”不等于“不可能”；负知识必须带前提与见证</a:t>
            </a:r>
          </a:p>
        </p:txBody>
      </p:sp>
    </p:spTree>
    <p:extLst>
      <p:ext uri="{BB962C8B-B14F-4D97-AF65-F5344CB8AC3E}">
        <p14:creationId xmlns:p14="http://schemas.microsoft.com/office/powerpoint/2010/main" val="41049296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001_H48：十次转述不是十份证据">
            <a:extLst xmlns:a="http://schemas.openxmlformats.org/drawingml/2006/main">
              <a:ext uri="{FF2B5EF4-FFF2-40B4-BE49-F238E27FC236}">
                <a16:creationId xmlns:a16="http://schemas.microsoft.com/office/drawing/2014/main" id="{BF2CCCBA-BBC8-4162-8F8F-86D97D26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H48：十次转述不是十份证据</a:t>
            </a:r>
          </a:p>
        </p:txBody>
      </p:sp>
      <p:sp>
        <p:nvSpPr>
          <p:cNvPr id="2" name="e002_共同祖先必须进入聚合计算">
            <a:extLst xmlns:a="http://schemas.openxmlformats.org/drawingml/2006/main">
              <a:ext uri="{FF2B5EF4-FFF2-40B4-BE49-F238E27FC236}">
                <a16:creationId xmlns:a16="http://schemas.microsoft.com/office/drawing/2014/main" id="{53FC0F7B-011B-486D-B9A9-E9324CC6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共同祖先必须进入聚合计算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C776816A-7BC9-4283-B2A1-0AF886D2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解析示意 / 数学示意 · 无模型实测">
            <a:extLst xmlns:a="http://schemas.openxmlformats.org/drawingml/2006/main">
              <a:ext uri="{FF2B5EF4-FFF2-40B4-BE49-F238E27FC236}">
                <a16:creationId xmlns:a16="http://schemas.microsoft.com/office/drawing/2014/main" id="{E9D0D95E-CFB4-41EA-A944-6EF5F8A0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解析示意 / 数学示意 · 无模型实测</a:t>
            </a:r>
          </a:p>
        </p:txBody>
      </p:sp>
      <p:sp>
        <p:nvSpPr>
          <p:cNvPr id="5" name="e005_31 / 36">
            <a:extLst xmlns:a="http://schemas.openxmlformats.org/drawingml/2006/main">
              <a:ext uri="{FF2B5EF4-FFF2-40B4-BE49-F238E27FC236}">
                <a16:creationId xmlns:a16="http://schemas.microsoft.com/office/drawing/2014/main" id="{C4033812-DB80-4A76-90BB-B1C5A078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31 / 36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6DBF40C5-4659-422A-B99F-EBCADB8B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667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7" name="e007_来源事件 e">
            <a:extLst xmlns:a="http://schemas.openxmlformats.org/drawingml/2006/main">
              <a:ext uri="{FF2B5EF4-FFF2-40B4-BE49-F238E27FC236}">
                <a16:creationId xmlns:a16="http://schemas.microsoft.com/office/drawing/2014/main" id="{60F614FA-4ACD-4A02-8D7C-1C0982EF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57500"/>
            <a:ext cx="238125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来源事件 e</a:t>
            </a:r>
          </a:p>
        </p:txBody>
      </p:sp>
      <p:sp>
        <p:nvSpPr>
          <p:cNvPr id="8" name="e008_P(e) = 0.8">
            <a:extLst xmlns:a="http://schemas.openxmlformats.org/drawingml/2006/main">
              <a:ext uri="{FF2B5EF4-FFF2-40B4-BE49-F238E27FC236}">
                <a16:creationId xmlns:a16="http://schemas.microsoft.com/office/drawing/2014/main" id="{99336D0B-B7FA-4A28-9925-A1571B64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62325"/>
            <a:ext cx="23812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P(e) = 0.8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263B643C-A314-48B6-9097-054CBF75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67000"/>
            <a:ext cx="1905000" cy="666750"/>
          </a:xfrm>
          <a:custGeom xmlns:a="http://schemas.openxmlformats.org/drawingml/2006/main">
            <a:pathLst>
              <a:path w="1905000" h="666750">
                <a:moveTo>
                  <a:pt x="0" y="666750"/>
                </a:moveTo>
                <a:lnTo>
                  <a:pt x="190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9ACDE71C-5772-43B5-9B6C-68496A28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384" y="2659808"/>
            <a:ext cx="123616" cy="89903"/>
          </a:xfrm>
          <a:custGeom xmlns:a="http://schemas.openxmlformats.org/drawingml/2006/main">
            <a:pathLst>
              <a:path w="123616" h="89903">
                <a:moveTo>
                  <a:pt x="0" y="0"/>
                </a:moveTo>
                <a:lnTo>
                  <a:pt x="123616" y="7192"/>
                </a:lnTo>
                <a:lnTo>
                  <a:pt x="31466" y="8990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11" name="e011_polyline">
            <a:extLst xmlns:a="http://schemas.openxmlformats.org/drawingml/2006/main">
              <a:ext uri="{FF2B5EF4-FFF2-40B4-BE49-F238E27FC236}">
                <a16:creationId xmlns:a16="http://schemas.microsoft.com/office/drawing/2014/main" id="{728F9210-256E-4B08-A633-170AD45B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76625"/>
            <a:ext cx="1905000" cy="1000125"/>
          </a:xfrm>
          <a:custGeom xmlns:a="http://schemas.openxmlformats.org/drawingml/2006/main">
            <a:pathLst>
              <a:path w="1905000" h="1000125">
                <a:moveTo>
                  <a:pt x="0" y="0"/>
                </a:moveTo>
                <a:lnTo>
                  <a:pt x="1905000" y="10001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12" name="e012_polyline">
            <a:extLst xmlns:a="http://schemas.openxmlformats.org/drawingml/2006/main">
              <a:ext uri="{FF2B5EF4-FFF2-40B4-BE49-F238E27FC236}">
                <a16:creationId xmlns:a16="http://schemas.microsoft.com/office/drawing/2014/main" id="{7F6E64FA-79CC-4D67-BED3-4E9DF773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661" y="4381452"/>
            <a:ext cx="123339" cy="95298"/>
          </a:xfrm>
          <a:custGeom xmlns:a="http://schemas.openxmlformats.org/drawingml/2006/main">
            <a:pathLst>
              <a:path w="123339" h="95298">
                <a:moveTo>
                  <a:pt x="44275" y="0"/>
                </a:moveTo>
                <a:lnTo>
                  <a:pt x="123339" y="95298"/>
                </a:lnTo>
                <a:lnTo>
                  <a:pt x="0" y="8433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13" name="e013_rect">
            <a:extLst xmlns:a="http://schemas.openxmlformats.org/drawingml/2006/main">
              <a:ext uri="{FF2B5EF4-FFF2-40B4-BE49-F238E27FC236}">
                <a16:creationId xmlns:a16="http://schemas.microsoft.com/office/drawing/2014/main" id="{02B08BE1-A0A2-48D4-9619-4966E11F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43125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14" name="e014_转述 A">
            <a:extLst xmlns:a="http://schemas.openxmlformats.org/drawingml/2006/main">
              <a:ext uri="{FF2B5EF4-FFF2-40B4-BE49-F238E27FC236}">
                <a16:creationId xmlns:a16="http://schemas.microsoft.com/office/drawing/2014/main" id="{E6B9048A-E40A-4077-9999-03183154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86000"/>
            <a:ext cx="200025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转述 A</a:t>
            </a:r>
          </a:p>
        </p:txBody>
      </p:sp>
      <p:sp>
        <p:nvSpPr>
          <p:cNvPr id="15" name="e015_仅引用 e">
            <a:extLst xmlns:a="http://schemas.openxmlformats.org/drawingml/2006/main">
              <a:ext uri="{FF2B5EF4-FFF2-40B4-BE49-F238E27FC236}">
                <a16:creationId xmlns:a16="http://schemas.microsoft.com/office/drawing/2014/main" id="{4E123B55-6F81-4BFA-BE57-36A3EB9F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19388"/>
            <a:ext cx="20002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仅引用 e</a:t>
            </a:r>
          </a:p>
        </p:txBody>
      </p:sp>
      <p:sp>
        <p:nvSpPr>
          <p:cNvPr id="16" name="e016_rect">
            <a:extLst xmlns:a="http://schemas.openxmlformats.org/drawingml/2006/main">
              <a:ext uri="{FF2B5EF4-FFF2-40B4-BE49-F238E27FC236}">
                <a16:creationId xmlns:a16="http://schemas.microsoft.com/office/drawing/2014/main" id="{69766964-2257-47A9-82FB-4091C611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9100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7" name="e017_转述 B">
            <a:extLst xmlns:a="http://schemas.openxmlformats.org/drawingml/2006/main">
              <a:ext uri="{FF2B5EF4-FFF2-40B4-BE49-F238E27FC236}">
                <a16:creationId xmlns:a16="http://schemas.microsoft.com/office/drawing/2014/main" id="{4A00297D-2B00-46A2-90B7-A76C3598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333875"/>
            <a:ext cx="200025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转述 B</a:t>
            </a:r>
          </a:p>
        </p:txBody>
      </p:sp>
      <p:sp>
        <p:nvSpPr>
          <p:cNvPr id="18" name="e018_仅引用 e">
            <a:extLst xmlns:a="http://schemas.openxmlformats.org/drawingml/2006/main">
              <a:ext uri="{FF2B5EF4-FFF2-40B4-BE49-F238E27FC236}">
                <a16:creationId xmlns:a16="http://schemas.microsoft.com/office/drawing/2014/main" id="{E749084F-B853-4D99-9216-2722BB96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767263"/>
            <a:ext cx="20002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仅引用 e</a:t>
            </a:r>
          </a:p>
        </p:txBody>
      </p:sp>
      <p:sp>
        <p:nvSpPr>
          <p:cNvPr id="19" name="e019_e ∨ e = e">
            <a:extLst xmlns:a="http://schemas.openxmlformats.org/drawingml/2006/main">
              <a:ext uri="{FF2B5EF4-FFF2-40B4-BE49-F238E27FC236}">
                <a16:creationId xmlns:a16="http://schemas.microsoft.com/office/drawing/2014/main" id="{F73D49AF-0E65-49DE-931B-364F9BF5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3057525" cy="517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8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8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8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8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8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8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8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8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8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8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e ∨ e = e</a:t>
            </a:r>
          </a:p>
        </p:txBody>
      </p:sp>
      <p:sp>
        <p:nvSpPr>
          <p:cNvPr id="20" name="e020_仍为 0.8">
            <a:extLst xmlns:a="http://schemas.openxmlformats.org/drawingml/2006/main">
              <a:ext uri="{FF2B5EF4-FFF2-40B4-BE49-F238E27FC236}">
                <a16:creationId xmlns:a16="http://schemas.microsoft.com/office/drawing/2014/main" id="{AA553F26-0503-4D04-8B3B-AFFE32A5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71800"/>
            <a:ext cx="3057525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仍为 0.8</a:t>
            </a:r>
          </a:p>
        </p:txBody>
      </p:sp>
      <p:sp>
        <p:nvSpPr>
          <p:cNvPr id="21" name="e021_独立误算 0.96">
            <a:extLst xmlns:a="http://schemas.openxmlformats.org/drawingml/2006/main">
              <a:ext uri="{FF2B5EF4-FFF2-40B4-BE49-F238E27FC236}">
                <a16:creationId xmlns:a16="http://schemas.microsoft.com/office/drawing/2014/main" id="{2184CCD2-3693-4E6F-8FD9-6382C90D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95750"/>
            <a:ext cx="3057525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rPr>
              <a:t>独立误算 0.96</a:t>
            </a:r>
          </a:p>
        </p:txBody>
      </p:sp>
      <p:sp>
        <p:nvSpPr>
          <p:cNvPr id="22" name="e022_polyline">
            <a:extLst xmlns:a="http://schemas.openxmlformats.org/drawingml/2006/main">
              <a:ext uri="{FF2B5EF4-FFF2-40B4-BE49-F238E27FC236}">
                <a16:creationId xmlns:a16="http://schemas.microsoft.com/office/drawing/2014/main" id="{BC62A936-BB1C-4723-96C2-41493BC7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57700"/>
            <a:ext cx="2952750" cy="95"/>
          </a:xfrm>
          <a:custGeom xmlns:a="http://schemas.openxmlformats.org/drawingml/2006/main">
            <a:pathLst>
              <a:path w="2952750" h="95">
                <a:moveTo>
                  <a:pt x="0" y="0"/>
                </a:moveTo>
                <a:lnTo>
                  <a:pt x="2952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C4540"/>
            </a:solidFill>
            <a:prstDash val="solid"/>
          </a:ln>
        </p:spPr>
      </p:sp>
      <p:sp>
        <p:nvSpPr>
          <p:cNvPr id="23" name="e023_0.96 仅适用于两个不同、独立、各为 0.8 的事件之并">
            <a:extLst xmlns:a="http://schemas.openxmlformats.org/drawingml/2006/main">
              <a:ext uri="{FF2B5EF4-FFF2-40B4-BE49-F238E27FC236}">
                <a16:creationId xmlns:a16="http://schemas.microsoft.com/office/drawing/2014/main" id="{6B80B6B7-429C-4EBD-95FF-881B9FE3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0.96 仅适用于两个不同、独立、各为 0.8 的事件之并</a:t>
            </a:r>
          </a:p>
        </p:txBody>
      </p:sp>
    </p:spTree>
    <p:extLst>
      <p:ext uri="{BB962C8B-B14F-4D97-AF65-F5344CB8AC3E}">
        <p14:creationId xmlns:p14="http://schemas.microsoft.com/office/powerpoint/2010/main" val="204503133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e001_12个远期终局">
            <a:extLst xmlns:a="http://schemas.openxmlformats.org/drawingml/2006/main">
              <a:ext uri="{FF2B5EF4-FFF2-40B4-BE49-F238E27FC236}">
                <a16:creationId xmlns:a16="http://schemas.microsoft.com/office/drawing/2014/main" id="{5B10DACA-D0FB-49BF-9AF0-23C60C4D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12个远期终局</a:t>
            </a:r>
          </a:p>
        </p:txBody>
      </p:sp>
      <p:sp>
        <p:nvSpPr>
          <p:cNvPr id="2" name="e002_认知连续体、可塑性互联网、语义编译生态">
            <a:extLst xmlns:a="http://schemas.openxmlformats.org/drawingml/2006/main">
              <a:ext uri="{FF2B5EF4-FFF2-40B4-BE49-F238E27FC236}">
                <a16:creationId xmlns:a16="http://schemas.microsoft.com/office/drawing/2014/main" id="{FF2D78FD-91AF-4AA4-A587-5A94B091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认知连续体、可塑性互联网、语义编译生态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47B9557E-65CE-4FAF-AAC0-C6ED6754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6D1CA6EB-554D-422D-A46B-D69E2FDC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32 / 36">
            <a:extLst xmlns:a="http://schemas.openxmlformats.org/drawingml/2006/main">
              <a:ext uri="{FF2B5EF4-FFF2-40B4-BE49-F238E27FC236}">
                <a16:creationId xmlns:a16="http://schemas.microsoft.com/office/drawing/2014/main" id="{079C0015-ED99-4F92-8CB1-94C1BCE1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32 / 36</a:t>
            </a:r>
          </a:p>
        </p:txBody>
      </p:sp>
      <p:sp>
        <p:nvSpPr>
          <p:cNvPr id="6" name="e006_X01">
            <a:extLst xmlns:a="http://schemas.openxmlformats.org/drawingml/2006/main">
              <a:ext uri="{FF2B5EF4-FFF2-40B4-BE49-F238E27FC236}">
                <a16:creationId xmlns:a16="http://schemas.microsoft.com/office/drawing/2014/main" id="{F565C66A-3896-429E-92CF-B8D2EC98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619125" cy="29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X01</a:t>
            </a:r>
          </a:p>
        </p:txBody>
      </p:sp>
      <p:sp>
        <p:nvSpPr>
          <p:cNvPr id="7" name="e007_认知连续体">
            <a:extLst xmlns:a="http://schemas.openxmlformats.org/drawingml/2006/main">
              <a:ext uri="{FF2B5EF4-FFF2-40B4-BE49-F238E27FC236}">
                <a16:creationId xmlns:a16="http://schemas.microsoft.com/office/drawing/2014/main" id="{961448A7-816E-4B08-9D30-45013984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43100"/>
            <a:ext cx="2905125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认知连续体</a:t>
            </a:r>
          </a:p>
        </p:txBody>
      </p:sp>
      <p:sp>
        <p:nvSpPr>
          <p:cNvPr id="8" name="e008_polyline">
            <a:extLst xmlns:a="http://schemas.openxmlformats.org/drawingml/2006/main">
              <a:ext uri="{FF2B5EF4-FFF2-40B4-BE49-F238E27FC236}">
                <a16:creationId xmlns:a16="http://schemas.microsoft.com/office/drawing/2014/main" id="{D4D90EC9-D9D5-488A-B5B6-E4543640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3429000" cy="95"/>
          </a:xfrm>
          <a:custGeom xmlns:a="http://schemas.openxmlformats.org/drawingml/2006/main">
            <a:pathLst>
              <a:path w="3429000" h="9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9" name="e009_X02">
            <a:extLst xmlns:a="http://schemas.openxmlformats.org/drawingml/2006/main">
              <a:ext uri="{FF2B5EF4-FFF2-40B4-BE49-F238E27FC236}">
                <a16:creationId xmlns:a16="http://schemas.microsoft.com/office/drawing/2014/main" id="{4305B44B-B905-45CC-87F7-6FD9D999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71675"/>
            <a:ext cx="619125" cy="29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X02</a:t>
            </a:r>
          </a:p>
        </p:txBody>
      </p:sp>
      <p:sp>
        <p:nvSpPr>
          <p:cNvPr id="10" name="e010_局部集体知识">
            <a:extLst xmlns:a="http://schemas.openxmlformats.org/drawingml/2006/main">
              <a:ext uri="{FF2B5EF4-FFF2-40B4-BE49-F238E27FC236}">
                <a16:creationId xmlns:a16="http://schemas.microsoft.com/office/drawing/2014/main" id="{9DD8DB70-6CA5-4C06-B279-C9923647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43100"/>
            <a:ext cx="2905125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局部集体知识</a:t>
            </a:r>
          </a:p>
        </p:txBody>
      </p:sp>
      <p:sp>
        <p:nvSpPr>
          <p:cNvPr id="11" name="e011_polyline">
            <a:extLst xmlns:a="http://schemas.openxmlformats.org/drawingml/2006/main">
              <a:ext uri="{FF2B5EF4-FFF2-40B4-BE49-F238E27FC236}">
                <a16:creationId xmlns:a16="http://schemas.microsoft.com/office/drawing/2014/main" id="{6D6E3E83-8E9D-472C-AE10-44F63012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62225"/>
            <a:ext cx="3429000" cy="95"/>
          </a:xfrm>
          <a:custGeom xmlns:a="http://schemas.openxmlformats.org/drawingml/2006/main">
            <a:pathLst>
              <a:path w="3429000" h="9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2" name="e012_X03">
            <a:extLst xmlns:a="http://schemas.openxmlformats.org/drawingml/2006/main">
              <a:ext uri="{FF2B5EF4-FFF2-40B4-BE49-F238E27FC236}">
                <a16:creationId xmlns:a16="http://schemas.microsoft.com/office/drawing/2014/main" id="{09BDC287-9B74-44FD-A3B0-FFA1C605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71675"/>
            <a:ext cx="619125" cy="29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X03</a:t>
            </a:r>
          </a:p>
        </p:txBody>
      </p:sp>
      <p:sp>
        <p:nvSpPr>
          <p:cNvPr id="13" name="e013_问题研究引擎">
            <a:extLst xmlns:a="http://schemas.openxmlformats.org/drawingml/2006/main">
              <a:ext uri="{FF2B5EF4-FFF2-40B4-BE49-F238E27FC236}">
                <a16:creationId xmlns:a16="http://schemas.microsoft.com/office/drawing/2014/main" id="{0A3ABA09-1AA2-42F8-B481-A3AC2631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43100"/>
            <a:ext cx="2905125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问题研究引擎</a:t>
            </a:r>
          </a:p>
        </p:txBody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F4B1AF38-6040-43B5-A9E9-3A872DE0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62225"/>
            <a:ext cx="3429000" cy="95"/>
          </a:xfrm>
          <a:custGeom xmlns:a="http://schemas.openxmlformats.org/drawingml/2006/main">
            <a:pathLst>
              <a:path w="3429000" h="9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5" name="e015_X04">
            <a:extLst xmlns:a="http://schemas.openxmlformats.org/drawingml/2006/main">
              <a:ext uri="{FF2B5EF4-FFF2-40B4-BE49-F238E27FC236}">
                <a16:creationId xmlns:a16="http://schemas.microsoft.com/office/drawing/2014/main" id="{117FD335-4412-4DD7-8BCA-C82AD619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619125" cy="29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X04</a:t>
            </a:r>
          </a:p>
        </p:txBody>
      </p:sp>
      <p:sp>
        <p:nvSpPr>
          <p:cNvPr id="16" name="e016_可塑性互联网">
            <a:extLst xmlns:a="http://schemas.openxmlformats.org/drawingml/2006/main">
              <a:ext uri="{FF2B5EF4-FFF2-40B4-BE49-F238E27FC236}">
                <a16:creationId xmlns:a16="http://schemas.microsoft.com/office/drawing/2014/main" id="{27764527-AE31-4E8A-9C28-C41A83A8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19400"/>
            <a:ext cx="2905125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可塑性互联网</a:t>
            </a:r>
          </a:p>
        </p:txBody>
      </p:sp>
      <p:sp>
        <p:nvSpPr>
          <p:cNvPr id="17" name="e017_polyline">
            <a:extLst xmlns:a="http://schemas.openxmlformats.org/drawingml/2006/main">
              <a:ext uri="{FF2B5EF4-FFF2-40B4-BE49-F238E27FC236}">
                <a16:creationId xmlns:a16="http://schemas.microsoft.com/office/drawing/2014/main" id="{A3EA0FE6-B22F-4B52-BAAA-CC3514E8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3429000" cy="95"/>
          </a:xfrm>
          <a:custGeom xmlns:a="http://schemas.openxmlformats.org/drawingml/2006/main">
            <a:pathLst>
              <a:path w="3429000" h="9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8" name="e018_X05">
            <a:extLst xmlns:a="http://schemas.openxmlformats.org/drawingml/2006/main">
              <a:ext uri="{FF2B5EF4-FFF2-40B4-BE49-F238E27FC236}">
                <a16:creationId xmlns:a16="http://schemas.microsoft.com/office/drawing/2014/main" id="{B424C1AE-5FFF-41C7-A3BB-5A6986F1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47975"/>
            <a:ext cx="619125" cy="29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X05</a:t>
            </a:r>
          </a:p>
        </p:txBody>
      </p:sp>
      <p:sp>
        <p:nvSpPr>
          <p:cNvPr id="19" name="e019_潜语言生态">
            <a:extLst xmlns:a="http://schemas.openxmlformats.org/drawingml/2006/main">
              <a:ext uri="{FF2B5EF4-FFF2-40B4-BE49-F238E27FC236}">
                <a16:creationId xmlns:a16="http://schemas.microsoft.com/office/drawing/2014/main" id="{871AD222-B997-4716-985C-0524AB97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19400"/>
            <a:ext cx="2905125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潜语言生态</a:t>
            </a:r>
          </a:p>
        </p:txBody>
      </p:sp>
      <p:sp>
        <p:nvSpPr>
          <p:cNvPr id="20" name="e020_polyline">
            <a:extLst xmlns:a="http://schemas.openxmlformats.org/drawingml/2006/main">
              <a:ext uri="{FF2B5EF4-FFF2-40B4-BE49-F238E27FC236}">
                <a16:creationId xmlns:a16="http://schemas.microsoft.com/office/drawing/2014/main" id="{161C368F-9A6C-4CCE-ABE4-872EF26F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38525"/>
            <a:ext cx="3429000" cy="95"/>
          </a:xfrm>
          <a:custGeom xmlns:a="http://schemas.openxmlformats.org/drawingml/2006/main">
            <a:pathLst>
              <a:path w="3429000" h="9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21" name="e021_X06">
            <a:extLst xmlns:a="http://schemas.openxmlformats.org/drawingml/2006/main">
              <a:ext uri="{FF2B5EF4-FFF2-40B4-BE49-F238E27FC236}">
                <a16:creationId xmlns:a16="http://schemas.microsoft.com/office/drawing/2014/main" id="{D6C954FF-83E3-4331-9C20-BF4025F6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47975"/>
            <a:ext cx="619125" cy="29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X06</a:t>
            </a:r>
          </a:p>
        </p:txBody>
      </p:sp>
      <p:sp>
        <p:nvSpPr>
          <p:cNvPr id="22" name="e022_跨尺度思想">
            <a:extLst xmlns:a="http://schemas.openxmlformats.org/drawingml/2006/main">
              <a:ext uri="{FF2B5EF4-FFF2-40B4-BE49-F238E27FC236}">
                <a16:creationId xmlns:a16="http://schemas.microsoft.com/office/drawing/2014/main" id="{999813AE-1AC9-4FD9-AE98-C4AEB581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19400"/>
            <a:ext cx="2905125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跨尺度思想</a:t>
            </a:r>
          </a:p>
        </p:txBody>
      </p:sp>
      <p:sp>
        <p:nvSpPr>
          <p:cNvPr id="23" name="e023_polyline">
            <a:extLst xmlns:a="http://schemas.openxmlformats.org/drawingml/2006/main">
              <a:ext uri="{FF2B5EF4-FFF2-40B4-BE49-F238E27FC236}">
                <a16:creationId xmlns:a16="http://schemas.microsoft.com/office/drawing/2014/main" id="{175C981E-E97B-45B1-B034-A0468993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38525"/>
            <a:ext cx="3429000" cy="95"/>
          </a:xfrm>
          <a:custGeom xmlns:a="http://schemas.openxmlformats.org/drawingml/2006/main">
            <a:pathLst>
              <a:path w="3429000" h="9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24" name="e024_X07">
            <a:extLst xmlns:a="http://schemas.openxmlformats.org/drawingml/2006/main">
              <a:ext uri="{FF2B5EF4-FFF2-40B4-BE49-F238E27FC236}">
                <a16:creationId xmlns:a16="http://schemas.microsoft.com/office/drawing/2014/main" id="{42A6300C-B702-4AED-A7AB-623184DE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619125" cy="29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X07</a:t>
            </a:r>
          </a:p>
        </p:txBody>
      </p:sp>
      <p:sp>
        <p:nvSpPr>
          <p:cNvPr id="25" name="e025_轨迹即思想">
            <a:extLst xmlns:a="http://schemas.openxmlformats.org/drawingml/2006/main">
              <a:ext uri="{FF2B5EF4-FFF2-40B4-BE49-F238E27FC236}">
                <a16:creationId xmlns:a16="http://schemas.microsoft.com/office/drawing/2014/main" id="{7B14D878-D45E-4F5A-9D45-4A03C595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95700"/>
            <a:ext cx="2905125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轨迹即思想</a:t>
            </a:r>
          </a:p>
        </p:txBody>
      </p:sp>
      <p:sp>
        <p:nvSpPr>
          <p:cNvPr id="26" name="e026_polyline">
            <a:extLst xmlns:a="http://schemas.openxmlformats.org/drawingml/2006/main">
              <a:ext uri="{FF2B5EF4-FFF2-40B4-BE49-F238E27FC236}">
                <a16:creationId xmlns:a16="http://schemas.microsoft.com/office/drawing/2014/main" id="{014B3E73-AABC-4E4C-B954-AE651883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3429000" cy="95"/>
          </a:xfrm>
          <a:custGeom xmlns:a="http://schemas.openxmlformats.org/drawingml/2006/main">
            <a:pathLst>
              <a:path w="3429000" h="9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27" name="e027_X08">
            <a:extLst xmlns:a="http://schemas.openxmlformats.org/drawingml/2006/main">
              <a:ext uri="{FF2B5EF4-FFF2-40B4-BE49-F238E27FC236}">
                <a16:creationId xmlns:a16="http://schemas.microsoft.com/office/drawing/2014/main" id="{8661D963-7D33-4E90-856A-7B828B6C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24275"/>
            <a:ext cx="619125" cy="29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X08</a:t>
            </a:r>
          </a:p>
        </p:txBody>
      </p:sp>
      <p:sp>
        <p:nvSpPr>
          <p:cNvPr id="28" name="e028_未完成发现">
            <a:extLst xmlns:a="http://schemas.openxmlformats.org/drawingml/2006/main">
              <a:ext uri="{FF2B5EF4-FFF2-40B4-BE49-F238E27FC236}">
                <a16:creationId xmlns:a16="http://schemas.microsoft.com/office/drawing/2014/main" id="{CCE5D4F2-9CC0-4802-99D3-0EA37F58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95700"/>
            <a:ext cx="2905125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未完成发现</a:t>
            </a:r>
          </a:p>
        </p:txBody>
      </p:sp>
      <p:sp>
        <p:nvSpPr>
          <p:cNvPr id="29" name="e029_polyline">
            <a:extLst xmlns:a="http://schemas.openxmlformats.org/drawingml/2006/main">
              <a:ext uri="{FF2B5EF4-FFF2-40B4-BE49-F238E27FC236}">
                <a16:creationId xmlns:a16="http://schemas.microsoft.com/office/drawing/2014/main" id="{C02D56A8-BB49-45BB-81F8-2F8201EC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14825"/>
            <a:ext cx="3429000" cy="95"/>
          </a:xfrm>
          <a:custGeom xmlns:a="http://schemas.openxmlformats.org/drawingml/2006/main">
            <a:pathLst>
              <a:path w="3429000" h="9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30" name="e030_X09">
            <a:extLst xmlns:a="http://schemas.openxmlformats.org/drawingml/2006/main">
              <a:ext uri="{FF2B5EF4-FFF2-40B4-BE49-F238E27FC236}">
                <a16:creationId xmlns:a16="http://schemas.microsoft.com/office/drawing/2014/main" id="{725830DD-8A2B-48B5-BCA1-CA56F37B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24275"/>
            <a:ext cx="619125" cy="29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X09</a:t>
            </a:r>
          </a:p>
        </p:txBody>
      </p:sp>
      <p:sp>
        <p:nvSpPr>
          <p:cNvPr id="31" name="e031_共同梦境">
            <a:extLst xmlns:a="http://schemas.openxmlformats.org/drawingml/2006/main">
              <a:ext uri="{FF2B5EF4-FFF2-40B4-BE49-F238E27FC236}">
                <a16:creationId xmlns:a16="http://schemas.microsoft.com/office/drawing/2014/main" id="{17ED7251-5652-4E80-806F-04B2858C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95700"/>
            <a:ext cx="2905125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共同梦境</a:t>
            </a:r>
          </a:p>
        </p:txBody>
      </p:sp>
      <p:sp>
        <p:nvSpPr>
          <p:cNvPr id="32" name="e032_polyline">
            <a:extLst xmlns:a="http://schemas.openxmlformats.org/drawingml/2006/main">
              <a:ext uri="{FF2B5EF4-FFF2-40B4-BE49-F238E27FC236}">
                <a16:creationId xmlns:a16="http://schemas.microsoft.com/office/drawing/2014/main" id="{DF8F1595-6256-48B1-B94F-2C11D985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14825"/>
            <a:ext cx="3429000" cy="95"/>
          </a:xfrm>
          <a:custGeom xmlns:a="http://schemas.openxmlformats.org/drawingml/2006/main">
            <a:pathLst>
              <a:path w="3429000" h="9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33" name="e033_X10">
            <a:extLst xmlns:a="http://schemas.openxmlformats.org/drawingml/2006/main">
              <a:ext uri="{FF2B5EF4-FFF2-40B4-BE49-F238E27FC236}">
                <a16:creationId xmlns:a16="http://schemas.microsoft.com/office/drawing/2014/main" id="{E733724D-A898-4C05-AFBD-CA9E911C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619125" cy="29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X10</a:t>
            </a:r>
          </a:p>
        </p:txBody>
      </p:sp>
      <p:sp>
        <p:nvSpPr>
          <p:cNvPr id="34" name="e034_能力公共品">
            <a:extLst xmlns:a="http://schemas.openxmlformats.org/drawingml/2006/main">
              <a:ext uri="{FF2B5EF4-FFF2-40B4-BE49-F238E27FC236}">
                <a16:creationId xmlns:a16="http://schemas.microsoft.com/office/drawing/2014/main" id="{0BC72ED6-7FE6-46D1-AA09-61F8C1A6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72000"/>
            <a:ext cx="2905125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能力公共品</a:t>
            </a:r>
          </a:p>
        </p:txBody>
      </p:sp>
      <p:sp>
        <p:nvSpPr>
          <p:cNvPr id="35" name="e035_polyline">
            <a:extLst xmlns:a="http://schemas.openxmlformats.org/drawingml/2006/main">
              <a:ext uri="{FF2B5EF4-FFF2-40B4-BE49-F238E27FC236}">
                <a16:creationId xmlns:a16="http://schemas.microsoft.com/office/drawing/2014/main" id="{3AB19242-9297-432E-B2E3-0425F507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429000" cy="95"/>
          </a:xfrm>
          <a:custGeom xmlns:a="http://schemas.openxmlformats.org/drawingml/2006/main">
            <a:pathLst>
              <a:path w="3429000" h="9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36" name="e036_X11">
            <a:extLst xmlns:a="http://schemas.openxmlformats.org/drawingml/2006/main">
              <a:ext uri="{FF2B5EF4-FFF2-40B4-BE49-F238E27FC236}">
                <a16:creationId xmlns:a16="http://schemas.microsoft.com/office/drawing/2014/main" id="{58EC4CFC-8DAC-412C-92F5-60B7B409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00575"/>
            <a:ext cx="619125" cy="29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X11</a:t>
            </a:r>
          </a:p>
        </p:txBody>
      </p:sp>
      <p:sp>
        <p:nvSpPr>
          <p:cNvPr id="37" name="e037_概念出生与死亡">
            <a:extLst xmlns:a="http://schemas.openxmlformats.org/drawingml/2006/main">
              <a:ext uri="{FF2B5EF4-FFF2-40B4-BE49-F238E27FC236}">
                <a16:creationId xmlns:a16="http://schemas.microsoft.com/office/drawing/2014/main" id="{5E8DF514-9A29-425F-AAE8-3605CA32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72000"/>
            <a:ext cx="2905125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概念出生与死亡</a:t>
            </a:r>
          </a:p>
        </p:txBody>
      </p:sp>
      <p:sp>
        <p:nvSpPr>
          <p:cNvPr id="38" name="e038_polyline">
            <a:extLst xmlns:a="http://schemas.openxmlformats.org/drawingml/2006/main">
              <a:ext uri="{FF2B5EF4-FFF2-40B4-BE49-F238E27FC236}">
                <a16:creationId xmlns:a16="http://schemas.microsoft.com/office/drawing/2014/main" id="{81FBDA9F-29B0-4172-B93C-785760D9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91125"/>
            <a:ext cx="3429000" cy="95"/>
          </a:xfrm>
          <a:custGeom xmlns:a="http://schemas.openxmlformats.org/drawingml/2006/main">
            <a:pathLst>
              <a:path w="3429000" h="9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39" name="e039_X12">
            <a:extLst xmlns:a="http://schemas.openxmlformats.org/drawingml/2006/main">
              <a:ext uri="{FF2B5EF4-FFF2-40B4-BE49-F238E27FC236}">
                <a16:creationId xmlns:a16="http://schemas.microsoft.com/office/drawing/2014/main" id="{D2E7A416-D373-43F8-89D4-ABCEA58B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00575"/>
            <a:ext cx="619125" cy="29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X12</a:t>
            </a:r>
          </a:p>
        </p:txBody>
      </p:sp>
      <p:sp>
        <p:nvSpPr>
          <p:cNvPr id="40" name="e040_语义编译生态">
            <a:extLst xmlns:a="http://schemas.openxmlformats.org/drawingml/2006/main">
              <a:ext uri="{FF2B5EF4-FFF2-40B4-BE49-F238E27FC236}">
                <a16:creationId xmlns:a16="http://schemas.microsoft.com/office/drawing/2014/main" id="{AE3DC2F6-0723-4B34-A920-6FF71D36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572000"/>
            <a:ext cx="2905125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语义编译生态</a:t>
            </a:r>
          </a:p>
        </p:txBody>
      </p:sp>
      <p:sp>
        <p:nvSpPr>
          <p:cNvPr id="41" name="e041_polyline">
            <a:extLst xmlns:a="http://schemas.openxmlformats.org/drawingml/2006/main">
              <a:ext uri="{FF2B5EF4-FFF2-40B4-BE49-F238E27FC236}">
                <a16:creationId xmlns:a16="http://schemas.microsoft.com/office/drawing/2014/main" id="{6F2CBB2D-56DA-46ED-BEDC-D27A1F4A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91125"/>
            <a:ext cx="3429000" cy="95"/>
          </a:xfrm>
          <a:custGeom xmlns:a="http://schemas.openxmlformats.org/drawingml/2006/main">
            <a:pathLst>
              <a:path w="3429000" h="9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2" name="e042_12 个远期方向各有假设链与有限化入口，不是 12 个已证算法">
            <a:extLst xmlns:a="http://schemas.openxmlformats.org/drawingml/2006/main">
              <a:ext uri="{FF2B5EF4-FFF2-40B4-BE49-F238E27FC236}">
                <a16:creationId xmlns:a16="http://schemas.microsoft.com/office/drawing/2014/main" id="{49B00A68-D7AA-45F4-A726-4E396970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12 个远期方向各有假设链与有限化入口，不是 12 个已证算法</a:t>
            </a:r>
          </a:p>
        </p:txBody>
      </p:sp>
    </p:spTree>
    <p:extLst>
      <p:ext uri="{BB962C8B-B14F-4D97-AF65-F5344CB8AC3E}">
        <p14:creationId xmlns:p14="http://schemas.microsoft.com/office/powerpoint/2010/main" val="209585516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001_完整程序怎样组织">
            <a:extLst xmlns:a="http://schemas.openxmlformats.org/drawingml/2006/main">
              <a:ext uri="{FF2B5EF4-FFF2-40B4-BE49-F238E27FC236}">
                <a16:creationId xmlns:a16="http://schemas.microsoft.com/office/drawing/2014/main" id="{0B9271E4-6987-4854-ADC3-823CCE42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完整程序怎样组织</a:t>
            </a:r>
          </a:p>
        </p:txBody>
      </p:sp>
      <p:sp>
        <p:nvSpPr>
          <p:cNvPr id="2" name="e002_48机制＋20组合＋12世界＋13学习阶段">
            <a:extLst xmlns:a="http://schemas.openxmlformats.org/drawingml/2006/main">
              <a:ext uri="{FF2B5EF4-FFF2-40B4-BE49-F238E27FC236}">
                <a16:creationId xmlns:a16="http://schemas.microsoft.com/office/drawing/2014/main" id="{8F0668DE-4586-408E-A854-8D34EC92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48机制＋20组合＋12世界＋13学习阶段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AAD56140-67C0-4314-8188-8604BCBA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CA6EBC5E-70FF-4FCD-BBD0-37BD355F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33 / 36">
            <a:extLst xmlns:a="http://schemas.openxmlformats.org/drawingml/2006/main">
              <a:ext uri="{FF2B5EF4-FFF2-40B4-BE49-F238E27FC236}">
                <a16:creationId xmlns:a16="http://schemas.microsoft.com/office/drawing/2014/main" id="{119D2EF3-A9C7-44C1-90D2-F3BAA75C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33 / 36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19FA78C5-5BFB-40BB-9BCC-589A996D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34544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7" name="e007_目标源码">
            <a:extLst xmlns:a="http://schemas.openxmlformats.org/drawingml/2006/main">
              <a:ext uri="{FF2B5EF4-FFF2-40B4-BE49-F238E27FC236}">
                <a16:creationId xmlns:a16="http://schemas.microsoft.com/office/drawing/2014/main" id="{AE9C6F30-F0D4-4DA7-BA7C-51C98736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71750"/>
            <a:ext cx="316865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目标源码</a:t>
            </a:r>
          </a:p>
        </p:txBody>
      </p:sp>
      <p:sp>
        <p:nvSpPr>
          <p:cNvPr id="8" name="e008_48 机制 / 20 组合&#10;12 世界 / 13 学习阶段">
            <a:extLst xmlns:a="http://schemas.openxmlformats.org/drawingml/2006/main">
              <a:ext uri="{FF2B5EF4-FFF2-40B4-BE49-F238E27FC236}">
                <a16:creationId xmlns:a16="http://schemas.microsoft.com/office/drawing/2014/main" id="{53FCF377-5386-4392-8E68-034931BB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40856"/>
            <a:ext cx="3168650" cy="62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48 机制 / 20 组合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12 世界 / 13 学习阶段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938C4292-128C-406A-A627-5C67EFE3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150" y="342900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B9415A2B-373C-4190-99B5-34E43324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381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1" name="e011_rect">
            <a:extLst xmlns:a="http://schemas.openxmlformats.org/drawingml/2006/main">
              <a:ext uri="{FF2B5EF4-FFF2-40B4-BE49-F238E27FC236}">
                <a16:creationId xmlns:a16="http://schemas.microsoft.com/office/drawing/2014/main" id="{23273758-0432-452E-8849-3AEAD8F5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428875"/>
            <a:ext cx="34544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2" name="e012_Typed IR">
            <a:extLst xmlns:a="http://schemas.openxmlformats.org/drawingml/2006/main">
              <a:ext uri="{FF2B5EF4-FFF2-40B4-BE49-F238E27FC236}">
                <a16:creationId xmlns:a16="http://schemas.microsoft.com/office/drawing/2014/main" id="{E9B79758-7872-488E-9E9A-94BD5022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2571750"/>
            <a:ext cx="316865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Typed IR</a:t>
            </a:r>
          </a:p>
        </p:txBody>
      </p:sp>
      <p:sp>
        <p:nvSpPr>
          <p:cNvPr id="13" name="e013_未来研究计算图&#10;类型、依赖与权限">
            <a:extLst xmlns:a="http://schemas.openxmlformats.org/drawingml/2006/main">
              <a:ext uri="{FF2B5EF4-FFF2-40B4-BE49-F238E27FC236}">
                <a16:creationId xmlns:a16="http://schemas.microsoft.com/office/drawing/2014/main" id="{9010C00C-B653-425D-8397-22B7693F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3040856"/>
            <a:ext cx="3168650" cy="62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未来研究计算图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类型、依赖与权限</a:t>
            </a:r>
          </a:p>
        </p:txBody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32E5DEB1-407C-44F9-AF3F-A9139BB4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350" y="342900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4E95BDE9-AF77-4713-B0F2-8C9C5826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381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6" name="e016_rect">
            <a:extLst xmlns:a="http://schemas.openxmlformats.org/drawingml/2006/main">
              <a:ext uri="{FF2B5EF4-FFF2-40B4-BE49-F238E27FC236}">
                <a16:creationId xmlns:a16="http://schemas.microsoft.com/office/drawing/2014/main" id="{10EB4F43-FD9F-4C7A-A589-FA300150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428875"/>
            <a:ext cx="34544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17" name="e017_任务 DAG">
            <a:extLst xmlns:a="http://schemas.openxmlformats.org/drawingml/2006/main">
              <a:ext uri="{FF2B5EF4-FFF2-40B4-BE49-F238E27FC236}">
                <a16:creationId xmlns:a16="http://schemas.microsoft.com/office/drawing/2014/main" id="{BA6ECAF2-2AEA-40A2-8A9D-D7E93643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2571750"/>
            <a:ext cx="316865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任务 DAG</a:t>
            </a:r>
          </a:p>
        </p:txBody>
      </p:sp>
      <p:sp>
        <p:nvSpPr>
          <p:cNvPr id="18" name="e018_当前生产调度&#10;文件 owner 与回执">
            <a:extLst xmlns:a="http://schemas.openxmlformats.org/drawingml/2006/main">
              <a:ext uri="{FF2B5EF4-FFF2-40B4-BE49-F238E27FC236}">
                <a16:creationId xmlns:a16="http://schemas.microsoft.com/office/drawing/2014/main" id="{8229D97F-A1EB-43BA-96E8-299792BD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3040856"/>
            <a:ext cx="3168650" cy="62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当前生产调度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文件 owner 与回执</a:t>
            </a:r>
          </a:p>
        </p:txBody>
      </p:sp>
      <p:sp>
        <p:nvSpPr>
          <p:cNvPr id="19" name="e019_研究计算图 ≠ 产物生产任务图">
            <a:extLst xmlns:a="http://schemas.openxmlformats.org/drawingml/2006/main">
              <a:ext uri="{FF2B5EF4-FFF2-40B4-BE49-F238E27FC236}">
                <a16:creationId xmlns:a16="http://schemas.microsoft.com/office/drawing/2014/main" id="{EF5EFFCD-8C2D-4ADB-BBEE-1B226955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0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研究计算图 ≠ 产物生产任务图</a:t>
            </a:r>
          </a:p>
        </p:txBody>
      </p:sp>
      <p:sp>
        <p:nvSpPr>
          <p:cNvPr id="20" name="e020_源码准备与静态检查不推出模型研究结果">
            <a:extLst xmlns:a="http://schemas.openxmlformats.org/drawingml/2006/main">
              <a:ext uri="{FF2B5EF4-FFF2-40B4-BE49-F238E27FC236}">
                <a16:creationId xmlns:a16="http://schemas.microsoft.com/office/drawing/2014/main" id="{8F3EAF91-0C6C-403C-B1E9-A2D7AF25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源码准备与静态检查不推出模型研究结果</a:t>
            </a:r>
          </a:p>
        </p:txBody>
      </p:sp>
    </p:spTree>
    <p:extLst>
      <p:ext uri="{BB962C8B-B14F-4D97-AF65-F5344CB8AC3E}">
        <p14:creationId xmlns:p14="http://schemas.microsoft.com/office/powerpoint/2010/main" val="206653797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001_让Dot自动执行，但不越界">
            <a:extLst xmlns:a="http://schemas.openxmlformats.org/drawingml/2006/main">
              <a:ext uri="{FF2B5EF4-FFF2-40B4-BE49-F238E27FC236}">
                <a16:creationId xmlns:a16="http://schemas.microsoft.com/office/drawing/2014/main" id="{C89B88A4-FEAC-4A8E-B407-B03699BF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让Dot自动执行，但不越界</a:t>
            </a:r>
          </a:p>
        </p:txBody>
      </p:sp>
      <p:sp>
        <p:nvSpPr>
          <p:cNvPr id="2" name="e002_文件所有者、持久状态、动作权限、真实回执">
            <a:extLst xmlns:a="http://schemas.openxmlformats.org/drawingml/2006/main">
              <a:ext uri="{FF2B5EF4-FFF2-40B4-BE49-F238E27FC236}">
                <a16:creationId xmlns:a16="http://schemas.microsoft.com/office/drawing/2014/main" id="{2762868D-5621-4636-81AB-9018EBBC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文件所有者、持久状态、动作权限、真实回执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FFC0B65D-506A-4035-95DE-5100A432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82B7E1C1-E042-43F0-B5B0-61849318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34 / 36">
            <a:extLst xmlns:a="http://schemas.openxmlformats.org/drawingml/2006/main">
              <a:ext uri="{FF2B5EF4-FFF2-40B4-BE49-F238E27FC236}">
                <a16:creationId xmlns:a16="http://schemas.microsoft.com/office/drawing/2014/main" id="{8DADA29C-9F29-4D46-A2B1-CBFB93B0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34 / 36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80D9A96A-EA89-4658-8C98-4844D8A2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571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7" name="e007_PLAN_ROOT">
            <a:extLst xmlns:a="http://schemas.openxmlformats.org/drawingml/2006/main">
              <a:ext uri="{FF2B5EF4-FFF2-40B4-BE49-F238E27FC236}">
                <a16:creationId xmlns:a16="http://schemas.microsoft.com/office/drawing/2014/main" id="{A13A16B0-BDA1-40C2-A50C-0ED4BCA0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33625"/>
            <a:ext cx="228600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PLAN_ROOT</a:t>
            </a:r>
          </a:p>
        </p:txBody>
      </p:sp>
      <p:sp>
        <p:nvSpPr>
          <p:cNvPr id="8" name="e008_只读设计与政策">
            <a:extLst xmlns:a="http://schemas.openxmlformats.org/drawingml/2006/main">
              <a:ext uri="{FF2B5EF4-FFF2-40B4-BE49-F238E27FC236}">
                <a16:creationId xmlns:a16="http://schemas.microsoft.com/office/drawing/2014/main" id="{3CACDA73-FF68-43FB-96AE-28BFD264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67013"/>
            <a:ext cx="228600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只读设计与政策</a:t>
            </a:r>
          </a:p>
        </p:txBody>
      </p:sp>
      <p:sp>
        <p:nvSpPr>
          <p:cNvPr id="9" name="e009_rect">
            <a:extLst xmlns:a="http://schemas.openxmlformats.org/drawingml/2006/main">
              <a:ext uri="{FF2B5EF4-FFF2-40B4-BE49-F238E27FC236}">
                <a16:creationId xmlns:a16="http://schemas.microsoft.com/office/drawing/2014/main" id="{7434C140-A84E-4006-91B7-F0231B03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952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10" name="e010_任务 DAG / owner">
            <a:extLst xmlns:a="http://schemas.openxmlformats.org/drawingml/2006/main">
              <a:ext uri="{FF2B5EF4-FFF2-40B4-BE49-F238E27FC236}">
                <a16:creationId xmlns:a16="http://schemas.microsoft.com/office/drawing/2014/main" id="{89F6830A-FED5-45F2-9019-CCB50BC3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33625"/>
            <a:ext cx="266700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任务 DAG / owner</a:t>
            </a:r>
          </a:p>
        </p:txBody>
      </p:sp>
      <p:sp>
        <p:nvSpPr>
          <p:cNvPr id="11" name="e011_每文件只有一个写入者">
            <a:extLst xmlns:a="http://schemas.openxmlformats.org/drawingml/2006/main">
              <a:ext uri="{FF2B5EF4-FFF2-40B4-BE49-F238E27FC236}">
                <a16:creationId xmlns:a16="http://schemas.microsoft.com/office/drawing/2014/main" id="{739CDF46-E3FB-4EEA-AE2B-997D9D3E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67013"/>
            <a:ext cx="266700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每文件只有一个写入者</a:t>
            </a:r>
          </a:p>
        </p:txBody>
      </p:sp>
      <p:sp>
        <p:nvSpPr>
          <p:cNvPr id="12" name="e012_rect">
            <a:extLst xmlns:a="http://schemas.openxmlformats.org/drawingml/2006/main">
              <a:ext uri="{FF2B5EF4-FFF2-40B4-BE49-F238E27FC236}">
                <a16:creationId xmlns:a16="http://schemas.microsoft.com/office/drawing/2014/main" id="{71DCE2EC-2B38-46FB-91E1-90EB5C60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2762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3" name="e013_WORK_ROOT">
            <a:extLst xmlns:a="http://schemas.openxmlformats.org/drawingml/2006/main">
              <a:ext uri="{FF2B5EF4-FFF2-40B4-BE49-F238E27FC236}">
                <a16:creationId xmlns:a16="http://schemas.microsoft.com/office/drawing/2014/main" id="{D79051FC-084D-48FB-85E8-1CABF6AC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247650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WORK_ROOT</a:t>
            </a:r>
          </a:p>
        </p:txBody>
      </p:sp>
      <p:sp>
        <p:nvSpPr>
          <p:cNvPr id="14" name="e014_授权范围内写入">
            <a:extLst xmlns:a="http://schemas.openxmlformats.org/drawingml/2006/main">
              <a:ext uri="{FF2B5EF4-FFF2-40B4-BE49-F238E27FC236}">
                <a16:creationId xmlns:a16="http://schemas.microsoft.com/office/drawing/2014/main" id="{52E459A5-BA50-41D1-880B-D9913CEF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7013"/>
            <a:ext cx="247650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授权范围内写入</a:t>
            </a:r>
          </a:p>
        </p:txBody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0ECE2194-EBA7-434A-B92A-974257F3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62250"/>
            <a:ext cx="1171575" cy="95"/>
          </a:xfrm>
          <a:custGeom xmlns:a="http://schemas.openxmlformats.org/drawingml/2006/main">
            <a:pathLst>
              <a:path w="1171575" h="95">
                <a:moveTo>
                  <a:pt x="0" y="0"/>
                </a:moveTo>
                <a:lnTo>
                  <a:pt x="1171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96974"/>
            </a:solidFill>
            <a:prstDash val="solid"/>
          </a:ln>
        </p:spPr>
      </p:sp>
      <p:sp>
        <p:nvSpPr>
          <p:cNvPr id="16" name="e016_polyline">
            <a:extLst xmlns:a="http://schemas.openxmlformats.org/drawingml/2006/main">
              <a:ext uri="{FF2B5EF4-FFF2-40B4-BE49-F238E27FC236}">
                <a16:creationId xmlns:a16="http://schemas.microsoft.com/office/drawing/2014/main" id="{95DB82C0-6A37-4F57-B631-EEF767DC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1462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96974"/>
            </a:solidFill>
            <a:prstDash val="solid"/>
          </a:ln>
        </p:spPr>
      </p:sp>
      <p:sp>
        <p:nvSpPr>
          <p:cNvPr id="17" name="e017_rect">
            <a:extLst xmlns:a="http://schemas.openxmlformats.org/drawingml/2006/main">
              <a:ext uri="{FF2B5EF4-FFF2-40B4-BE49-F238E27FC236}">
                <a16:creationId xmlns:a16="http://schemas.microsoft.com/office/drawing/2014/main" id="{2E678A15-7159-4E13-853B-4BD1AD7B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619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9E1EC"/>
          </a:solidFill>
          <a:ln xmlns:a="http://schemas.openxmlformats.org/drawingml/2006/main" w="19050">
            <a:solidFill>
              <a:srgbClr val="725D7C"/>
            </a:solidFill>
            <a:prstDash val="solid"/>
          </a:ln>
        </p:spPr>
      </p:sp>
      <p:sp>
        <p:nvSpPr>
          <p:cNvPr id="18" name="e018_ledger / receipt">
            <a:extLst xmlns:a="http://schemas.openxmlformats.org/drawingml/2006/main">
              <a:ext uri="{FF2B5EF4-FFF2-40B4-BE49-F238E27FC236}">
                <a16:creationId xmlns:a16="http://schemas.microsoft.com/office/drawing/2014/main" id="{D25CB7DB-D917-4838-B19E-57BE7258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91000"/>
            <a:ext cx="3333750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ledger / receipt</a:t>
            </a:r>
          </a:p>
        </p:txBody>
      </p:sp>
      <p:sp>
        <p:nvSpPr>
          <p:cNvPr id="19" name="e019_输入摘要、产物哈希、真实检查">
            <a:extLst xmlns:a="http://schemas.openxmlformats.org/drawingml/2006/main">
              <a:ext uri="{FF2B5EF4-FFF2-40B4-BE49-F238E27FC236}">
                <a16:creationId xmlns:a16="http://schemas.microsoft.com/office/drawing/2014/main" id="{0E660FA3-17FC-4B6D-ACA8-28CD6409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612481"/>
            <a:ext cx="33337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输入摘要、产物哈希、真实检查</a:t>
            </a:r>
          </a:p>
        </p:txBody>
      </p:sp>
      <p:sp>
        <p:nvSpPr>
          <p:cNvPr id="20" name="e020_rect">
            <a:extLst xmlns:a="http://schemas.openxmlformats.org/drawingml/2006/main">
              <a:ext uri="{FF2B5EF4-FFF2-40B4-BE49-F238E27FC236}">
                <a16:creationId xmlns:a16="http://schemas.microsoft.com/office/drawing/2014/main" id="{D92B84C5-325C-487A-BEB0-BBDD87C9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48125"/>
            <a:ext cx="6210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21" name="e021_action broker">
            <a:extLst xmlns:a="http://schemas.openxmlformats.org/drawingml/2006/main">
              <a:ext uri="{FF2B5EF4-FFF2-40B4-BE49-F238E27FC236}">
                <a16:creationId xmlns:a16="http://schemas.microsoft.com/office/drawing/2014/main" id="{714F69A6-4370-4B55-B734-E57BF7A9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191000"/>
            <a:ext cx="592455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action broker</a:t>
            </a:r>
          </a:p>
        </p:txBody>
      </p:sp>
      <p:sp>
        <p:nvSpPr>
          <p:cNvPr id="22" name="e022_禁止：研究模型运行 / 新增付费 / 公开发布">
            <a:extLst xmlns:a="http://schemas.openxmlformats.org/drawingml/2006/main">
              <a:ext uri="{FF2B5EF4-FFF2-40B4-BE49-F238E27FC236}">
                <a16:creationId xmlns:a16="http://schemas.microsoft.com/office/drawing/2014/main" id="{D2A82DF6-542D-4323-8EBE-D452099C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624388"/>
            <a:ext cx="59245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禁止：研究模型运行 / 新增付费 / 公开发布</a:t>
            </a:r>
          </a:p>
        </p:txBody>
      </p:sp>
      <p:sp>
        <p:nvSpPr>
          <p:cNvPr id="23" name="e023_polyline">
            <a:extLst xmlns:a="http://schemas.openxmlformats.org/drawingml/2006/main">
              <a:ext uri="{FF2B5EF4-FFF2-40B4-BE49-F238E27FC236}">
                <a16:creationId xmlns:a16="http://schemas.microsoft.com/office/drawing/2014/main" id="{F16274DA-D141-49F2-9D2F-ABC9B462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29000"/>
            <a:ext cx="95" cy="476250"/>
          </a:xfrm>
          <a:custGeom xmlns:a="http://schemas.openxmlformats.org/drawingml/2006/main">
            <a:pathLst>
              <a:path w="9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24" name="e024_polyline">
            <a:extLst xmlns:a="http://schemas.openxmlformats.org/drawingml/2006/main">
              <a:ext uri="{FF2B5EF4-FFF2-40B4-BE49-F238E27FC236}">
                <a16:creationId xmlns:a16="http://schemas.microsoft.com/office/drawing/2014/main" id="{665DB31D-CB70-4F25-AB7F-0B00E329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90950"/>
            <a:ext cx="95250" cy="114300"/>
          </a:xfrm>
          <a:custGeom xmlns:a="http://schemas.openxmlformats.org/drawingml/2006/main">
            <a:pathLst>
              <a:path w="95250" h="114300">
                <a:moveTo>
                  <a:pt x="95250" y="0"/>
                </a:moveTo>
                <a:lnTo>
                  <a:pt x="47625" y="1143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25" name="e025_polyline">
            <a:extLst xmlns:a="http://schemas.openxmlformats.org/drawingml/2006/main">
              <a:ext uri="{FF2B5EF4-FFF2-40B4-BE49-F238E27FC236}">
                <a16:creationId xmlns:a16="http://schemas.microsoft.com/office/drawing/2014/main" id="{8CE1F37E-DC22-47F0-B40A-1A0B4835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48050"/>
            <a:ext cx="95" cy="504825"/>
          </a:xfrm>
          <a:custGeom xmlns:a="http://schemas.openxmlformats.org/drawingml/2006/main">
            <a:pathLst>
              <a:path w="95" h="504825">
                <a:moveTo>
                  <a:pt x="0" y="504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26" name="e026_polyline">
            <a:extLst xmlns:a="http://schemas.openxmlformats.org/drawingml/2006/main">
              <a:ext uri="{FF2B5EF4-FFF2-40B4-BE49-F238E27FC236}">
                <a16:creationId xmlns:a16="http://schemas.microsoft.com/office/drawing/2014/main" id="{40C1ED43-8ED1-4C56-B965-176FF5AB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448050"/>
            <a:ext cx="95250" cy="114300"/>
          </a:xfrm>
          <a:custGeom xmlns:a="http://schemas.openxmlformats.org/drawingml/2006/main">
            <a:pathLst>
              <a:path w="95250" h="114300">
                <a:moveTo>
                  <a:pt x="0" y="114300"/>
                </a:moveTo>
                <a:lnTo>
                  <a:pt x="47625" y="0"/>
                </a:lnTo>
                <a:lnTo>
                  <a:pt x="9525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27" name="e027_polyline">
            <a:extLst xmlns:a="http://schemas.openxmlformats.org/drawingml/2006/main">
              <a:ext uri="{FF2B5EF4-FFF2-40B4-BE49-F238E27FC236}">
                <a16:creationId xmlns:a16="http://schemas.microsoft.com/office/drawing/2014/main" id="{00705864-6F70-43B5-8CCB-8B8D134E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48200"/>
            <a:ext cx="1038225" cy="95"/>
          </a:xfrm>
          <a:custGeom xmlns:a="http://schemas.openxmlformats.org/drawingml/2006/main">
            <a:pathLst>
              <a:path w="1038225" h="95">
                <a:moveTo>
                  <a:pt x="10382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25D7C"/>
            </a:solidFill>
            <a:prstDash val="solid"/>
          </a:ln>
        </p:spPr>
      </p:sp>
      <p:sp>
        <p:nvSpPr>
          <p:cNvPr id="28" name="e028_polyline">
            <a:extLst xmlns:a="http://schemas.openxmlformats.org/drawingml/2006/main">
              <a:ext uri="{FF2B5EF4-FFF2-40B4-BE49-F238E27FC236}">
                <a16:creationId xmlns:a16="http://schemas.microsoft.com/office/drawing/2014/main" id="{C3BEB214-BFA2-4668-B0F9-0C00F35A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005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95250"/>
                </a:moveTo>
                <a:lnTo>
                  <a:pt x="0" y="47625"/>
                </a:ln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25D7C"/>
            </a:solidFill>
            <a:prstDash val="solid"/>
          </a:ln>
        </p:spPr>
      </p:sp>
      <p:sp>
        <p:nvSpPr>
          <p:cNvPr id="29" name="e029_应用级权限防线，不声称已验证硬沙箱；未授权动作不执行">
            <a:extLst xmlns:a="http://schemas.openxmlformats.org/drawingml/2006/main">
              <a:ext uri="{FF2B5EF4-FFF2-40B4-BE49-F238E27FC236}">
                <a16:creationId xmlns:a16="http://schemas.microsoft.com/office/drawing/2014/main" id="{918F0ABB-AFA1-4A23-831A-CF6E9DA7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应用级权限防线，不声称已验证硬沙箱；未授权动作不执行</a:t>
            </a:r>
          </a:p>
        </p:txBody>
      </p:sp>
    </p:spTree>
    <p:extLst>
      <p:ext uri="{BB962C8B-B14F-4D97-AF65-F5344CB8AC3E}">
        <p14:creationId xmlns:p14="http://schemas.microsoft.com/office/powerpoint/2010/main" val="25105665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001_这轮到底交付什么">
            <a:extLst xmlns:a="http://schemas.openxmlformats.org/drawingml/2006/main">
              <a:ext uri="{FF2B5EF4-FFF2-40B4-BE49-F238E27FC236}">
                <a16:creationId xmlns:a16="http://schemas.microsoft.com/office/drawing/2014/main" id="{F3689E7F-0949-4DC4-A104-51C5E5ED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这轮到底交付什么</a:t>
            </a:r>
          </a:p>
        </p:txBody>
      </p:sp>
      <p:sp>
        <p:nvSpPr>
          <p:cNvPr id="2" name="e002_设计和完整源码准备，不提供虚构结果">
            <a:extLst xmlns:a="http://schemas.openxmlformats.org/drawingml/2006/main">
              <a:ext uri="{FF2B5EF4-FFF2-40B4-BE49-F238E27FC236}">
                <a16:creationId xmlns:a16="http://schemas.microsoft.com/office/drawing/2014/main" id="{5ABE8D2C-E978-4977-9DAD-847DECB1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设计和完整源码准备，不提供虚构结果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18A4E0C4-580A-4C93-BE1C-EA78248C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F927EDD5-7324-43A2-9CC2-C64DF7AD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35 / 36">
            <a:extLst xmlns:a="http://schemas.openxmlformats.org/drawingml/2006/main">
              <a:ext uri="{FF2B5EF4-FFF2-40B4-BE49-F238E27FC236}">
                <a16:creationId xmlns:a16="http://schemas.microsoft.com/office/drawing/2014/main" id="{D2CAB4FA-D113-4717-B850-3490AF64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35 / 36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A9DB5D9B-15BB-4BBE-8C11-0BE79B2E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454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7" name="e007_研究设计">
            <a:extLst xmlns:a="http://schemas.openxmlformats.org/drawingml/2006/main">
              <a:ext uri="{FF2B5EF4-FFF2-40B4-BE49-F238E27FC236}">
                <a16:creationId xmlns:a16="http://schemas.microsoft.com/office/drawing/2014/main" id="{97DC5AD9-D3E4-478C-BDD5-8ABBB916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24125"/>
            <a:ext cx="3168650" cy="435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研究设计</a:t>
            </a:r>
          </a:p>
        </p:txBody>
      </p:sp>
      <p:sp>
        <p:nvSpPr>
          <p:cNvPr id="8" name="e008_对象、条件、反例&#10;候选创新与来源">
            <a:extLst xmlns:a="http://schemas.openxmlformats.org/drawingml/2006/main">
              <a:ext uri="{FF2B5EF4-FFF2-40B4-BE49-F238E27FC236}">
                <a16:creationId xmlns:a16="http://schemas.microsoft.com/office/drawing/2014/main" id="{803FB014-D618-4982-9C59-802AA248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81325"/>
            <a:ext cx="3168650" cy="62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对象、条件、反例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候选创新与来源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F1F532BE-839A-4045-B59C-602F1C30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150" y="342900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E42ABFC7-F632-4191-B4A4-43ACC15D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381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1" name="e011_rect">
            <a:extLst xmlns:a="http://schemas.openxmlformats.org/drawingml/2006/main">
              <a:ext uri="{FF2B5EF4-FFF2-40B4-BE49-F238E27FC236}">
                <a16:creationId xmlns:a16="http://schemas.microsoft.com/office/drawing/2014/main" id="{9C644C9A-ABA0-48E0-A2C6-7D25C569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381250"/>
            <a:ext cx="3454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12" name="e012_源码与工程准备">
            <a:extLst xmlns:a="http://schemas.openxmlformats.org/drawingml/2006/main">
              <a:ext uri="{FF2B5EF4-FFF2-40B4-BE49-F238E27FC236}">
                <a16:creationId xmlns:a16="http://schemas.microsoft.com/office/drawing/2014/main" id="{8238C80D-1FB4-4F80-A39A-864C5821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2524125"/>
            <a:ext cx="3168650" cy="435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源码与工程准备</a:t>
            </a:r>
          </a:p>
        </p:txBody>
      </p:sp>
      <p:sp>
        <p:nvSpPr>
          <p:cNvPr id="13" name="e013_具体模块与静态检查&#10;可编辑媒体及真实导出">
            <a:extLst xmlns:a="http://schemas.openxmlformats.org/drawingml/2006/main">
              <a:ext uri="{FF2B5EF4-FFF2-40B4-BE49-F238E27FC236}">
                <a16:creationId xmlns:a16="http://schemas.microsoft.com/office/drawing/2014/main" id="{EBF6CB5C-AD73-470B-9AF7-CF3B7043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2981325"/>
            <a:ext cx="3168650" cy="62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具体模块与静态检查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可编辑媒体及真实导出</a:t>
            </a:r>
          </a:p>
        </p:txBody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1D352D64-3663-4E54-B2AC-0CEE3173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350" y="342900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70E9D25D-7ED7-4F85-BC33-15868F57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381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6" name="e016_rect">
            <a:extLst xmlns:a="http://schemas.openxmlformats.org/drawingml/2006/main">
              <a:ext uri="{FF2B5EF4-FFF2-40B4-BE49-F238E27FC236}">
                <a16:creationId xmlns:a16="http://schemas.microsoft.com/office/drawing/2014/main" id="{9239C0FB-25A6-4277-BFFA-FE169B98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381250"/>
            <a:ext cx="3454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7" name="e017_研究模型未运行">
            <a:extLst xmlns:a="http://schemas.openxmlformats.org/drawingml/2006/main">
              <a:ext uri="{FF2B5EF4-FFF2-40B4-BE49-F238E27FC236}">
                <a16:creationId xmlns:a16="http://schemas.microsoft.com/office/drawing/2014/main" id="{2C090117-ED45-4F42-BB60-7724F41D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2524125"/>
            <a:ext cx="3168650" cy="435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研究模型未运行</a:t>
            </a:r>
          </a:p>
        </p:txBody>
      </p:sp>
      <p:sp>
        <p:nvSpPr>
          <p:cNvPr id="18" name="e018_初始化 / 推理 / 训练&#10;评测 / benchmark&#10;运行次数为 ">
            <a:extLst xmlns:a="http://schemas.openxmlformats.org/drawingml/2006/main">
              <a:ext uri="{FF2B5EF4-FFF2-40B4-BE49-F238E27FC236}">
                <a16:creationId xmlns:a16="http://schemas.microsoft.com/office/drawing/2014/main" id="{38378F0A-04E1-4424-8F53-0DE07BF4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2981325"/>
            <a:ext cx="3168650" cy="939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初始化 / 推理 / 训练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评测 / benchmark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运行次数为 0</a:t>
            </a:r>
          </a:p>
        </p:txBody>
      </p:sp>
      <p:sp>
        <p:nvSpPr>
          <p:cNvPr id="19" name="e019_实际文件、检查回执与外部阻塞分别记录，不用完成标签替代证据">
            <a:extLst xmlns:a="http://schemas.openxmlformats.org/drawingml/2006/main">
              <a:ext uri="{FF2B5EF4-FFF2-40B4-BE49-F238E27FC236}">
                <a16:creationId xmlns:a16="http://schemas.microsoft.com/office/drawing/2014/main" id="{8B58CB44-D08C-4581-BF60-352380CD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实际文件、检查回执与外部阻塞分别记录，不用完成标签替代证据</a:t>
            </a:r>
          </a:p>
        </p:txBody>
      </p:sp>
    </p:spTree>
    <p:extLst>
      <p:ext uri="{BB962C8B-B14F-4D97-AF65-F5344CB8AC3E}">
        <p14:creationId xmlns:p14="http://schemas.microsoft.com/office/powerpoint/2010/main" val="75116945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001_最终问题：交流能否创造新的认知可能">
            <a:extLst xmlns:a="http://schemas.openxmlformats.org/drawingml/2006/main">
              <a:ext uri="{FF2B5EF4-FFF2-40B4-BE49-F238E27FC236}">
                <a16:creationId xmlns:a16="http://schemas.microsoft.com/office/drawing/2014/main" id="{FFED439B-E5CE-4662-BE89-874E1FD3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最终问题：交流能否创造新的认知可能</a:t>
            </a:r>
          </a:p>
        </p:txBody>
      </p:sp>
      <p:sp>
        <p:nvSpPr>
          <p:cNvPr id="2" name="e002_从交换已有知识，走向产生新的表达与学习方式">
            <a:extLst xmlns:a="http://schemas.openxmlformats.org/drawingml/2006/main">
              <a:ext uri="{FF2B5EF4-FFF2-40B4-BE49-F238E27FC236}">
                <a16:creationId xmlns:a16="http://schemas.microsoft.com/office/drawing/2014/main" id="{ED6583F0-9BA4-4FA6-BEE2-30BB588C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从交换已有知识，走向产生新的表达与学习方式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D8659B57-F887-41FF-BFF1-46DAA105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890F3677-39AD-4433-8C45-91FF4C13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36 / 36">
            <a:extLst xmlns:a="http://schemas.openxmlformats.org/drawingml/2006/main">
              <a:ext uri="{FF2B5EF4-FFF2-40B4-BE49-F238E27FC236}">
                <a16:creationId xmlns:a16="http://schemas.microsoft.com/office/drawing/2014/main" id="{C4A8E77E-AC50-4DFE-9849-E9651DAB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36 / 36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25C3D534-7E27-4BE5-9A13-8590D6ED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7" name="e007_概念">
            <a:extLst xmlns:a="http://schemas.openxmlformats.org/drawingml/2006/main">
              <a:ext uri="{FF2B5EF4-FFF2-40B4-BE49-F238E27FC236}">
                <a16:creationId xmlns:a16="http://schemas.microsoft.com/office/drawing/2014/main" id="{8A36BC55-7BC0-49FE-AAB0-8F808AC8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86125"/>
            <a:ext cx="219075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概念</a:t>
            </a:r>
          </a:p>
        </p:txBody>
      </p:sp>
      <p:sp>
        <p:nvSpPr>
          <p:cNvPr id="8" name="e008_新谓词">
            <a:extLst xmlns:a="http://schemas.openxmlformats.org/drawingml/2006/main">
              <a:ext uri="{FF2B5EF4-FFF2-40B4-BE49-F238E27FC236}">
                <a16:creationId xmlns:a16="http://schemas.microsoft.com/office/drawing/2014/main" id="{97400C31-3BDA-468F-AAB6-82AD169E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90950"/>
            <a:ext cx="21907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新谓词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DEB630C6-93F3-48BE-8542-6A419152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781425"/>
            <a:ext cx="180975" cy="95"/>
          </a:xfrm>
          <a:custGeom xmlns:a="http://schemas.openxmlformats.org/drawingml/2006/main">
            <a:pathLst>
              <a:path w="180975" h="9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A71385C1-5D80-4288-9452-05721D09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3380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1" name="e011_rect">
            <a:extLst xmlns:a="http://schemas.openxmlformats.org/drawingml/2006/main">
              <a:ext uri="{FF2B5EF4-FFF2-40B4-BE49-F238E27FC236}">
                <a16:creationId xmlns:a16="http://schemas.microsoft.com/office/drawing/2014/main" id="{B22E13AE-09B6-450A-8314-E1E4CF2C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432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2" name="e012_问题">
            <a:extLst xmlns:a="http://schemas.openxmlformats.org/drawingml/2006/main">
              <a:ext uri="{FF2B5EF4-FFF2-40B4-BE49-F238E27FC236}">
                <a16:creationId xmlns:a16="http://schemas.microsoft.com/office/drawing/2014/main" id="{D916EE6C-3EB4-4026-B167-23FFC136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86125"/>
            <a:ext cx="219075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3" name="e013_解关系">
            <a:extLst xmlns:a="http://schemas.openxmlformats.org/drawingml/2006/main">
              <a:ext uri="{FF2B5EF4-FFF2-40B4-BE49-F238E27FC236}">
                <a16:creationId xmlns:a16="http://schemas.microsoft.com/office/drawing/2014/main" id="{0127A08F-122B-4155-923B-F4857481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90950"/>
            <a:ext cx="21907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解关系</a:t>
            </a:r>
          </a:p>
        </p:txBody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22950F85-3A4C-4AF5-9C93-DEC7ABFF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81425"/>
            <a:ext cx="180975" cy="95"/>
          </a:xfrm>
          <a:custGeom xmlns:a="http://schemas.openxmlformats.org/drawingml/2006/main">
            <a:pathLst>
              <a:path w="180975" h="9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88B1D5D8-7DDE-4FE2-95B5-10B6CFBB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73380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6" name="e016_rect">
            <a:extLst xmlns:a="http://schemas.openxmlformats.org/drawingml/2006/main">
              <a:ext uri="{FF2B5EF4-FFF2-40B4-BE49-F238E27FC236}">
                <a16:creationId xmlns:a16="http://schemas.microsoft.com/office/drawing/2014/main" id="{251BE95F-3A22-4B3F-9857-C23F8CBB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17" name="e017_学习">
            <a:extLst xmlns:a="http://schemas.openxmlformats.org/drawingml/2006/main">
              <a:ext uri="{FF2B5EF4-FFF2-40B4-BE49-F238E27FC236}">
                <a16:creationId xmlns:a16="http://schemas.microsoft.com/office/drawing/2014/main" id="{B18D5CCC-566A-4648-B9A8-50E2435F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86125"/>
            <a:ext cx="219075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学习</a:t>
            </a:r>
          </a:p>
        </p:txBody>
      </p:sp>
      <p:sp>
        <p:nvSpPr>
          <p:cNvPr id="18" name="e018_更新规则">
            <a:extLst xmlns:a="http://schemas.openxmlformats.org/drawingml/2006/main">
              <a:ext uri="{FF2B5EF4-FFF2-40B4-BE49-F238E27FC236}">
                <a16:creationId xmlns:a16="http://schemas.microsoft.com/office/drawing/2014/main" id="{18F79117-064E-4827-84AD-8F2F41FC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90950"/>
            <a:ext cx="21907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更新规则</a:t>
            </a:r>
          </a:p>
        </p:txBody>
      </p:sp>
      <p:sp>
        <p:nvSpPr>
          <p:cNvPr id="19" name="e019_polyline">
            <a:extLst xmlns:a="http://schemas.openxmlformats.org/drawingml/2006/main">
              <a:ext uri="{FF2B5EF4-FFF2-40B4-BE49-F238E27FC236}">
                <a16:creationId xmlns:a16="http://schemas.microsoft.com/office/drawing/2014/main" id="{20B07EB6-B05C-423A-B369-C152B710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781425"/>
            <a:ext cx="180975" cy="95"/>
          </a:xfrm>
          <a:custGeom xmlns:a="http://schemas.openxmlformats.org/drawingml/2006/main">
            <a:pathLst>
              <a:path w="180975" h="9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0" name="e020_polyline">
            <a:extLst xmlns:a="http://schemas.openxmlformats.org/drawingml/2006/main">
              <a:ext uri="{FF2B5EF4-FFF2-40B4-BE49-F238E27FC236}">
                <a16:creationId xmlns:a16="http://schemas.microsoft.com/office/drawing/2014/main" id="{93B1787F-8E72-43B0-96FC-7F33C122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3380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1" name="e021_rect">
            <a:extLst xmlns:a="http://schemas.openxmlformats.org/drawingml/2006/main">
              <a:ext uri="{FF2B5EF4-FFF2-40B4-BE49-F238E27FC236}">
                <a16:creationId xmlns:a16="http://schemas.microsoft.com/office/drawing/2014/main" id="{69CB453E-9E29-4E04-9C03-C0CF37CA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1432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9E1EC"/>
          </a:solidFill>
          <a:ln xmlns:a="http://schemas.openxmlformats.org/drawingml/2006/main" w="19050">
            <a:solidFill>
              <a:srgbClr val="725D7C"/>
            </a:solidFill>
            <a:prstDash val="solid"/>
          </a:ln>
        </p:spPr>
      </p:sp>
      <p:sp>
        <p:nvSpPr>
          <p:cNvPr id="22" name="e022_世界">
            <a:extLst xmlns:a="http://schemas.openxmlformats.org/drawingml/2006/main">
              <a:ext uri="{FF2B5EF4-FFF2-40B4-BE49-F238E27FC236}">
                <a16:creationId xmlns:a16="http://schemas.microsoft.com/office/drawing/2014/main" id="{24D0CE04-8F9A-4811-AC34-3E2A751F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86125"/>
            <a:ext cx="219075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世界</a:t>
            </a:r>
          </a:p>
        </p:txBody>
      </p:sp>
      <p:sp>
        <p:nvSpPr>
          <p:cNvPr id="23" name="e023_可执行动力学">
            <a:extLst xmlns:a="http://schemas.openxmlformats.org/drawingml/2006/main">
              <a:ext uri="{FF2B5EF4-FFF2-40B4-BE49-F238E27FC236}">
                <a16:creationId xmlns:a16="http://schemas.microsoft.com/office/drawing/2014/main" id="{5089A559-081D-454B-8871-99C93625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90950"/>
            <a:ext cx="21907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可执行动力学</a:t>
            </a:r>
          </a:p>
        </p:txBody>
      </p:sp>
      <p:sp>
        <p:nvSpPr>
          <p:cNvPr id="24" name="e024_可操作的认知对象">
            <a:extLst xmlns:a="http://schemas.openxmlformats.org/drawingml/2006/main">
              <a:ext uri="{FF2B5EF4-FFF2-40B4-BE49-F238E27FC236}">
                <a16:creationId xmlns:a16="http://schemas.microsoft.com/office/drawing/2014/main" id="{E10AE512-F6C8-42AD-BF44-3F78B8B5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72800" cy="572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15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15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15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15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15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15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15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15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15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15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rPr>
              <a:t>可操作的认知对象</a:t>
            </a:r>
          </a:p>
        </p:txBody>
      </p:sp>
      <p:sp>
        <p:nvSpPr>
          <p:cNvPr id="25" name="e025_研究命题：交流能否扩展系统能够表达、提问和学习的对象集合？">
            <a:extLst xmlns:a="http://schemas.openxmlformats.org/drawingml/2006/main">
              <a:ext uri="{FF2B5EF4-FFF2-40B4-BE49-F238E27FC236}">
                <a16:creationId xmlns:a16="http://schemas.microsoft.com/office/drawing/2014/main" id="{465C7167-246F-43F5-827F-38A273DE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研究命题：交流能否扩展系统能够表达、提问和学习的对象集合？</a:t>
            </a:r>
          </a:p>
        </p:txBody>
      </p:sp>
    </p:spTree>
    <p:extLst>
      <p:ext uri="{BB962C8B-B14F-4D97-AF65-F5344CB8AC3E}">
        <p14:creationId xmlns:p14="http://schemas.microsoft.com/office/powerpoint/2010/main" val="312089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2026-10-24T17:08:34.7910000Z</dcterms:created>
  <dcterms:modified xsi:type="dcterms:W3CDTF">2026-10-24T17:08:34.7910000Z</dcterms:modified>
</coreProperties>
</file>