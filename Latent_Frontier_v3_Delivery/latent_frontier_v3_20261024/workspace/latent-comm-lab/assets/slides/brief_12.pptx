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f0d808a3374864" /><Relationship Type="http://schemas.openxmlformats.org/officeDocument/2006/relationships/extended-properties" Target="/docProps/app.xml" Id="Ra0c109ad1ed0441c" /><Relationship Type="http://schemas.openxmlformats.org/officeDocument/2006/relationships/officeDocument" Target="/ppt/presentation.xml" Id="R94337c3b3ed041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ceface7aaf4410"/>
  </p:sldMasterIdLst>
  <p:notesMasterIdLst>
    <p:notesMasterId xmlns:r="http://schemas.openxmlformats.org/officeDocument/2006/relationships" r:id="Rb8505ced53ae4de5"/>
  </p:notesMasterIdLst>
  <p:sldIdLst>
    <p:sldId xmlns:r="http://schemas.openxmlformats.org/officeDocument/2006/relationships" id="256" r:id="R029a6b82c8c84b61"/>
    <p:sldId xmlns:r="http://schemas.openxmlformats.org/officeDocument/2006/relationships" id="257" r:id="Re4ac52c8077946cd"/>
    <p:sldId xmlns:r="http://schemas.openxmlformats.org/officeDocument/2006/relationships" id="258" r:id="R806945939be14d50"/>
    <p:sldId xmlns:r="http://schemas.openxmlformats.org/officeDocument/2006/relationships" id="259" r:id="R2d40c7ef1b5e4f90"/>
    <p:sldId xmlns:r="http://schemas.openxmlformats.org/officeDocument/2006/relationships" id="260" r:id="R0d6d7e2866db4d25"/>
    <p:sldId xmlns:r="http://schemas.openxmlformats.org/officeDocument/2006/relationships" id="261" r:id="R5de7cbf4a6754150"/>
    <p:sldId xmlns:r="http://schemas.openxmlformats.org/officeDocument/2006/relationships" id="262" r:id="R832dc59b8b8146e9"/>
    <p:sldId xmlns:r="http://schemas.openxmlformats.org/officeDocument/2006/relationships" id="263" r:id="R1ec0f176f2484777"/>
    <p:sldId xmlns:r="http://schemas.openxmlformats.org/officeDocument/2006/relationships" id="264" r:id="Rc6a3dbdb520b4f27"/>
    <p:sldId xmlns:r="http://schemas.openxmlformats.org/officeDocument/2006/relationships" id="265" r:id="R87cc080ef9d544b8"/>
    <p:sldId xmlns:r="http://schemas.openxmlformats.org/officeDocument/2006/relationships" id="266" r:id="Rdcde8cb83d6b4961"/>
    <p:sldId xmlns:r="http://schemas.openxmlformats.org/officeDocument/2006/relationships" id="267" r:id="R83e7948831e940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0b12b33a894b1e" /><Relationship Type="http://schemas.openxmlformats.org/officeDocument/2006/relationships/slideMaster" Target="/ppt/slideMasters/slideMaster1.xml" Id="Ra0ceface7aaf4410" /><Relationship Type="http://schemas.openxmlformats.org/officeDocument/2006/relationships/notesMaster" Target="/ppt/notesMasters/notesMaster1.xml" Id="Rb8505ced53ae4de5" /><Relationship Type="http://schemas.openxmlformats.org/officeDocument/2006/relationships/presProps" Target="/ppt/presProps.xml" Id="Recf8ff266dc44330" /><Relationship Type="http://schemas.openxmlformats.org/officeDocument/2006/relationships/tableStyles" Target="/ppt/tableStyles.xml" Id="Rcedc88f017ff485e" /><Relationship Type="http://schemas.openxmlformats.org/officeDocument/2006/relationships/slide" Target="/ppt/slides/slide1.xml" Id="R029a6b82c8c84b61" /><Relationship Type="http://schemas.openxmlformats.org/officeDocument/2006/relationships/slide" Target="/ppt/slides/slide2.xml" Id="Re4ac52c8077946cd" /><Relationship Type="http://schemas.openxmlformats.org/officeDocument/2006/relationships/slide" Target="/ppt/slides/slide3.xml" Id="R806945939be14d50" /><Relationship Type="http://schemas.openxmlformats.org/officeDocument/2006/relationships/slide" Target="/ppt/slides/slide4.xml" Id="R2d40c7ef1b5e4f90" /><Relationship Type="http://schemas.openxmlformats.org/officeDocument/2006/relationships/slide" Target="/ppt/slides/slide5.xml" Id="R0d6d7e2866db4d25" /><Relationship Type="http://schemas.openxmlformats.org/officeDocument/2006/relationships/slide" Target="/ppt/slides/slide6.xml" Id="R5de7cbf4a6754150" /><Relationship Type="http://schemas.openxmlformats.org/officeDocument/2006/relationships/slide" Target="/ppt/slides/slide7.xml" Id="R832dc59b8b8146e9" /><Relationship Type="http://schemas.openxmlformats.org/officeDocument/2006/relationships/slide" Target="/ppt/slides/slide8.xml" Id="R1ec0f176f2484777" /><Relationship Type="http://schemas.openxmlformats.org/officeDocument/2006/relationships/slide" Target="/ppt/slides/slide9.xml" Id="Rc6a3dbdb520b4f27" /><Relationship Type="http://schemas.openxmlformats.org/officeDocument/2006/relationships/slide" Target="/ppt/slides/slide10.xml" Id="R87cc080ef9d544b8" /><Relationship Type="http://schemas.openxmlformats.org/officeDocument/2006/relationships/slide" Target="/ppt/slides/slide11.xml" Id="Rdcde8cb83d6b4961" /><Relationship Type="http://schemas.openxmlformats.org/officeDocument/2006/relationships/slide" Target="/ppt/slides/slide12.xml" Id="R83e7948831e940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7d4ff8c91248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9ed51a2e204be5" /><Relationship Type="http://schemas.openxmlformats.org/officeDocument/2006/relationships/notesMaster" Target="/ppt/notesMasters/notesMaster1.xml" Id="R445a6eca19b240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8a33e031c947c8" /><Relationship Type="http://schemas.openxmlformats.org/officeDocument/2006/relationships/notesMaster" Target="/ppt/notesMasters/notesMaster1.xml" Id="R64cb5a96574749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71a184ada74a6b" /><Relationship Type="http://schemas.openxmlformats.org/officeDocument/2006/relationships/notesMaster" Target="/ppt/notesMasters/notesMaster1.xml" Id="Rc0a747c0f70847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3ca97bb9754c01" /><Relationship Type="http://schemas.openxmlformats.org/officeDocument/2006/relationships/notesMaster" Target="/ppt/notesMasters/notesMaster1.xml" Id="R5f771cbe156449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7e5ffd42cb41f4" /><Relationship Type="http://schemas.openxmlformats.org/officeDocument/2006/relationships/notesMaster" Target="/ppt/notesMasters/notesMaster1.xml" Id="Reb985f7a70f047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c8b6cd3d434879" /><Relationship Type="http://schemas.openxmlformats.org/officeDocument/2006/relationships/notesMaster" Target="/ppt/notesMasters/notesMaster1.xml" Id="Ra1ccf39c93074e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a7718172674d95" /><Relationship Type="http://schemas.openxmlformats.org/officeDocument/2006/relationships/notesMaster" Target="/ppt/notesMasters/notesMaster1.xml" Id="Rc13c46fc115b45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302fc7994f4c34" /><Relationship Type="http://schemas.openxmlformats.org/officeDocument/2006/relationships/notesMaster" Target="/ppt/notesMasters/notesMaster1.xml" Id="R6a1c4c49147545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2bdc422bcd4948" /><Relationship Type="http://schemas.openxmlformats.org/officeDocument/2006/relationships/notesMaster" Target="/ppt/notesMasters/notesMaster1.xml" Id="Re3889489830d4b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8372d642754c88" /><Relationship Type="http://schemas.openxmlformats.org/officeDocument/2006/relationships/notesMaster" Target="/ppt/notesMasters/notesMaster1.xml" Id="R3adc5688d8914f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34cb28400749fd" /><Relationship Type="http://schemas.openxmlformats.org/officeDocument/2006/relationships/notesMaster" Target="/ppt/notesMasters/notesMaster1.xml" Id="R80e4a9f2144846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be6b5edaca40d8" /><Relationship Type="http://schemas.openxmlformats.org/officeDocument/2006/relationships/notesMaster" Target="/ppt/notesMasters/notesMaster1.xml" Id="R176c4abc55cb4c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精简版第 1 页，对应研究版第 1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这份计划不是要证明两个现有模型现在能涨多少分，而是提出一套更大的研究对象：交流可否改变认知的组织方式。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原稿画面要求：左侧消息箭头，右侧概念/问题/学习/世界四对象；封面角标“研究提案·未做模型实测”。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media/01_36页研究版逐页脚本.md#第01页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精简版第 2 页，对应研究版第 4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最关键的跃迁不是发送更好的向量，而是扩大系统能够表达、提出和学习的对象。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原稿画面要求：原有状态空间网格上出现新轴、新类型和新操作。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media/01_36页研究版逐页脚本.md#第04页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精简版第 3 页，对应研究版第 5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图谱表示研究覆盖，不表示性能排名。各机制允许不同数学语义，不强行压成一种接口。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原稿画面要求：三层图谱：基础、认知结构、终局；H编号可读。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media/01_36页研究版逐页脚本.md#第05页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精简版第 4 页，对应研究版第 6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两方都叫它钥匙，并不意味着现有语言足以解释行为差异。新概念需要带定义和后果。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原稿画面要求：钥匙例：形状相同，权限有效期不同。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media/01_36页研究版逐页脚本.md#第06页</a:t>
            </a:r>
          </a:p>
          <a:p xmlns:a="http://schemas.openxmlformats.org/drawingml/2006/main">
            <a:r>
              <a:t>hypotheses/H26_不可全局拼合的语义层.md</a:t>
            </a:r>
          </a:p>
          <a:p xmlns:a="http://schemas.openxmlformats.org/drawingml/2006/main">
            <a:r>
              <a:t>hypotheses/H27_交互中诞生的新概念.md</a:t>
            </a:r>
          </a:p>
          <a:p xmlns:a="http://schemas.openxmlformats.org/drawingml/2006/main">
            <a:r>
              <a:t>hypotheses/H36_以分歧生产结构的认知博弈.md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https://arxiv.org/abs/2202.04579</a:t>
            </a:r>
          </a:p>
          <a:p xmlns:a="http://schemas.openxmlformats.org/drawingml/2006/main">
            <a:r>
              <a:t>https://arxiv.org/abs/2605.11178</a:t>
            </a:r>
          </a:p>
          <a:p xmlns:a="http://schemas.openxmlformats.org/drawingml/2006/main">
            <a:r>
              <a:t>https://arxiv.org/abs/2006.08381</a:t>
            </a:r>
          </a:p>
          <a:p xmlns:a="http://schemas.openxmlformats.org/drawingml/2006/main">
            <a:r>
              <a:t>https://dspace.mit.edu/entities/publication/5377b306-4ecc-4687-b1f5-78cbb4a0543a</a:t>
            </a:r>
          </a:p>
          <a:p xmlns:a="http://schemas.openxmlformats.org/drawingml/2006/main">
            <a:r>
              <a:t>https://people.csail.mit.edu/asolar/SynthesisCourse2020/Lecture10.htm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精简版第 5 页，对应研究版第 10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指令集可以演化，但新宏必须能解释和降低到已知语义，不能是一个神秘函数。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原稿画面要求：三段重复程序折叠为宏，显示lower到旧ISA。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media/01_36页研究版逐页脚本.md#第10页</a:t>
            </a:r>
          </a:p>
          <a:p xmlns:a="http://schemas.openxmlformats.org/drawingml/2006/main">
            <a:r>
              <a:t>hypotheses/H40_自举的潜指令集.md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https://arxiv.org/abs/2006.08381</a:t>
            </a:r>
          </a:p>
          <a:p xmlns:a="http://schemas.openxmlformats.org/drawingml/2006/main">
            <a:r>
              <a:t>https://www.cs.utexas.edu/~EWD/transcriptions/EWD04xx/EWD472.html</a:t>
            </a:r>
          </a:p>
          <a:p xmlns:a="http://schemas.openxmlformats.org/drawingml/2006/main">
            <a:r>
              <a:t>https://people.csail.mit.edu/asolar/SynthesisCourse2020/Lecture10.htm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精简版第 6 页，对应研究版第 12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参数不同不代表不能交换学习效应；但必须先找到共同可观测的行为坐标。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原稿画面要求：答案消息、行为方向、更新规则三个不同对象。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media/01_36页研究版逐页脚本.md#第12页</a:t>
            </a:r>
          </a:p>
          <a:p xmlns:a="http://schemas.openxmlformats.org/drawingml/2006/main">
            <a:r>
              <a:t>hypotheses/H37_跨模型学习方向运输.md</a:t>
            </a:r>
          </a:p>
          <a:p xmlns:a="http://schemas.openxmlformats.org/drawingml/2006/main">
            <a:r>
              <a:t>hypotheses/H38_可传递的可塑性规则.md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https://arxiv.org/abs/1503.02531</a:t>
            </a:r>
          </a:p>
          <a:p xmlns:a="http://schemas.openxmlformats.org/drawingml/2006/main">
            <a:r>
              <a:t>https://arxiv.org/abs/1606.04474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>https://papers.agoric.com/assets/pdf/papers/capability-myths-demolished.pdf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精简版第 7 页，对应研究版第 17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本轮把这些程序与接口写完整，但不运行训练。更远的目标是让系统交换形成能力的方法。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原稿画面要求：三模块图，外层模型研究入口显示锁定。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media/01_36页研究版逐页脚本.md#第17页</a:t>
            </a:r>
          </a:p>
          <a:p xmlns:a="http://schemas.openxmlformats.org/drawingml/2006/main">
            <a:r>
              <a:t>hypotheses/H37_跨模型学习方向运输.md</a:t>
            </a:r>
          </a:p>
          <a:p xmlns:a="http://schemas.openxmlformats.org/drawingml/2006/main">
            <a:r>
              <a:t>hypotheses/H38_可传递的可塑性规则.md</a:t>
            </a:r>
          </a:p>
          <a:p xmlns:a="http://schemas.openxmlformats.org/drawingml/2006/main">
            <a:r>
              <a:t>hypotheses/H39_可回滚的跨模型认知事务.md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https://arxiv.org/abs/1503.02531</a:t>
            </a:r>
          </a:p>
          <a:p xmlns:a="http://schemas.openxmlformats.org/drawingml/2006/main">
            <a:r>
              <a:t>https://arxiv.org/abs/1606.04474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>https://papers.agoric.com/assets/pdf/papers/capability-myths-demolished.pdf</a:t>
            </a:r>
          </a:p>
          <a:p xmlns:a="http://schemas.openxmlformats.org/drawingml/2006/main">
            <a:r>
              <a:t>https://arxiv.org/abs/cs/0408036</a:t>
            </a:r>
          </a:p>
          <a:p xmlns:a="http://schemas.openxmlformats.org/drawingml/2006/main">
            <a:r>
              <a:t>https://dspace.mit.edu/entities/publication/5377b306-4ecc-4687-b1f5-78cbb4a0543a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精简版第 8 页，对应研究版第 18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共享世界不只是共同写故事，而是定义可执行状态变化和观测。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原稿画面要求：两个局部转移核拼出新世界，注释synthetic。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media/01_36页研究版逐页脚本.md#第18页</a:t>
            </a:r>
          </a:p>
          <a:p xmlns:a="http://schemas.openxmlformats.org/drawingml/2006/main">
            <a:r>
              <a:t>hypotheses/H43_可交换的世界动力学核.md</a:t>
            </a:r>
          </a:p>
          <a:p xmlns:a="http://schemas.openxmlformats.org/drawingml/2006/main">
            <a:r>
              <a:t>hypotheses/H44_共同构造的反事实梦境.md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>https://arxiv.org/abs/2602.16612</a:t>
            </a:r>
          </a:p>
          <a:p xmlns:a="http://schemas.openxmlformats.org/drawingml/2006/main">
            <a:r>
              <a:t>https://arxiv.org/abs/1803.10122</a:t>
            </a:r>
          </a:p>
          <a:p xmlns:a="http://schemas.openxmlformats.org/drawingml/2006/main">
            <a:r>
              <a:t>https://arxiv.org/abs/1901.01753</a:t>
            </a:r>
          </a:p>
          <a:p xmlns:a="http://schemas.openxmlformats.org/drawingml/2006/main">
            <a:r>
              <a:t>https://arxiv.org/abs/2012.02096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精简版第 9 页，对应研究版第 23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这里最远的方向是系统自己制造有生产力的问题空间，而不是只回答人类给定的旧问题。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原稿画面要求：五节点环，分离现实与synthetic命名空间。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media/01_36页研究版逐页脚本.md#第23页</a:t>
            </a:r>
          </a:p>
          <a:p xmlns:a="http://schemas.openxmlformats.org/drawingml/2006/main">
            <a:r>
              <a:t>hypotheses/H42_模型与任务的共演化生态.md</a:t>
            </a:r>
          </a:p>
          <a:p xmlns:a="http://schemas.openxmlformats.org/drawingml/2006/main">
            <a:r>
              <a:t>hypotheses/H43_可交换的世界动力学核.md</a:t>
            </a:r>
          </a:p>
          <a:p xmlns:a="http://schemas.openxmlformats.org/drawingml/2006/main">
            <a:r>
              <a:t>hypotheses/H44_共同构造的反事实梦境.md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https://arxiv.org/abs/1901.01753</a:t>
            </a:r>
          </a:p>
          <a:p xmlns:a="http://schemas.openxmlformats.org/drawingml/2006/main">
            <a:r>
              <a:t>https://arxiv.org/abs/2012.02096</a:t>
            </a:r>
          </a:p>
          <a:p xmlns:a="http://schemas.openxmlformats.org/drawingml/2006/main">
            <a:r>
              <a:t>https://arxiv.org/abs/2006.08381</a:t>
            </a:r>
          </a:p>
          <a:p xmlns:a="http://schemas.openxmlformats.org/drawingml/2006/main">
            <a:r>
              <a:t>https://arxiv.org/abs/2106.02997</a:t>
            </a:r>
          </a:p>
          <a:p xmlns:a="http://schemas.openxmlformats.org/drawingml/2006/main">
            <a:r>
              <a:t>https://arxiv.org/abs/2602.16612</a:t>
            </a:r>
          </a:p>
          <a:p xmlns:a="http://schemas.openxmlformats.org/drawingml/2006/main">
            <a:r>
              <a:t>https://arxiv.org/abs/1803.10122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精简版第 10 页，对应研究版第 28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有些计算可以从相位、顺序和路径结构读出。不收敛不必等于失败，但数值发散不能被美化。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原稿画面要求：稳定圆周路径和双端约束路径并置；不画未来信息。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media/01_36页研究版逐页脚本.md#第28页</a:t>
            </a:r>
          </a:p>
          <a:p xmlns:a="http://schemas.openxmlformats.org/drawingml/2006/main">
            <a:r>
              <a:t>hypotheses/H33_非梯度的互构认知动力学.md</a:t>
            </a:r>
          </a:p>
          <a:p xmlns:a="http://schemas.openxmlformats.org/drawingml/2006/main">
            <a:r>
              <a:t>hypotheses/H34_双边边界条件推理.md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>https://arxiv.org/abs/1909.01377</a:t>
            </a:r>
          </a:p>
          <a:p xmlns:a="http://schemas.openxmlformats.org/drawingml/2006/main">
            <a:r>
              <a:t>https://www.ee.ucla.edu/~tabuada/Papers/EventTriggered.pdf</a:t>
            </a:r>
          </a:p>
          <a:p xmlns:a="http://schemas.openxmlformats.org/drawingml/2006/main">
            <a:r>
              <a:t>https://www.isiweb.ee.ethz.ch/papers/arch/aloe-2001-1.pdf</a:t>
            </a:r>
          </a:p>
          <a:p xmlns:a="http://schemas.openxmlformats.org/drawingml/2006/main">
            <a:r>
              <a:t>https://www.cs.utexas.edu/~EWD/transcriptions/EWD04xx/EWD472.html</a:t>
            </a:r>
          </a:p>
          <a:p xmlns:a="http://schemas.openxmlformats.org/drawingml/2006/main">
            <a:r>
              <a:t>https://arxiv.org/abs/1807.03480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精简版第 11 页，对应研究版第 33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任务图调度Dot写程序，研究图调度未来计算。两者不可混为同一个通过标准。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原稿画面要求：源码树＋typed IR＋任务DAG，分清三层。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media/01_36页研究版逐页脚本.md#第33页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精简版第 12 页，对应研究版第 36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真正想推进的不是一张榜单，而是让多模型系统能够改变自己可思考的对象集合。这是研究命题，不是已验证宣告。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原稿画面要求：概念、问题、更新、世界四对象再组合；结尾not_run角标。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来源（PLAN_ROOT 相对路径）：</a:t>
            </a:r>
          </a:p>
          <a:p xmlns:a="http://schemas.openxmlformats.org/drawingml/2006/main">
            <a:r>
              <a:t>media/01_36页研究版逐页脚本.md#第36页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已核验近邻来源（仅支持先行工作，不证明本项目效果）：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研究状态：NOT_RUN。此页是定义、条件命题或解析示意，无模型实测。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f35a77d8846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0e300c966949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66d496db145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19708bfbb48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1a29c3d5f40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1913938f54e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B339AC-A48F-45FB-A83C-71362E8A48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BC7B10-55CF-4920-8580-B2D0A858FC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2CE06C4-D333-4A88-9906-D75948F74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5B8A34-77E8-4D52-9489-88C2DED10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51FEAC-40DB-4F92-8BC4-B2F4D5AAA1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C277AC-E3C0-4720-B021-FFA8C84BC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C01FED-A6AC-4724-9C54-3F8C65CC6A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8E1737-8B29-4627-A354-6D0CFD1448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149F9C-D7FC-4295-83EF-FCFA86965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7FAD41-C8C5-46C9-8825-EB733CE1C4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80553dd9624440" /><Relationship Type="http://schemas.openxmlformats.org/officeDocument/2006/relationships/slideLayout" Target="/ppt/slideLayouts/slideLayout1.xml" Id="Rd6f3522de0f749fe" /><Relationship Type="http://schemas.openxmlformats.org/officeDocument/2006/relationships/slideLayout" Target="/ppt/slideLayouts/slideLayout2.xml" Id="Redb3ed9cf930430a" /><Relationship Type="http://schemas.openxmlformats.org/officeDocument/2006/relationships/slideLayout" Target="/ppt/slideLayouts/slideLayout3.xml" Id="R865138ba5fd64242" /><Relationship Type="http://schemas.openxmlformats.org/officeDocument/2006/relationships/slideLayout" Target="/ppt/slideLayouts/slideLayout4.xml" Id="Re7ede45690064610" /><Relationship Type="http://schemas.openxmlformats.org/officeDocument/2006/relationships/slideLayout" Target="/ppt/slideLayouts/slideLayout5.xml" Id="R4eeed876bb69435a" /><Relationship Type="http://schemas.openxmlformats.org/officeDocument/2006/relationships/slideLayout" Target="/ppt/slideLayouts/slideLayout6.xml" Id="R9838d57e018a48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f3522de0f749fe"/>
    <p:sldLayoutId xmlns:r="http://schemas.openxmlformats.org/officeDocument/2006/relationships" id="2147483650" r:id="Redb3ed9cf930430a"/>
    <p:sldLayoutId xmlns:r="http://schemas.openxmlformats.org/officeDocument/2006/relationships" id="2147483651" r:id="R865138ba5fd64242"/>
    <p:sldLayoutId xmlns:r="http://schemas.openxmlformats.org/officeDocument/2006/relationships" id="2147483652" r:id="Re7ede45690064610"/>
    <p:sldLayoutId xmlns:r="http://schemas.openxmlformats.org/officeDocument/2006/relationships" id="2147483653" r:id="R4eeed876bb69435a"/>
    <p:sldLayoutId xmlns:r="http://schemas.openxmlformats.org/officeDocument/2006/relationships" id="2147483654" r:id="R9838d57e018a48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9fdee76814e18" /><Relationship Type="http://schemas.openxmlformats.org/officeDocument/2006/relationships/notesSlide" Target="/ppt/notesSlides/notesSlide1.xml" Id="R5f44c58763204b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9379643114f17" /><Relationship Type="http://schemas.openxmlformats.org/officeDocument/2006/relationships/notesSlide" Target="/ppt/notesSlides/notesSlide2.xml" Id="R97c7274e03cc45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7dc2ee944415a" /><Relationship Type="http://schemas.openxmlformats.org/officeDocument/2006/relationships/notesSlide" Target="/ppt/notesSlides/notesSlide3.xml" Id="Ra407e0dbc5b64f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d206e2660437e" /><Relationship Type="http://schemas.openxmlformats.org/officeDocument/2006/relationships/notesSlide" Target="/ppt/notesSlides/notesSlide4.xml" Id="R8099a23125e845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963deadb444c2" /><Relationship Type="http://schemas.openxmlformats.org/officeDocument/2006/relationships/notesSlide" Target="/ppt/notesSlides/notesSlide5.xml" Id="R6805b14ebd2240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070d3d82b45d3" /><Relationship Type="http://schemas.openxmlformats.org/officeDocument/2006/relationships/notesSlide" Target="/ppt/notesSlides/notesSlide6.xml" Id="R5fe4972c49c845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ae002d70b4188" /><Relationship Type="http://schemas.openxmlformats.org/officeDocument/2006/relationships/notesSlide" Target="/ppt/notesSlides/notesSlide7.xml" Id="R267fb808e6d241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65d001aafd4cf6" /><Relationship Type="http://schemas.openxmlformats.org/officeDocument/2006/relationships/notesSlide" Target="/ppt/notesSlides/notesSlide8.xml" Id="Reb953bde59474e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2c84a2d5774ac7" /><Relationship Type="http://schemas.openxmlformats.org/officeDocument/2006/relationships/notesSlide" Target="/ppt/notesSlides/notesSlide9.xml" Id="R37fe9e58ffb048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0ccf5fc5e4ea1" /><Relationship Type="http://schemas.openxmlformats.org/officeDocument/2006/relationships/notesSlide" Target="/ppt/notesSlides/notesSlide10.xml" Id="Rbd18383c280746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0e6d70b4548d5" /><Relationship Type="http://schemas.openxmlformats.org/officeDocument/2006/relationships/notesSlide" Target="/ppt/notesSlides/notesSlide11.xml" Id="R29139181b64b40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9a45e8c954747" /><Relationship Type="http://schemas.openxmlformats.org/officeDocument/2006/relationships/notesSlide" Target="/ppt/notesSlides/notesSlide12.xml" Id="Rf1f156e77d5245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001_Semantic&#10;Becoming">
            <a:extLst xmlns:a="http://schemas.openxmlformats.org/drawingml/2006/main">
              <a:ext uri="{FF2B5EF4-FFF2-40B4-BE49-F238E27FC236}">
                <a16:creationId xmlns:a16="http://schemas.microsoft.com/office/drawing/2014/main" id="{A1640B59-CE3E-4AF8-A791-52622FD7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6191250" cy="1825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Semantic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025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Becoming</a:t>
            </a:r>
          </a:p>
        </p:txBody>
      </p:sp>
      <p:sp>
        <p:nvSpPr>
          <p:cNvPr id="2" name="e002_可改写认知的&#10;跨模型计算">
            <a:extLst xmlns:a="http://schemas.openxmlformats.org/drawingml/2006/main">
              <a:ext uri="{FF2B5EF4-FFF2-40B4-BE49-F238E27FC236}">
                <a16:creationId xmlns:a16="http://schemas.microsoft.com/office/drawing/2014/main" id="{3E0B2EDD-8A6B-4ED8-83E1-0AD8DF6A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6667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可改写认知的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75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跨模型计算</a:t>
            </a:r>
          </a:p>
        </p:txBody>
      </p:sp>
      <p:sp>
        <p:nvSpPr>
          <p:cNvPr id="3" name="e003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78283CAC-2FCE-4DA7-9217-0C6A0268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666750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4" name="e004_rect">
            <a:extLst xmlns:a="http://schemas.openxmlformats.org/drawingml/2006/main">
              <a:ext uri="{FF2B5EF4-FFF2-40B4-BE49-F238E27FC236}">
                <a16:creationId xmlns:a16="http://schemas.microsoft.com/office/drawing/2014/main" id="{0649FC86-E8E7-413D-A644-0D902185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809625"/>
            <a:ext cx="3619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5" name="e005_概念">
            <a:extLst xmlns:a="http://schemas.openxmlformats.org/drawingml/2006/main">
              <a:ext uri="{FF2B5EF4-FFF2-40B4-BE49-F238E27FC236}">
                <a16:creationId xmlns:a16="http://schemas.microsoft.com/office/drawing/2014/main" id="{36B6C79A-8209-4E99-82F7-03E87774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52500"/>
            <a:ext cx="333375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概念</a:t>
            </a:r>
          </a:p>
        </p:txBody>
      </p:sp>
      <p:sp>
        <p:nvSpPr>
          <p:cNvPr id="6" name="e006_可计算区分">
            <a:extLst xmlns:a="http://schemas.openxmlformats.org/drawingml/2006/main">
              <a:ext uri="{FF2B5EF4-FFF2-40B4-BE49-F238E27FC236}">
                <a16:creationId xmlns:a16="http://schemas.microsoft.com/office/drawing/2014/main" id="{C9A746F0-10E9-4167-B26E-2FE6CFE0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3333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可计算区分</a:t>
            </a:r>
          </a:p>
        </p:txBody>
      </p:sp>
      <p:sp>
        <p:nvSpPr>
          <p:cNvPr id="7" name="e007_rect">
            <a:extLst xmlns:a="http://schemas.openxmlformats.org/drawingml/2006/main">
              <a:ext uri="{FF2B5EF4-FFF2-40B4-BE49-F238E27FC236}">
                <a16:creationId xmlns:a16="http://schemas.microsoft.com/office/drawing/2014/main" id="{368BB4F8-A4BD-45D7-B346-1255CA60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66925"/>
            <a:ext cx="3619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8" name="e008_问题">
            <a:extLst xmlns:a="http://schemas.openxmlformats.org/drawingml/2006/main">
              <a:ext uri="{FF2B5EF4-FFF2-40B4-BE49-F238E27FC236}">
                <a16:creationId xmlns:a16="http://schemas.microsoft.com/office/drawing/2014/main" id="{D5D3D516-0845-4A11-98CF-DAF2B699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33375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9" name="e009_答案关系">
            <a:extLst xmlns:a="http://schemas.openxmlformats.org/drawingml/2006/main">
              <a:ext uri="{FF2B5EF4-FFF2-40B4-BE49-F238E27FC236}">
                <a16:creationId xmlns:a16="http://schemas.microsoft.com/office/drawing/2014/main" id="{BEFA9D08-B69B-4BC6-BFAA-7D91063A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333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答案关系</a:t>
            </a:r>
          </a:p>
        </p:txBody>
      </p:sp>
      <p:sp>
        <p:nvSpPr>
          <p:cNvPr id="10" name="e010_rect">
            <a:extLst xmlns:a="http://schemas.openxmlformats.org/drawingml/2006/main">
              <a:ext uri="{FF2B5EF4-FFF2-40B4-BE49-F238E27FC236}">
                <a16:creationId xmlns:a16="http://schemas.microsoft.com/office/drawing/2014/main" id="{1DA3B190-F646-417D-A309-585108EC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24225"/>
            <a:ext cx="3619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1" name="e011_学习">
            <a:extLst xmlns:a="http://schemas.openxmlformats.org/drawingml/2006/main">
              <a:ext uri="{FF2B5EF4-FFF2-40B4-BE49-F238E27FC236}">
                <a16:creationId xmlns:a16="http://schemas.microsoft.com/office/drawing/2014/main" id="{48A3C905-EA93-4278-B909-D7D48CEA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333375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学习</a:t>
            </a:r>
          </a:p>
        </p:txBody>
      </p:sp>
      <p:sp>
        <p:nvSpPr>
          <p:cNvPr id="12" name="e012_更新规则">
            <a:extLst xmlns:a="http://schemas.openxmlformats.org/drawingml/2006/main">
              <a:ext uri="{FF2B5EF4-FFF2-40B4-BE49-F238E27FC236}">
                <a16:creationId xmlns:a16="http://schemas.microsoft.com/office/drawing/2014/main" id="{1BAE638B-0EFD-4E44-8172-EEA11C63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333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更新规则</a:t>
            </a:r>
          </a:p>
        </p:txBody>
      </p:sp>
      <p:sp>
        <p:nvSpPr>
          <p:cNvPr id="13" name="e013_rect">
            <a:extLst xmlns:a="http://schemas.openxmlformats.org/drawingml/2006/main">
              <a:ext uri="{FF2B5EF4-FFF2-40B4-BE49-F238E27FC236}">
                <a16:creationId xmlns:a16="http://schemas.microsoft.com/office/drawing/2014/main" id="{E12260E6-F502-4C13-8884-54553224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81525"/>
            <a:ext cx="3619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14" name="e014_世界">
            <a:extLst xmlns:a="http://schemas.openxmlformats.org/drawingml/2006/main">
              <a:ext uri="{FF2B5EF4-FFF2-40B4-BE49-F238E27FC236}">
                <a16:creationId xmlns:a16="http://schemas.microsoft.com/office/drawing/2014/main" id="{817B1560-0603-43FE-B7D5-B2CDCEE0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24400"/>
            <a:ext cx="333375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世界</a:t>
            </a:r>
          </a:p>
        </p:txBody>
      </p:sp>
      <p:sp>
        <p:nvSpPr>
          <p:cNvPr id="15" name="e015_可执行动力学">
            <a:extLst xmlns:a="http://schemas.openxmlformats.org/drawingml/2006/main">
              <a:ext uri="{FF2B5EF4-FFF2-40B4-BE49-F238E27FC236}">
                <a16:creationId xmlns:a16="http://schemas.microsoft.com/office/drawing/2014/main" id="{61C00DB5-B591-4F19-8E80-EE7B331E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81600"/>
            <a:ext cx="3333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可执行动力学</a:t>
            </a:r>
          </a:p>
        </p:txBody>
      </p:sp>
      <p:sp>
        <p:nvSpPr>
          <p:cNvPr id="16" name="e016_polyline">
            <a:extLst xmlns:a="http://schemas.openxmlformats.org/drawingml/2006/main">
              <a:ext uri="{FF2B5EF4-FFF2-40B4-BE49-F238E27FC236}">
                <a16:creationId xmlns:a16="http://schemas.microsoft.com/office/drawing/2014/main" id="{9A3FB79F-368B-4D55-A61F-90FB77D9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7" name="e017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7CC9DD9D-08A8-4ECC-B0DA-9025E51C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18" name="e018_01 / 12">
            <a:extLst xmlns:a="http://schemas.openxmlformats.org/drawingml/2006/main">
              <a:ext uri="{FF2B5EF4-FFF2-40B4-BE49-F238E27FC236}">
                <a16:creationId xmlns:a16="http://schemas.microsoft.com/office/drawing/2014/main" id="{95FE1939-ACBC-485E-947C-973AA3D0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594336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001_本轮再向前一层">
            <a:extLst xmlns:a="http://schemas.openxmlformats.org/drawingml/2006/main">
              <a:ext uri="{FF2B5EF4-FFF2-40B4-BE49-F238E27FC236}">
                <a16:creationId xmlns:a16="http://schemas.microsoft.com/office/drawing/2014/main" id="{ED6B0F25-D907-4CB1-97C9-D2D1EB8F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本轮再向前一层</a:t>
            </a:r>
          </a:p>
        </p:txBody>
      </p:sp>
      <p:sp>
        <p:nvSpPr>
          <p:cNvPr id="2" name="e002_通信可以改变表达空间本身">
            <a:extLst xmlns:a="http://schemas.openxmlformats.org/drawingml/2006/main">
              <a:ext uri="{FF2B5EF4-FFF2-40B4-BE49-F238E27FC236}">
                <a16:creationId xmlns:a16="http://schemas.microsoft.com/office/drawing/2014/main" id="{92029090-13E5-4465-90E1-D2861B91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通信可以改变表达空间本身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00F81377-4328-49EA-B711-54639342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44531CC1-7863-4FD2-89E1-2CE2DC48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2 / 12">
            <a:extLst xmlns:a="http://schemas.openxmlformats.org/drawingml/2006/main">
              <a:ext uri="{FF2B5EF4-FFF2-40B4-BE49-F238E27FC236}">
                <a16:creationId xmlns:a16="http://schemas.microsoft.com/office/drawing/2014/main" id="{6B4F0E99-4B0E-4916-AE24-865FEFBF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02 / 12</a:t>
            </a:r>
          </a:p>
        </p:txBody>
      </p:sp>
      <p:sp>
        <p:nvSpPr>
          <p:cNvPr id="6" name="e006_polyline">
            <a:extLst xmlns:a="http://schemas.openxmlformats.org/drawingml/2006/main">
              <a:ext uri="{FF2B5EF4-FFF2-40B4-BE49-F238E27FC236}">
                <a16:creationId xmlns:a16="http://schemas.microsoft.com/office/drawing/2014/main" id="{E0D66DDA-38AC-4FDD-805A-F20BC678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7" name="e007_polyline">
            <a:extLst xmlns:a="http://schemas.openxmlformats.org/drawingml/2006/main">
              <a:ext uri="{FF2B5EF4-FFF2-40B4-BE49-F238E27FC236}">
                <a16:creationId xmlns:a16="http://schemas.microsoft.com/office/drawing/2014/main" id="{6795372D-75EB-42CC-8F0D-4A29B22B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8" name="e008_polyline">
            <a:extLst xmlns:a="http://schemas.openxmlformats.org/drawingml/2006/main">
              <a:ext uri="{FF2B5EF4-FFF2-40B4-BE49-F238E27FC236}">
                <a16:creationId xmlns:a16="http://schemas.microsoft.com/office/drawing/2014/main" id="{0785B370-0694-400B-B7A0-6B7B5D93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7FCF2BE1-1795-430B-A618-ECE944A6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D6B119C9-11AD-457C-AC2E-BD90E525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1" name="e011_polyline">
            <a:extLst xmlns:a="http://schemas.openxmlformats.org/drawingml/2006/main">
              <a:ext uri="{FF2B5EF4-FFF2-40B4-BE49-F238E27FC236}">
                <a16:creationId xmlns:a16="http://schemas.microsoft.com/office/drawing/2014/main" id="{292E1B6E-6324-49F5-9FCA-DA5FB9E9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2" name="e012_polyline">
            <a:extLst xmlns:a="http://schemas.openxmlformats.org/drawingml/2006/main">
              <a:ext uri="{FF2B5EF4-FFF2-40B4-BE49-F238E27FC236}">
                <a16:creationId xmlns:a16="http://schemas.microsoft.com/office/drawing/2014/main" id="{61EBF63F-D662-4089-9967-1D9C855C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95" cy="2714625"/>
          </a:xfrm>
          <a:custGeom xmlns:a="http://schemas.openxmlformats.org/drawingml/2006/main">
            <a:pathLst>
              <a:path w="9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3" name="e013_polyline">
            <a:extLst xmlns:a="http://schemas.openxmlformats.org/drawingml/2006/main">
              <a:ext uri="{FF2B5EF4-FFF2-40B4-BE49-F238E27FC236}">
                <a16:creationId xmlns:a16="http://schemas.microsoft.com/office/drawing/2014/main" id="{4583D230-0093-4AF7-9DD8-9F7D764D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667250" cy="95"/>
          </a:xfrm>
          <a:custGeom xmlns:a="http://schemas.openxmlformats.org/drawingml/2006/main">
            <a:pathLst>
              <a:path w="4667250" h="9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9814F51B-358B-4057-9927-F0336C4A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667250" cy="95"/>
          </a:xfrm>
          <a:custGeom xmlns:a="http://schemas.openxmlformats.org/drawingml/2006/main">
            <a:pathLst>
              <a:path w="4667250" h="9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BF8F978B-12BA-43E9-9203-4DC5F7A9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667250" cy="95"/>
          </a:xfrm>
          <a:custGeom xmlns:a="http://schemas.openxmlformats.org/drawingml/2006/main">
            <a:pathLst>
              <a:path w="4667250" h="9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6" name="e016_polyline">
            <a:extLst xmlns:a="http://schemas.openxmlformats.org/drawingml/2006/main">
              <a:ext uri="{FF2B5EF4-FFF2-40B4-BE49-F238E27FC236}">
                <a16:creationId xmlns:a16="http://schemas.microsoft.com/office/drawing/2014/main" id="{8C2301FF-C76F-4D99-B021-5FE06EAD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4667250" cy="95"/>
          </a:xfrm>
          <a:custGeom xmlns:a="http://schemas.openxmlformats.org/drawingml/2006/main">
            <a:pathLst>
              <a:path w="4667250" h="9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7" name="e017_polyline">
            <a:extLst xmlns:a="http://schemas.openxmlformats.org/drawingml/2006/main">
              <a:ext uri="{FF2B5EF4-FFF2-40B4-BE49-F238E27FC236}">
                <a16:creationId xmlns:a16="http://schemas.microsoft.com/office/drawing/2014/main" id="{9335A1D3-4E8E-40EB-BD82-3DFAD129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667250" cy="95"/>
          </a:xfrm>
          <a:custGeom xmlns:a="http://schemas.openxmlformats.org/drawingml/2006/main">
            <a:pathLst>
              <a:path w="4667250" h="9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18" name="e018_polyline">
            <a:extLst xmlns:a="http://schemas.openxmlformats.org/drawingml/2006/main">
              <a:ext uri="{FF2B5EF4-FFF2-40B4-BE49-F238E27FC236}">
                <a16:creationId xmlns:a16="http://schemas.microsoft.com/office/drawing/2014/main" id="{638668B8-7527-4DC0-B5C2-0F34E444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667250" cy="95"/>
          </a:xfrm>
          <a:custGeom xmlns:a="http://schemas.openxmlformats.org/drawingml/2006/main">
            <a:pathLst>
              <a:path w="4667250" h="9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FE09E463-8DB3-47D5-80EF-8396E869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D5650B65-DA9D-4EE9-B5A5-F5F10377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5" cy="2809875"/>
          </a:xfrm>
          <a:custGeom xmlns:a="http://schemas.openxmlformats.org/drawingml/2006/main">
            <a:pathLst>
              <a:path w="95" h="2809875">
                <a:moveTo>
                  <a:pt x="0" y="2809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21" name="e021_polyline">
            <a:extLst xmlns:a="http://schemas.openxmlformats.org/drawingml/2006/main">
              <a:ext uri="{FF2B5EF4-FFF2-40B4-BE49-F238E27FC236}">
                <a16:creationId xmlns:a16="http://schemas.microsoft.com/office/drawing/2014/main" id="{485C6BB7-3FB4-428C-B0C8-8CF5215C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95250" cy="114300"/>
          </a:xfrm>
          <a:custGeom xmlns:a="http://schemas.openxmlformats.org/drawingml/2006/main">
            <a:pathLst>
              <a:path w="95250" h="114300">
                <a:moveTo>
                  <a:pt x="0" y="114300"/>
                </a:moveTo>
                <a:lnTo>
                  <a:pt x="47625" y="0"/>
                </a:lnTo>
                <a:lnTo>
                  <a:pt x="9525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36647"/>
            </a:solidFill>
            <a:prstDash val="solid"/>
          </a:ln>
        </p:spPr>
      </p:sp>
      <p:sp>
        <p:nvSpPr>
          <p:cNvPr id="22" name="e022_原有表示空间">
            <a:extLst xmlns:a="http://schemas.openxmlformats.org/drawingml/2006/main">
              <a:ext uri="{FF2B5EF4-FFF2-40B4-BE49-F238E27FC236}">
                <a16:creationId xmlns:a16="http://schemas.microsoft.com/office/drawing/2014/main" id="{FCFD9E13-FCA1-431E-8FA4-0BDCD6DA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4381500" cy="36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原有表示空间</a:t>
            </a:r>
          </a:p>
        </p:txBody>
      </p:sp>
      <p:sp>
        <p:nvSpPr>
          <p:cNvPr id="23" name="e023_polyline">
            <a:extLst xmlns:a="http://schemas.openxmlformats.org/drawingml/2006/main">
              <a:ext uri="{FF2B5EF4-FFF2-40B4-BE49-F238E27FC236}">
                <a16:creationId xmlns:a16="http://schemas.microsoft.com/office/drawing/2014/main" id="{FB64FA61-C8CB-4362-ACF9-EA3F3C4F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952500" cy="95"/>
          </a:xfrm>
          <a:custGeom xmlns:a="http://schemas.openxmlformats.org/drawingml/2006/main">
            <a:pathLst>
              <a:path w="952500" h="9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24" name="e024_polyline">
            <a:extLst xmlns:a="http://schemas.openxmlformats.org/drawingml/2006/main">
              <a:ext uri="{FF2B5EF4-FFF2-40B4-BE49-F238E27FC236}">
                <a16:creationId xmlns:a16="http://schemas.microsoft.com/office/drawing/2014/main" id="{0E9FE2ED-EBA1-49D3-A356-4567A345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24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25" name="e025_新增可计算区分">
            <a:extLst xmlns:a="http://schemas.openxmlformats.org/drawingml/2006/main">
              <a:ext uri="{FF2B5EF4-FFF2-40B4-BE49-F238E27FC236}">
                <a16:creationId xmlns:a16="http://schemas.microsoft.com/office/drawing/2014/main" id="{DDED526A-92C5-4DED-847F-FEE8782C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8100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0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rPr>
              <a:t>新增可计算区分</a:t>
            </a:r>
          </a:p>
        </p:txBody>
      </p:sp>
      <p:sp>
        <p:nvSpPr>
          <p:cNvPr id="26" name="e026_新变量&#10;新类型&#10;新操作">
            <a:extLst xmlns:a="http://schemas.openxmlformats.org/drawingml/2006/main">
              <a:ext uri="{FF2B5EF4-FFF2-40B4-BE49-F238E27FC236}">
                <a16:creationId xmlns:a16="http://schemas.microsoft.com/office/drawing/2014/main" id="{E5695E9B-D6DE-44C4-B81C-82B69363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3810000" cy="1430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新变量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新类型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新操作</a:t>
            </a:r>
          </a:p>
        </p:txBody>
      </p:sp>
      <p:sp>
        <p:nvSpPr>
          <p:cNvPr id="27" name="e027_结构变化须给出定义与迁移，不能只添一根装饰性坐标轴">
            <a:extLst xmlns:a="http://schemas.openxmlformats.org/drawingml/2006/main">
              <a:ext uri="{FF2B5EF4-FFF2-40B4-BE49-F238E27FC236}">
                <a16:creationId xmlns:a16="http://schemas.microsoft.com/office/drawing/2014/main" id="{38BD796E-B956-4D8C-B2D5-A7400DA7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结构变化须给出定义与迁移，不能只添一根装饰性坐标轴</a:t>
            </a:r>
          </a:p>
        </p:txBody>
      </p:sp>
    </p:spTree>
    <p:extLst>
      <p:ext uri="{BB962C8B-B14F-4D97-AF65-F5344CB8AC3E}">
        <p14:creationId xmlns:p14="http://schemas.microsoft.com/office/powerpoint/2010/main" val="1323542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e001_48项机制的全景">
            <a:extLst xmlns:a="http://schemas.openxmlformats.org/drawingml/2006/main">
              <a:ext uri="{FF2B5EF4-FFF2-40B4-BE49-F238E27FC236}">
                <a16:creationId xmlns:a16="http://schemas.microsoft.com/office/drawing/2014/main" id="{BC5EA75A-EBED-4B1D-9891-52A93B20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48项机制的全景</a:t>
            </a:r>
          </a:p>
        </p:txBody>
      </p:sp>
      <p:sp>
        <p:nvSpPr>
          <p:cNvPr id="2" name="e002_基础24＋新增24，不是48项已证成果">
            <a:extLst xmlns:a="http://schemas.openxmlformats.org/drawingml/2006/main">
              <a:ext uri="{FF2B5EF4-FFF2-40B4-BE49-F238E27FC236}">
                <a16:creationId xmlns:a16="http://schemas.microsoft.com/office/drawing/2014/main" id="{7529BF41-0E67-4CD2-90CF-5EAFC15D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基础24＋新增24，不是48项已证成果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0EE79ABF-910D-4010-96A9-A9409B59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60885BF8-EB66-4EFF-A517-DCC8CE64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3 / 12">
            <a:extLst xmlns:a="http://schemas.openxmlformats.org/drawingml/2006/main">
              <a:ext uri="{FF2B5EF4-FFF2-40B4-BE49-F238E27FC236}">
                <a16:creationId xmlns:a16="http://schemas.microsoft.com/office/drawing/2014/main" id="{57FED04A-41F9-4AA2-B8A1-7BE2FE88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03 / 12</a:t>
            </a:r>
          </a:p>
        </p:txBody>
      </p:sp>
      <p:sp>
        <p:nvSpPr>
          <p:cNvPr id="6" name="e006_基础对象">
            <a:extLst xmlns:a="http://schemas.openxmlformats.org/drawingml/2006/main">
              <a:ext uri="{FF2B5EF4-FFF2-40B4-BE49-F238E27FC236}">
                <a16:creationId xmlns:a16="http://schemas.microsoft.com/office/drawing/2014/main" id="{F28B47A8-B502-4E6B-AC82-6D55636E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0002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基础对象</a:t>
            </a:r>
          </a:p>
        </p:txBody>
      </p:sp>
      <p:sp>
        <p:nvSpPr>
          <p:cNvPr id="7" name="e007_H01">
            <a:extLst xmlns:a="http://schemas.openxmlformats.org/drawingml/2006/main">
              <a:ext uri="{FF2B5EF4-FFF2-40B4-BE49-F238E27FC236}">
                <a16:creationId xmlns:a16="http://schemas.microsoft.com/office/drawing/2014/main" id="{A949563A-D835-48F7-84C4-21E7BAF4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H01</a:t>
            </a:r>
          </a:p>
        </p:txBody>
      </p:sp>
      <p:sp>
        <p:nvSpPr>
          <p:cNvPr id="8" name="e008_H02">
            <a:extLst xmlns:a="http://schemas.openxmlformats.org/drawingml/2006/main">
              <a:ext uri="{FF2B5EF4-FFF2-40B4-BE49-F238E27FC236}">
                <a16:creationId xmlns:a16="http://schemas.microsoft.com/office/drawing/2014/main" id="{76F59FD2-FAB0-4230-A0AA-0C70E1D4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H02</a:t>
            </a:r>
          </a:p>
        </p:txBody>
      </p:sp>
      <p:sp>
        <p:nvSpPr>
          <p:cNvPr id="9" name="e009_H03">
            <a:extLst xmlns:a="http://schemas.openxmlformats.org/drawingml/2006/main">
              <a:ext uri="{FF2B5EF4-FFF2-40B4-BE49-F238E27FC236}">
                <a16:creationId xmlns:a16="http://schemas.microsoft.com/office/drawing/2014/main" id="{35D80036-92F6-40EA-83BE-996B241C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H03</a:t>
            </a:r>
          </a:p>
        </p:txBody>
      </p:sp>
      <p:sp>
        <p:nvSpPr>
          <p:cNvPr id="10" name="e010_H04">
            <a:extLst xmlns:a="http://schemas.openxmlformats.org/drawingml/2006/main">
              <a:ext uri="{FF2B5EF4-FFF2-40B4-BE49-F238E27FC236}">
                <a16:creationId xmlns:a16="http://schemas.microsoft.com/office/drawing/2014/main" id="{98D04EB8-56DC-4DD3-92F5-C11C946A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H04</a:t>
            </a:r>
          </a:p>
        </p:txBody>
      </p:sp>
      <p:sp>
        <p:nvSpPr>
          <p:cNvPr id="11" name="e011_H05">
            <a:extLst xmlns:a="http://schemas.openxmlformats.org/drawingml/2006/main">
              <a:ext uri="{FF2B5EF4-FFF2-40B4-BE49-F238E27FC236}">
                <a16:creationId xmlns:a16="http://schemas.microsoft.com/office/drawing/2014/main" id="{D9BFC08E-E640-442A-8315-3302380C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H05</a:t>
            </a:r>
          </a:p>
        </p:txBody>
      </p:sp>
      <p:sp>
        <p:nvSpPr>
          <p:cNvPr id="12" name="e012_H06">
            <a:extLst xmlns:a="http://schemas.openxmlformats.org/drawingml/2006/main">
              <a:ext uri="{FF2B5EF4-FFF2-40B4-BE49-F238E27FC236}">
                <a16:creationId xmlns:a16="http://schemas.microsoft.com/office/drawing/2014/main" id="{A0A1F3DE-49BD-40DE-BBF0-A5B8230A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H06</a:t>
            </a:r>
          </a:p>
        </p:txBody>
      </p:sp>
      <p:sp>
        <p:nvSpPr>
          <p:cNvPr id="13" name="e013_H07">
            <a:extLst xmlns:a="http://schemas.openxmlformats.org/drawingml/2006/main">
              <a:ext uri="{FF2B5EF4-FFF2-40B4-BE49-F238E27FC236}">
                <a16:creationId xmlns:a16="http://schemas.microsoft.com/office/drawing/2014/main" id="{3739F562-80EC-489A-B117-D9600576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H07</a:t>
            </a:r>
          </a:p>
        </p:txBody>
      </p:sp>
      <p:sp>
        <p:nvSpPr>
          <p:cNvPr id="14" name="e014_H08">
            <a:extLst xmlns:a="http://schemas.openxmlformats.org/drawingml/2006/main">
              <a:ext uri="{FF2B5EF4-FFF2-40B4-BE49-F238E27FC236}">
                <a16:creationId xmlns:a16="http://schemas.microsoft.com/office/drawing/2014/main" id="{3EED4560-57C1-48A9-91CE-EB4D788A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H08</a:t>
            </a:r>
          </a:p>
        </p:txBody>
      </p:sp>
      <p:sp>
        <p:nvSpPr>
          <p:cNvPr id="15" name="e015_H09">
            <a:extLst xmlns:a="http://schemas.openxmlformats.org/drawingml/2006/main">
              <a:ext uri="{FF2B5EF4-FFF2-40B4-BE49-F238E27FC236}">
                <a16:creationId xmlns:a16="http://schemas.microsoft.com/office/drawing/2014/main" id="{DB81034A-DB8E-4E13-A36A-47820DA9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H09</a:t>
            </a:r>
          </a:p>
        </p:txBody>
      </p:sp>
      <p:sp>
        <p:nvSpPr>
          <p:cNvPr id="16" name="e016_H10">
            <a:extLst xmlns:a="http://schemas.openxmlformats.org/drawingml/2006/main">
              <a:ext uri="{FF2B5EF4-FFF2-40B4-BE49-F238E27FC236}">
                <a16:creationId xmlns:a16="http://schemas.microsoft.com/office/drawing/2014/main" id="{C0B33EA4-7272-4D16-999F-9AB55D1D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H10</a:t>
            </a:r>
          </a:p>
        </p:txBody>
      </p:sp>
      <p:sp>
        <p:nvSpPr>
          <p:cNvPr id="17" name="e017_H11">
            <a:extLst xmlns:a="http://schemas.openxmlformats.org/drawingml/2006/main">
              <a:ext uri="{FF2B5EF4-FFF2-40B4-BE49-F238E27FC236}">
                <a16:creationId xmlns:a16="http://schemas.microsoft.com/office/drawing/2014/main" id="{8E322DC9-C342-4E74-A620-DC76F3E7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H11</a:t>
            </a:r>
          </a:p>
        </p:txBody>
      </p:sp>
      <p:sp>
        <p:nvSpPr>
          <p:cNvPr id="18" name="e018_H12">
            <a:extLst xmlns:a="http://schemas.openxmlformats.org/drawingml/2006/main">
              <a:ext uri="{FF2B5EF4-FFF2-40B4-BE49-F238E27FC236}">
                <a16:creationId xmlns:a16="http://schemas.microsoft.com/office/drawing/2014/main" id="{BA4AA34E-B7BA-4478-A04A-FD9B229B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0478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H12</a:t>
            </a:r>
          </a:p>
        </p:txBody>
      </p:sp>
      <p:sp>
        <p:nvSpPr>
          <p:cNvPr id="19" name="e019_H13">
            <a:extLst xmlns:a="http://schemas.openxmlformats.org/drawingml/2006/main">
              <a:ext uri="{FF2B5EF4-FFF2-40B4-BE49-F238E27FC236}">
                <a16:creationId xmlns:a16="http://schemas.microsoft.com/office/drawing/2014/main" id="{365FF334-ACCD-4ADD-9471-A203C14C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H13</a:t>
            </a:r>
          </a:p>
        </p:txBody>
      </p:sp>
      <p:sp>
        <p:nvSpPr>
          <p:cNvPr id="20" name="e020_H14">
            <a:extLst xmlns:a="http://schemas.openxmlformats.org/drawingml/2006/main">
              <a:ext uri="{FF2B5EF4-FFF2-40B4-BE49-F238E27FC236}">
                <a16:creationId xmlns:a16="http://schemas.microsoft.com/office/drawing/2014/main" id="{80508374-8E2B-41D9-8695-4070F3EC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H14</a:t>
            </a:r>
          </a:p>
        </p:txBody>
      </p:sp>
      <p:sp>
        <p:nvSpPr>
          <p:cNvPr id="21" name="e021_H15">
            <a:extLst xmlns:a="http://schemas.openxmlformats.org/drawingml/2006/main">
              <a:ext uri="{FF2B5EF4-FFF2-40B4-BE49-F238E27FC236}">
                <a16:creationId xmlns:a16="http://schemas.microsoft.com/office/drawing/2014/main" id="{71BA64CB-417D-4FE6-9F6B-2549C105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H15</a:t>
            </a:r>
          </a:p>
        </p:txBody>
      </p:sp>
      <p:sp>
        <p:nvSpPr>
          <p:cNvPr id="22" name="e022_H16">
            <a:extLst xmlns:a="http://schemas.openxmlformats.org/drawingml/2006/main">
              <a:ext uri="{FF2B5EF4-FFF2-40B4-BE49-F238E27FC236}">
                <a16:creationId xmlns:a16="http://schemas.microsoft.com/office/drawing/2014/main" id="{9AAA4BAF-0F2F-4EE5-8E02-A28E735E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H16</a:t>
            </a:r>
          </a:p>
        </p:txBody>
      </p:sp>
      <p:sp>
        <p:nvSpPr>
          <p:cNvPr id="23" name="e023_H17">
            <a:extLst xmlns:a="http://schemas.openxmlformats.org/drawingml/2006/main">
              <a:ext uri="{FF2B5EF4-FFF2-40B4-BE49-F238E27FC236}">
                <a16:creationId xmlns:a16="http://schemas.microsoft.com/office/drawing/2014/main" id="{2BED900D-7C31-4224-A1C7-FFCB5DE8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H17</a:t>
            </a:r>
          </a:p>
        </p:txBody>
      </p:sp>
      <p:sp>
        <p:nvSpPr>
          <p:cNvPr id="24" name="e024_H18">
            <a:extLst xmlns:a="http://schemas.openxmlformats.org/drawingml/2006/main">
              <a:ext uri="{FF2B5EF4-FFF2-40B4-BE49-F238E27FC236}">
                <a16:creationId xmlns:a16="http://schemas.microsoft.com/office/drawing/2014/main" id="{F2FFA01E-A5F6-4ABD-AE4F-DA413877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H18</a:t>
            </a:r>
          </a:p>
        </p:txBody>
      </p:sp>
      <p:sp>
        <p:nvSpPr>
          <p:cNvPr id="25" name="e025_H19">
            <a:extLst xmlns:a="http://schemas.openxmlformats.org/drawingml/2006/main">
              <a:ext uri="{FF2B5EF4-FFF2-40B4-BE49-F238E27FC236}">
                <a16:creationId xmlns:a16="http://schemas.microsoft.com/office/drawing/2014/main" id="{46DCCD29-932F-4CCB-A699-CFF744D6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H19</a:t>
            </a:r>
          </a:p>
        </p:txBody>
      </p:sp>
      <p:sp>
        <p:nvSpPr>
          <p:cNvPr id="26" name="e026_H20">
            <a:extLst xmlns:a="http://schemas.openxmlformats.org/drawingml/2006/main">
              <a:ext uri="{FF2B5EF4-FFF2-40B4-BE49-F238E27FC236}">
                <a16:creationId xmlns:a16="http://schemas.microsoft.com/office/drawing/2014/main" id="{7083C758-E1A1-4DF2-A8ED-71BB97B7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H20</a:t>
            </a:r>
          </a:p>
        </p:txBody>
      </p:sp>
      <p:sp>
        <p:nvSpPr>
          <p:cNvPr id="27" name="e027_H21">
            <a:extLst xmlns:a="http://schemas.openxmlformats.org/drawingml/2006/main">
              <a:ext uri="{FF2B5EF4-FFF2-40B4-BE49-F238E27FC236}">
                <a16:creationId xmlns:a16="http://schemas.microsoft.com/office/drawing/2014/main" id="{B0177519-744F-4752-986C-0F26B5F3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H21</a:t>
            </a:r>
          </a:p>
        </p:txBody>
      </p:sp>
      <p:sp>
        <p:nvSpPr>
          <p:cNvPr id="28" name="e028_H22">
            <a:extLst xmlns:a="http://schemas.openxmlformats.org/drawingml/2006/main">
              <a:ext uri="{FF2B5EF4-FFF2-40B4-BE49-F238E27FC236}">
                <a16:creationId xmlns:a16="http://schemas.microsoft.com/office/drawing/2014/main" id="{5D24A606-A633-43DA-B307-C7A6922C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H22</a:t>
            </a:r>
          </a:p>
        </p:txBody>
      </p:sp>
      <p:sp>
        <p:nvSpPr>
          <p:cNvPr id="29" name="e029_H23">
            <a:extLst xmlns:a="http://schemas.openxmlformats.org/drawingml/2006/main">
              <a:ext uri="{FF2B5EF4-FFF2-40B4-BE49-F238E27FC236}">
                <a16:creationId xmlns:a16="http://schemas.microsoft.com/office/drawing/2014/main" id="{D1356AFB-5EB5-4665-A004-203BC17E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H23</a:t>
            </a:r>
          </a:p>
        </p:txBody>
      </p:sp>
      <p:sp>
        <p:nvSpPr>
          <p:cNvPr id="30" name="e030_H24">
            <a:extLst xmlns:a="http://schemas.openxmlformats.org/drawingml/2006/main">
              <a:ext uri="{FF2B5EF4-FFF2-40B4-BE49-F238E27FC236}">
                <a16:creationId xmlns:a16="http://schemas.microsoft.com/office/drawing/2014/main" id="{2C0A11F7-15E7-44E7-B99A-EB27DF0F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5745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H24</a:t>
            </a:r>
          </a:p>
        </p:txBody>
      </p:sp>
      <p:sp>
        <p:nvSpPr>
          <p:cNvPr id="31" name="e031_认知结构">
            <a:extLst xmlns:a="http://schemas.openxmlformats.org/drawingml/2006/main">
              <a:ext uri="{FF2B5EF4-FFF2-40B4-BE49-F238E27FC236}">
                <a16:creationId xmlns:a16="http://schemas.microsoft.com/office/drawing/2014/main" id="{783C4C3C-9BB1-496A-80B1-F7A0FEB1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0002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认知结构</a:t>
            </a:r>
          </a:p>
        </p:txBody>
      </p:sp>
      <p:sp>
        <p:nvSpPr>
          <p:cNvPr id="32" name="e032_H25">
            <a:extLst xmlns:a="http://schemas.openxmlformats.org/drawingml/2006/main">
              <a:ext uri="{FF2B5EF4-FFF2-40B4-BE49-F238E27FC236}">
                <a16:creationId xmlns:a16="http://schemas.microsoft.com/office/drawing/2014/main" id="{D12AAE0E-6D17-4797-9438-CCA20A56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H25</a:t>
            </a:r>
          </a:p>
        </p:txBody>
      </p:sp>
      <p:sp>
        <p:nvSpPr>
          <p:cNvPr id="33" name="e033_H26">
            <a:extLst xmlns:a="http://schemas.openxmlformats.org/drawingml/2006/main">
              <a:ext uri="{FF2B5EF4-FFF2-40B4-BE49-F238E27FC236}">
                <a16:creationId xmlns:a16="http://schemas.microsoft.com/office/drawing/2014/main" id="{68367221-1089-464B-B117-D014237B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H26</a:t>
            </a:r>
          </a:p>
        </p:txBody>
      </p:sp>
      <p:sp>
        <p:nvSpPr>
          <p:cNvPr id="34" name="e034_H27">
            <a:extLst xmlns:a="http://schemas.openxmlformats.org/drawingml/2006/main">
              <a:ext uri="{FF2B5EF4-FFF2-40B4-BE49-F238E27FC236}">
                <a16:creationId xmlns:a16="http://schemas.microsoft.com/office/drawing/2014/main" id="{50DE30B0-F7FF-4D10-AC72-C823D0A6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H27</a:t>
            </a:r>
          </a:p>
        </p:txBody>
      </p:sp>
      <p:sp>
        <p:nvSpPr>
          <p:cNvPr id="35" name="e035_H28">
            <a:extLst xmlns:a="http://schemas.openxmlformats.org/drawingml/2006/main">
              <a:ext uri="{FF2B5EF4-FFF2-40B4-BE49-F238E27FC236}">
                <a16:creationId xmlns:a16="http://schemas.microsoft.com/office/drawing/2014/main" id="{ED871C08-8477-4BAA-96B5-C9B03630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H28</a:t>
            </a:r>
          </a:p>
        </p:txBody>
      </p:sp>
      <p:sp>
        <p:nvSpPr>
          <p:cNvPr id="36" name="e036_H29">
            <a:extLst xmlns:a="http://schemas.openxmlformats.org/drawingml/2006/main">
              <a:ext uri="{FF2B5EF4-FFF2-40B4-BE49-F238E27FC236}">
                <a16:creationId xmlns:a16="http://schemas.microsoft.com/office/drawing/2014/main" id="{1706C7D2-A6E7-41A7-BF87-43114B07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H29</a:t>
            </a:r>
          </a:p>
        </p:txBody>
      </p:sp>
      <p:sp>
        <p:nvSpPr>
          <p:cNvPr id="37" name="e037_H30">
            <a:extLst xmlns:a="http://schemas.openxmlformats.org/drawingml/2006/main">
              <a:ext uri="{FF2B5EF4-FFF2-40B4-BE49-F238E27FC236}">
                <a16:creationId xmlns:a16="http://schemas.microsoft.com/office/drawing/2014/main" id="{40D5D7AD-94D1-4B80-9274-2467538E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H30</a:t>
            </a:r>
          </a:p>
        </p:txBody>
      </p:sp>
      <p:sp>
        <p:nvSpPr>
          <p:cNvPr id="38" name="e038_H31">
            <a:extLst xmlns:a="http://schemas.openxmlformats.org/drawingml/2006/main">
              <a:ext uri="{FF2B5EF4-FFF2-40B4-BE49-F238E27FC236}">
                <a16:creationId xmlns:a16="http://schemas.microsoft.com/office/drawing/2014/main" id="{AE05E499-E79B-4E7E-B4D0-0E4266AC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H31</a:t>
            </a:r>
          </a:p>
        </p:txBody>
      </p:sp>
      <p:sp>
        <p:nvSpPr>
          <p:cNvPr id="39" name="e039_H32">
            <a:extLst xmlns:a="http://schemas.openxmlformats.org/drawingml/2006/main">
              <a:ext uri="{FF2B5EF4-FFF2-40B4-BE49-F238E27FC236}">
                <a16:creationId xmlns:a16="http://schemas.microsoft.com/office/drawing/2014/main" id="{7D4B42E9-56C7-4936-B050-B5EB1BE3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H32</a:t>
            </a:r>
          </a:p>
        </p:txBody>
      </p:sp>
      <p:sp>
        <p:nvSpPr>
          <p:cNvPr id="40" name="e040_H33">
            <a:extLst xmlns:a="http://schemas.openxmlformats.org/drawingml/2006/main">
              <a:ext uri="{FF2B5EF4-FFF2-40B4-BE49-F238E27FC236}">
                <a16:creationId xmlns:a16="http://schemas.microsoft.com/office/drawing/2014/main" id="{C22ED23F-6996-41DF-8186-A59C9382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H33</a:t>
            </a:r>
          </a:p>
        </p:txBody>
      </p:sp>
      <p:sp>
        <p:nvSpPr>
          <p:cNvPr id="41" name="e041_H34">
            <a:extLst xmlns:a="http://schemas.openxmlformats.org/drawingml/2006/main">
              <a:ext uri="{FF2B5EF4-FFF2-40B4-BE49-F238E27FC236}">
                <a16:creationId xmlns:a16="http://schemas.microsoft.com/office/drawing/2014/main" id="{2F01C383-ADCE-4B14-87EE-453A0DE3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H34</a:t>
            </a:r>
          </a:p>
        </p:txBody>
      </p:sp>
      <p:sp>
        <p:nvSpPr>
          <p:cNvPr id="42" name="e042_H35">
            <a:extLst xmlns:a="http://schemas.openxmlformats.org/drawingml/2006/main">
              <a:ext uri="{FF2B5EF4-FFF2-40B4-BE49-F238E27FC236}">
                <a16:creationId xmlns:a16="http://schemas.microsoft.com/office/drawing/2014/main" id="{3F66628C-BCE6-487C-B8C2-6F7ED478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H35</a:t>
            </a:r>
          </a:p>
        </p:txBody>
      </p:sp>
      <p:sp>
        <p:nvSpPr>
          <p:cNvPr id="43" name="e043_H36">
            <a:extLst xmlns:a="http://schemas.openxmlformats.org/drawingml/2006/main">
              <a:ext uri="{FF2B5EF4-FFF2-40B4-BE49-F238E27FC236}">
                <a16:creationId xmlns:a16="http://schemas.microsoft.com/office/drawing/2014/main" id="{15190A8B-0CA2-454B-9885-E6A04D5C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2385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H36</a:t>
            </a:r>
          </a:p>
        </p:txBody>
      </p:sp>
      <p:sp>
        <p:nvSpPr>
          <p:cNvPr id="44" name="e044_H37">
            <a:extLst xmlns:a="http://schemas.openxmlformats.org/drawingml/2006/main">
              <a:ext uri="{FF2B5EF4-FFF2-40B4-BE49-F238E27FC236}">
                <a16:creationId xmlns:a16="http://schemas.microsoft.com/office/drawing/2014/main" id="{462928D0-D3CD-452D-99E1-F27FBF77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H37</a:t>
            </a:r>
          </a:p>
        </p:txBody>
      </p:sp>
      <p:sp>
        <p:nvSpPr>
          <p:cNvPr id="45" name="e045_H38">
            <a:extLst xmlns:a="http://schemas.openxmlformats.org/drawingml/2006/main">
              <a:ext uri="{FF2B5EF4-FFF2-40B4-BE49-F238E27FC236}">
                <a16:creationId xmlns:a16="http://schemas.microsoft.com/office/drawing/2014/main" id="{82E88E42-0FB4-4B51-B28B-43EE24B8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H38</a:t>
            </a:r>
          </a:p>
        </p:txBody>
      </p:sp>
      <p:sp>
        <p:nvSpPr>
          <p:cNvPr id="46" name="e046_H39">
            <a:extLst xmlns:a="http://schemas.openxmlformats.org/drawingml/2006/main">
              <a:ext uri="{FF2B5EF4-FFF2-40B4-BE49-F238E27FC236}">
                <a16:creationId xmlns:a16="http://schemas.microsoft.com/office/drawing/2014/main" id="{FD593BA9-8E0E-4685-9B2B-1885E901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H39</a:t>
            </a:r>
          </a:p>
        </p:txBody>
      </p:sp>
      <p:sp>
        <p:nvSpPr>
          <p:cNvPr id="47" name="e047_H40">
            <a:extLst xmlns:a="http://schemas.openxmlformats.org/drawingml/2006/main">
              <a:ext uri="{FF2B5EF4-FFF2-40B4-BE49-F238E27FC236}">
                <a16:creationId xmlns:a16="http://schemas.microsoft.com/office/drawing/2014/main" id="{D6ECACB2-D64C-4012-A8D4-74927370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H40</a:t>
            </a:r>
          </a:p>
        </p:txBody>
      </p:sp>
      <p:sp>
        <p:nvSpPr>
          <p:cNvPr id="48" name="e048_H41">
            <a:extLst xmlns:a="http://schemas.openxmlformats.org/drawingml/2006/main">
              <a:ext uri="{FF2B5EF4-FFF2-40B4-BE49-F238E27FC236}">
                <a16:creationId xmlns:a16="http://schemas.microsoft.com/office/drawing/2014/main" id="{0472BB17-36AE-42BE-930F-D11E57AE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H41</a:t>
            </a:r>
          </a:p>
        </p:txBody>
      </p:sp>
      <p:sp>
        <p:nvSpPr>
          <p:cNvPr id="49" name="e049_H42">
            <a:extLst xmlns:a="http://schemas.openxmlformats.org/drawingml/2006/main">
              <a:ext uri="{FF2B5EF4-FFF2-40B4-BE49-F238E27FC236}">
                <a16:creationId xmlns:a16="http://schemas.microsoft.com/office/drawing/2014/main" id="{E683EC36-1631-4E95-84B6-6C37F115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H42</a:t>
            </a:r>
          </a:p>
        </p:txBody>
      </p:sp>
      <p:sp>
        <p:nvSpPr>
          <p:cNvPr id="50" name="e050_H43">
            <a:extLst xmlns:a="http://schemas.openxmlformats.org/drawingml/2006/main">
              <a:ext uri="{FF2B5EF4-FFF2-40B4-BE49-F238E27FC236}">
                <a16:creationId xmlns:a16="http://schemas.microsoft.com/office/drawing/2014/main" id="{0C232DA0-FC59-46A0-A846-EB71283D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H43</a:t>
            </a:r>
          </a:p>
        </p:txBody>
      </p:sp>
      <p:sp>
        <p:nvSpPr>
          <p:cNvPr id="51" name="e051_H44">
            <a:extLst xmlns:a="http://schemas.openxmlformats.org/drawingml/2006/main">
              <a:ext uri="{FF2B5EF4-FFF2-40B4-BE49-F238E27FC236}">
                <a16:creationId xmlns:a16="http://schemas.microsoft.com/office/drawing/2014/main" id="{08F90C29-E71B-4051-8120-189AFA92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H44</a:t>
            </a:r>
          </a:p>
        </p:txBody>
      </p:sp>
      <p:sp>
        <p:nvSpPr>
          <p:cNvPr id="52" name="e052_H45">
            <a:extLst xmlns:a="http://schemas.openxmlformats.org/drawingml/2006/main">
              <a:ext uri="{FF2B5EF4-FFF2-40B4-BE49-F238E27FC236}">
                <a16:creationId xmlns:a16="http://schemas.microsoft.com/office/drawing/2014/main" id="{2AC98B54-28AA-4D0C-A899-1B5CB7C8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H45</a:t>
            </a:r>
          </a:p>
        </p:txBody>
      </p:sp>
      <p:sp>
        <p:nvSpPr>
          <p:cNvPr id="53" name="e053_H46">
            <a:extLst xmlns:a="http://schemas.openxmlformats.org/drawingml/2006/main">
              <a:ext uri="{FF2B5EF4-FFF2-40B4-BE49-F238E27FC236}">
                <a16:creationId xmlns:a16="http://schemas.microsoft.com/office/drawing/2014/main" id="{7032467C-7327-4545-8F43-1F3D6120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H46</a:t>
            </a:r>
          </a:p>
        </p:txBody>
      </p:sp>
      <p:sp>
        <p:nvSpPr>
          <p:cNvPr id="54" name="e054_H47">
            <a:extLst xmlns:a="http://schemas.openxmlformats.org/drawingml/2006/main">
              <a:ext uri="{FF2B5EF4-FFF2-40B4-BE49-F238E27FC236}">
                <a16:creationId xmlns:a16="http://schemas.microsoft.com/office/drawing/2014/main" id="{99D0AA5E-D5D5-45D7-9AF5-DE0FBB85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H47</a:t>
            </a:r>
          </a:p>
        </p:txBody>
      </p:sp>
      <p:sp>
        <p:nvSpPr>
          <p:cNvPr id="55" name="e055_H48">
            <a:extLst xmlns:a="http://schemas.openxmlformats.org/drawingml/2006/main">
              <a:ext uri="{FF2B5EF4-FFF2-40B4-BE49-F238E27FC236}">
                <a16:creationId xmlns:a16="http://schemas.microsoft.com/office/drawing/2014/main" id="{4B259F77-F6AB-40AE-97B3-E89775D2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48075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H48</a:t>
            </a:r>
          </a:p>
        </p:txBody>
      </p:sp>
      <p:sp>
        <p:nvSpPr>
          <p:cNvPr id="56" name="e056_远期架构">
            <a:extLst xmlns:a="http://schemas.openxmlformats.org/drawingml/2006/main">
              <a:ext uri="{FF2B5EF4-FFF2-40B4-BE49-F238E27FC236}">
                <a16:creationId xmlns:a16="http://schemas.microsoft.com/office/drawing/2014/main" id="{61504465-975A-4685-B69E-755FD83F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0002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远期架构</a:t>
            </a:r>
          </a:p>
        </p:txBody>
      </p:sp>
      <p:sp>
        <p:nvSpPr>
          <p:cNvPr id="57" name="e057_X01">
            <a:extLst xmlns:a="http://schemas.openxmlformats.org/drawingml/2006/main">
              <a:ext uri="{FF2B5EF4-FFF2-40B4-BE49-F238E27FC236}">
                <a16:creationId xmlns:a16="http://schemas.microsoft.com/office/drawing/2014/main" id="{6541C36E-6DE6-4DA0-B8D0-EFA41B6F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X01</a:t>
            </a:r>
          </a:p>
        </p:txBody>
      </p:sp>
      <p:sp>
        <p:nvSpPr>
          <p:cNvPr id="58" name="e058_X02">
            <a:extLst xmlns:a="http://schemas.openxmlformats.org/drawingml/2006/main">
              <a:ext uri="{FF2B5EF4-FFF2-40B4-BE49-F238E27FC236}">
                <a16:creationId xmlns:a16="http://schemas.microsoft.com/office/drawing/2014/main" id="{ABAF8C8F-F446-41B5-B135-EA8FCCE2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X02</a:t>
            </a:r>
          </a:p>
        </p:txBody>
      </p:sp>
      <p:sp>
        <p:nvSpPr>
          <p:cNvPr id="59" name="e059_X03">
            <a:extLst xmlns:a="http://schemas.openxmlformats.org/drawingml/2006/main">
              <a:ext uri="{FF2B5EF4-FFF2-40B4-BE49-F238E27FC236}">
                <a16:creationId xmlns:a16="http://schemas.microsoft.com/office/drawing/2014/main" id="{AF6A1642-5004-4193-B00A-3BF454F1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X03</a:t>
            </a:r>
          </a:p>
        </p:txBody>
      </p:sp>
      <p:sp>
        <p:nvSpPr>
          <p:cNvPr id="60" name="e060_X04">
            <a:extLst xmlns:a="http://schemas.openxmlformats.org/drawingml/2006/main">
              <a:ext uri="{FF2B5EF4-FFF2-40B4-BE49-F238E27FC236}">
                <a16:creationId xmlns:a16="http://schemas.microsoft.com/office/drawing/2014/main" id="{30AB6BBE-BE82-409D-A6FB-DC3CFCAF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X04</a:t>
            </a:r>
          </a:p>
        </p:txBody>
      </p:sp>
      <p:sp>
        <p:nvSpPr>
          <p:cNvPr id="61" name="e061_X05">
            <a:extLst xmlns:a="http://schemas.openxmlformats.org/drawingml/2006/main">
              <a:ext uri="{FF2B5EF4-FFF2-40B4-BE49-F238E27FC236}">
                <a16:creationId xmlns:a16="http://schemas.microsoft.com/office/drawing/2014/main" id="{7C5FD6F2-2D65-4667-94F2-6C8C6EBA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X05</a:t>
            </a:r>
          </a:p>
        </p:txBody>
      </p:sp>
      <p:sp>
        <p:nvSpPr>
          <p:cNvPr id="62" name="e062_X06">
            <a:extLst xmlns:a="http://schemas.openxmlformats.org/drawingml/2006/main">
              <a:ext uri="{FF2B5EF4-FFF2-40B4-BE49-F238E27FC236}">
                <a16:creationId xmlns:a16="http://schemas.microsoft.com/office/drawing/2014/main" id="{EC6D8D8C-C68B-41D3-973F-2C9B046E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X06</a:t>
            </a:r>
          </a:p>
        </p:txBody>
      </p:sp>
      <p:sp>
        <p:nvSpPr>
          <p:cNvPr id="63" name="e063_X07">
            <a:extLst xmlns:a="http://schemas.openxmlformats.org/drawingml/2006/main">
              <a:ext uri="{FF2B5EF4-FFF2-40B4-BE49-F238E27FC236}">
                <a16:creationId xmlns:a16="http://schemas.microsoft.com/office/drawing/2014/main" id="{3E82181D-E6CE-4DB6-AB50-2F8E9157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X07</a:t>
            </a:r>
          </a:p>
        </p:txBody>
      </p:sp>
      <p:sp>
        <p:nvSpPr>
          <p:cNvPr id="64" name="e064_X08">
            <a:extLst xmlns:a="http://schemas.openxmlformats.org/drawingml/2006/main">
              <a:ext uri="{FF2B5EF4-FFF2-40B4-BE49-F238E27FC236}">
                <a16:creationId xmlns:a16="http://schemas.microsoft.com/office/drawing/2014/main" id="{BF9B8B14-B2EF-41E8-B19C-E7191058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X08</a:t>
            </a:r>
          </a:p>
        </p:txBody>
      </p:sp>
      <p:sp>
        <p:nvSpPr>
          <p:cNvPr id="65" name="e065_X09">
            <a:extLst xmlns:a="http://schemas.openxmlformats.org/drawingml/2006/main">
              <a:ext uri="{FF2B5EF4-FFF2-40B4-BE49-F238E27FC236}">
                <a16:creationId xmlns:a16="http://schemas.microsoft.com/office/drawing/2014/main" id="{7FAA1471-9B09-4366-BDCA-E170E1AD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X09</a:t>
            </a:r>
          </a:p>
        </p:txBody>
      </p:sp>
      <p:sp>
        <p:nvSpPr>
          <p:cNvPr id="66" name="e066_X10">
            <a:extLst xmlns:a="http://schemas.openxmlformats.org/drawingml/2006/main">
              <a:ext uri="{FF2B5EF4-FFF2-40B4-BE49-F238E27FC236}">
                <a16:creationId xmlns:a16="http://schemas.microsoft.com/office/drawing/2014/main" id="{9E5A4230-A3DA-40F2-A3A1-6146AFFB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X10</a:t>
            </a:r>
          </a:p>
        </p:txBody>
      </p:sp>
      <p:sp>
        <p:nvSpPr>
          <p:cNvPr id="67" name="e067_X11">
            <a:extLst xmlns:a="http://schemas.openxmlformats.org/drawingml/2006/main">
              <a:ext uri="{FF2B5EF4-FFF2-40B4-BE49-F238E27FC236}">
                <a16:creationId xmlns:a16="http://schemas.microsoft.com/office/drawing/2014/main" id="{E512B7AE-F75A-4005-AB0C-AEE0CCF9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X11</a:t>
            </a:r>
          </a:p>
        </p:txBody>
      </p:sp>
      <p:sp>
        <p:nvSpPr>
          <p:cNvPr id="68" name="e068_X12">
            <a:extLst xmlns:a="http://schemas.openxmlformats.org/drawingml/2006/main">
              <a:ext uri="{FF2B5EF4-FFF2-40B4-BE49-F238E27FC236}">
                <a16:creationId xmlns:a16="http://schemas.microsoft.com/office/drawing/2014/main" id="{7A47AF14-6F5D-43D7-A6D4-5A6B30DA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0"/>
            <a:ext cx="71437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X12</a:t>
            </a:r>
          </a:p>
        </p:txBody>
      </p:sp>
      <p:sp>
        <p:nvSpPr>
          <p:cNvPr id="69" name="e069_20 条组合路线连接机制；图谱表达研究覆盖，不是性能排名">
            <a:extLst xmlns:a="http://schemas.openxmlformats.org/drawingml/2006/main">
              <a:ext uri="{FF2B5EF4-FFF2-40B4-BE49-F238E27FC236}">
                <a16:creationId xmlns:a16="http://schemas.microsoft.com/office/drawing/2014/main" id="{A2C66489-C1DD-4956-A66E-D04FA5B6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20 条组合路线连接机制；图谱表达研究覆盖，不是性能排名</a:t>
            </a:r>
          </a:p>
        </p:txBody>
      </p:sp>
    </p:spTree>
    <p:extLst>
      <p:ext uri="{BB962C8B-B14F-4D97-AF65-F5344CB8AC3E}">
        <p14:creationId xmlns:p14="http://schemas.microsoft.com/office/powerpoint/2010/main" val="719475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001_第一条主线：概念出生">
            <a:extLst xmlns:a="http://schemas.openxmlformats.org/drawingml/2006/main">
              <a:ext uri="{FF2B5EF4-FFF2-40B4-BE49-F238E27FC236}">
                <a16:creationId xmlns:a16="http://schemas.microsoft.com/office/drawing/2014/main" id="{0FA02B18-E833-4C02-ADA9-B2DBC0A4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第一条主线：概念出生</a:t>
            </a:r>
          </a:p>
        </p:txBody>
      </p:sp>
      <p:sp>
        <p:nvSpPr>
          <p:cNvPr id="2" name="e002_分歧可以产生一个之前没有的可计算区分">
            <a:extLst xmlns:a="http://schemas.openxmlformats.org/drawingml/2006/main">
              <a:ext uri="{FF2B5EF4-FFF2-40B4-BE49-F238E27FC236}">
                <a16:creationId xmlns:a16="http://schemas.microsoft.com/office/drawing/2014/main" id="{22D8B1C4-50DC-4515-99F1-1C9A43CF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分歧可以产生一个之前没有的可计算区分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D8D0EE77-BC55-4312-919A-63E1889A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5CCD48FD-86BD-46E3-B752-6EED556C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4 / 12">
            <a:extLst xmlns:a="http://schemas.openxmlformats.org/drawingml/2006/main">
              <a:ext uri="{FF2B5EF4-FFF2-40B4-BE49-F238E27FC236}">
                <a16:creationId xmlns:a16="http://schemas.microsoft.com/office/drawing/2014/main" id="{761D121B-3CFB-4D1B-8B78-60BBC532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04 / 12</a:t>
            </a:r>
          </a:p>
        </p:txBody>
      </p:sp>
      <p:sp>
        <p:nvSpPr>
          <p:cNvPr id="6" name="e006_ellipse">
            <a:extLst xmlns:a="http://schemas.openxmlformats.org/drawingml/2006/main">
              <a:ext uri="{FF2B5EF4-FFF2-40B4-BE49-F238E27FC236}">
                <a16:creationId xmlns:a16="http://schemas.microsoft.com/office/drawing/2014/main" id="{2E33E10B-5B3B-4E3D-B2F9-5F16F544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36647"/>
            </a:solidFill>
            <a:prstDash val="solid"/>
          </a:ln>
        </p:spPr>
      </p:sp>
      <p:sp>
        <p:nvSpPr>
          <p:cNvPr id="7" name="e007_polyline">
            <a:extLst xmlns:a="http://schemas.openxmlformats.org/drawingml/2006/main">
              <a:ext uri="{FF2B5EF4-FFF2-40B4-BE49-F238E27FC236}">
                <a16:creationId xmlns:a16="http://schemas.microsoft.com/office/drawing/2014/main" id="{A3D1EB40-4F40-4C21-B23A-63026D9D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57500"/>
            <a:ext cx="1128713" cy="95"/>
          </a:xfrm>
          <a:custGeom xmlns:a="http://schemas.openxmlformats.org/drawingml/2006/main">
            <a:pathLst>
              <a:path w="1128713" h="95">
                <a:moveTo>
                  <a:pt x="0" y="0"/>
                </a:moveTo>
                <a:lnTo>
                  <a:pt x="11287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536647"/>
            </a:solidFill>
            <a:prstDash val="solid"/>
          </a:ln>
        </p:spPr>
      </p:sp>
      <p:sp>
        <p:nvSpPr>
          <p:cNvPr id="8" name="e008_polyline">
            <a:extLst xmlns:a="http://schemas.openxmlformats.org/drawingml/2006/main">
              <a:ext uri="{FF2B5EF4-FFF2-40B4-BE49-F238E27FC236}">
                <a16:creationId xmlns:a16="http://schemas.microsoft.com/office/drawing/2014/main" id="{9A131B82-7B9F-4A86-801F-D232E5C7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95" cy="285750"/>
          </a:xfrm>
          <a:custGeom xmlns:a="http://schemas.openxmlformats.org/drawingml/2006/main"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536647"/>
            </a:solidFill>
            <a:prstDash val="solid"/>
          </a:ln>
        </p:spPr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D9C5FBC0-581C-4F8C-BFA0-D5321D3A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95" cy="285750"/>
          </a:xfrm>
          <a:custGeom xmlns:a="http://schemas.openxmlformats.org/drawingml/2006/main"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536647"/>
            </a:solidFill>
            <a:prstDash val="solid"/>
          </a:ln>
        </p:spPr>
      </p:sp>
      <p:sp>
        <p:nvSpPr>
          <p:cNvPr id="10" name="e010_ellipse">
            <a:extLst xmlns:a="http://schemas.openxmlformats.org/drawingml/2006/main">
              <a:ext uri="{FF2B5EF4-FFF2-40B4-BE49-F238E27FC236}">
                <a16:creationId xmlns:a16="http://schemas.microsoft.com/office/drawing/2014/main" id="{2C6F7E31-63BC-409B-AE01-F70EBCD1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C5138"/>
            </a:solidFill>
            <a:prstDash val="solid"/>
          </a:ln>
        </p:spPr>
      </p:sp>
      <p:sp>
        <p:nvSpPr>
          <p:cNvPr id="11" name="e011_polyline">
            <a:extLst xmlns:a="http://schemas.openxmlformats.org/drawingml/2006/main">
              <a:ext uri="{FF2B5EF4-FFF2-40B4-BE49-F238E27FC236}">
                <a16:creationId xmlns:a16="http://schemas.microsoft.com/office/drawing/2014/main" id="{2DD53B31-90F0-466E-9927-F68371F6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76750"/>
            <a:ext cx="1128713" cy="95"/>
          </a:xfrm>
          <a:custGeom xmlns:a="http://schemas.openxmlformats.org/drawingml/2006/main">
            <a:pathLst>
              <a:path w="1128713" h="95">
                <a:moveTo>
                  <a:pt x="0" y="0"/>
                </a:moveTo>
                <a:lnTo>
                  <a:pt x="11287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9C5138"/>
            </a:solidFill>
            <a:prstDash val="solid"/>
          </a:ln>
        </p:spPr>
      </p:sp>
      <p:sp>
        <p:nvSpPr>
          <p:cNvPr id="12" name="e012_polyline">
            <a:extLst xmlns:a="http://schemas.openxmlformats.org/drawingml/2006/main">
              <a:ext uri="{FF2B5EF4-FFF2-40B4-BE49-F238E27FC236}">
                <a16:creationId xmlns:a16="http://schemas.microsoft.com/office/drawing/2014/main" id="{F7419E91-C895-4BA2-A39C-42461603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95" cy="285750"/>
          </a:xfrm>
          <a:custGeom xmlns:a="http://schemas.openxmlformats.org/drawingml/2006/main"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9C5138"/>
            </a:solidFill>
            <a:prstDash val="solid"/>
          </a:ln>
        </p:spPr>
      </p:sp>
      <p:sp>
        <p:nvSpPr>
          <p:cNvPr id="13" name="e013_polyline">
            <a:extLst xmlns:a="http://schemas.openxmlformats.org/drawingml/2006/main">
              <a:ext uri="{FF2B5EF4-FFF2-40B4-BE49-F238E27FC236}">
                <a16:creationId xmlns:a16="http://schemas.microsoft.com/office/drawing/2014/main" id="{1B0A9396-38B5-4704-A6B5-F6BE47D4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95" cy="285750"/>
          </a:xfrm>
          <a:custGeom xmlns:a="http://schemas.openxmlformats.org/drawingml/2006/main"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9C5138"/>
            </a:solidFill>
            <a:prstDash val="solid"/>
          </a:ln>
        </p:spPr>
      </p:sp>
      <p:sp>
        <p:nvSpPr>
          <p:cNvPr id="14" name="e014_K₁：形状匹配，授权有效">
            <a:extLst xmlns:a="http://schemas.openxmlformats.org/drawingml/2006/main">
              <a:ext uri="{FF2B5EF4-FFF2-40B4-BE49-F238E27FC236}">
                <a16:creationId xmlns:a16="http://schemas.microsoft.com/office/drawing/2014/main" id="{B3CD6FC0-4BF7-4058-BF4F-2CB33CDD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762000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K₁：形状匹配，授权有效</a:t>
            </a:r>
          </a:p>
        </p:txBody>
      </p:sp>
      <p:sp>
        <p:nvSpPr>
          <p:cNvPr id="15" name="e015_K₂：形状匹配，授权过期">
            <a:extLst xmlns:a="http://schemas.openxmlformats.org/drawingml/2006/main">
              <a:ext uri="{FF2B5EF4-FFF2-40B4-BE49-F238E27FC236}">
                <a16:creationId xmlns:a16="http://schemas.microsoft.com/office/drawing/2014/main" id="{F4EADFA4-F3C0-46CB-9705-EC256F77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7620000" cy="43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K₂：形状匹配，授权过期</a:t>
            </a:r>
          </a:p>
        </p:txBody>
      </p:sp>
      <p:sp>
        <p:nvSpPr>
          <p:cNvPr id="16" name="e016_可以开门">
            <a:extLst xmlns:a="http://schemas.openxmlformats.org/drawingml/2006/main">
              <a:ext uri="{FF2B5EF4-FFF2-40B4-BE49-F238E27FC236}">
                <a16:creationId xmlns:a16="http://schemas.microsoft.com/office/drawing/2014/main" id="{B18022B2-84EE-4ACF-AEE7-BB2206EB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762000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可以开门</a:t>
            </a:r>
          </a:p>
        </p:txBody>
      </p:sp>
      <p:sp>
        <p:nvSpPr>
          <p:cNvPr id="17" name="e017_不能开门">
            <a:extLst xmlns:a="http://schemas.openxmlformats.org/drawingml/2006/main">
              <a:ext uri="{FF2B5EF4-FFF2-40B4-BE49-F238E27FC236}">
                <a16:creationId xmlns:a16="http://schemas.microsoft.com/office/drawing/2014/main" id="{4F1DADE1-4758-4725-9214-AE85CC0A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29150"/>
            <a:ext cx="762000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不能开门</a:t>
            </a:r>
          </a:p>
        </p:txBody>
      </p:sp>
      <p:sp>
        <p:nvSpPr>
          <p:cNvPr id="18" name="e018_下一步：定义“授权有效期”，使新概念改变可执行判断">
            <a:extLst xmlns:a="http://schemas.openxmlformats.org/drawingml/2006/main">
              <a:ext uri="{FF2B5EF4-FFF2-40B4-BE49-F238E27FC236}">
                <a16:creationId xmlns:a16="http://schemas.microsoft.com/office/drawing/2014/main" id="{6CB6EEDC-4F9B-442A-A686-E257A0F7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下一步：定义“授权有效期”，使新概念改变可执行判断</a:t>
            </a:r>
          </a:p>
        </p:txBody>
      </p:sp>
    </p:spTree>
    <p:extLst>
      <p:ext uri="{BB962C8B-B14F-4D97-AF65-F5344CB8AC3E}">
        <p14:creationId xmlns:p14="http://schemas.microsoft.com/office/powerpoint/2010/main" val="541334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001_H40：语言也能学会新指令">
            <a:extLst xmlns:a="http://schemas.openxmlformats.org/drawingml/2006/main">
              <a:ext uri="{FF2B5EF4-FFF2-40B4-BE49-F238E27FC236}">
                <a16:creationId xmlns:a16="http://schemas.microsoft.com/office/drawing/2014/main" id="{5C032905-3506-4128-865B-0F3C8D33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H40：语言也能学会新指令</a:t>
            </a:r>
          </a:p>
        </p:txBody>
      </p:sp>
      <p:sp>
        <p:nvSpPr>
          <p:cNvPr id="2" name="e002_反复使用的结构被编译为可扩展操作">
            <a:extLst xmlns:a="http://schemas.openxmlformats.org/drawingml/2006/main">
              <a:ext uri="{FF2B5EF4-FFF2-40B4-BE49-F238E27FC236}">
                <a16:creationId xmlns:a16="http://schemas.microsoft.com/office/drawing/2014/main" id="{3FEB4CE6-2B67-48E4-8DF4-428DEDDE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反复使用的结构被编译为可扩展操作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E20CDFA9-BE65-49F8-8CF5-4D1F3E06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387C93E3-D5AC-42E7-9C4B-52ACE5BE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5 / 12">
            <a:extLst xmlns:a="http://schemas.openxmlformats.org/drawingml/2006/main">
              <a:ext uri="{FF2B5EF4-FFF2-40B4-BE49-F238E27FC236}">
                <a16:creationId xmlns:a16="http://schemas.microsoft.com/office/drawing/2014/main" id="{D061B77B-DC99-40A8-915F-3E3AA8EA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05 / 12</a:t>
            </a:r>
          </a:p>
        </p:txBody>
      </p:sp>
      <p:sp>
        <p:nvSpPr>
          <p:cNvPr id="6" name="e006_重复结构">
            <a:extLst xmlns:a="http://schemas.openxmlformats.org/drawingml/2006/main">
              <a:ext uri="{FF2B5EF4-FFF2-40B4-BE49-F238E27FC236}">
                <a16:creationId xmlns:a16="http://schemas.microsoft.com/office/drawing/2014/main" id="{A4B21D37-5D6E-4760-BABE-4F9198BF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61950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重复结构</a:t>
            </a:r>
          </a:p>
        </p:txBody>
      </p:sp>
      <p:sp>
        <p:nvSpPr>
          <p:cNvPr id="7" name="e007_检查授权&#10;检查时间范围&#10;执行动作">
            <a:extLst xmlns:a="http://schemas.openxmlformats.org/drawingml/2006/main">
              <a:ext uri="{FF2B5EF4-FFF2-40B4-BE49-F238E27FC236}">
                <a16:creationId xmlns:a16="http://schemas.microsoft.com/office/drawing/2014/main" id="{35E7EE53-D68E-4797-B033-29E9EE64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810000" cy="1348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检查授权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检查时间范围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执行动作</a:t>
            </a:r>
          </a:p>
        </p:txBody>
      </p:sp>
      <p:sp>
        <p:nvSpPr>
          <p:cNvPr id="8" name="e008_polyline">
            <a:extLst xmlns:a="http://schemas.openxmlformats.org/drawingml/2006/main">
              <a:ext uri="{FF2B5EF4-FFF2-40B4-BE49-F238E27FC236}">
                <a16:creationId xmlns:a16="http://schemas.microsoft.com/office/drawing/2014/main" id="{4356E5A6-7338-4845-9485-AD5C7121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1619250" cy="95"/>
          </a:xfrm>
          <a:custGeom xmlns:a="http://schemas.openxmlformats.org/drawingml/2006/main">
            <a:pathLst>
              <a:path w="1619250" h="9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BED158B6-F5BB-40F4-8D3F-4E3B6B7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29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10" name="e010_rect">
            <a:extLst xmlns:a="http://schemas.openxmlformats.org/drawingml/2006/main">
              <a:ext uri="{FF2B5EF4-FFF2-40B4-BE49-F238E27FC236}">
                <a16:creationId xmlns:a16="http://schemas.microsoft.com/office/drawing/2014/main" id="{03982114-EFE2-4FC0-9C5C-2FE030F4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3911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1" name="e011_宏：authorized_action">
            <a:extLst xmlns:a="http://schemas.openxmlformats.org/drawingml/2006/main">
              <a:ext uri="{FF2B5EF4-FFF2-40B4-BE49-F238E27FC236}">
                <a16:creationId xmlns:a16="http://schemas.microsoft.com/office/drawing/2014/main" id="{19074B7C-A220-4167-9CFE-68D6C3A9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1054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宏：authorized_action</a:t>
            </a:r>
          </a:p>
        </p:txBody>
      </p:sp>
      <p:sp>
        <p:nvSpPr>
          <p:cNvPr id="12" name="e012_可扩展指令，带类型与前置条件">
            <a:extLst xmlns:a="http://schemas.openxmlformats.org/drawingml/2006/main">
              <a:ext uri="{FF2B5EF4-FFF2-40B4-BE49-F238E27FC236}">
                <a16:creationId xmlns:a16="http://schemas.microsoft.com/office/drawing/2014/main" id="{01AA8CA7-44E1-4457-8FAD-EDB968EE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36106"/>
            <a:ext cx="510540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可扩展指令，带类型与前置条件</a:t>
            </a:r>
          </a:p>
        </p:txBody>
      </p:sp>
      <p:sp>
        <p:nvSpPr>
          <p:cNvPr id="13" name="e013_polyline">
            <a:extLst xmlns:a="http://schemas.openxmlformats.org/drawingml/2006/main">
              <a:ext uri="{FF2B5EF4-FFF2-40B4-BE49-F238E27FC236}">
                <a16:creationId xmlns:a16="http://schemas.microsoft.com/office/drawing/2014/main" id="{851F3651-0DD5-4EE6-B238-CCB33273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306EBB7C-B33D-4C83-8951-5F152DC7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95250" cy="114300"/>
          </a:xfrm>
          <a:custGeom xmlns:a="http://schemas.openxmlformats.org/drawingml/2006/main">
            <a:pathLst>
              <a:path w="95250" h="114300">
                <a:moveTo>
                  <a:pt x="95250" y="0"/>
                </a:moveTo>
                <a:lnTo>
                  <a:pt x="47625" y="1143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C5138"/>
            </a:solidFill>
            <a:prstDash val="solid"/>
          </a:ln>
        </p:spPr>
      </p:sp>
      <p:sp>
        <p:nvSpPr>
          <p:cNvPr id="15" name="e015_lower：还原到旧 ISA 的同一语义">
            <a:extLst xmlns:a="http://schemas.openxmlformats.org/drawingml/2006/main">
              <a:ext uri="{FF2B5EF4-FFF2-40B4-BE49-F238E27FC236}">
                <a16:creationId xmlns:a16="http://schemas.microsoft.com/office/drawing/2014/main" id="{638185DF-D4E8-4A12-971C-4B1D2CEA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539115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lower：还原到旧 ISA 的同一语义</a:t>
            </a:r>
          </a:p>
        </p:txBody>
      </p:sp>
      <p:sp>
        <p:nvSpPr>
          <p:cNvPr id="16" name="e016_宏可以压缩程序，不能隐藏无法解释的“万能函数”">
            <a:extLst xmlns:a="http://schemas.openxmlformats.org/drawingml/2006/main">
              <a:ext uri="{FF2B5EF4-FFF2-40B4-BE49-F238E27FC236}">
                <a16:creationId xmlns:a16="http://schemas.microsoft.com/office/drawing/2014/main" id="{726BDBCB-52BD-4EF3-AC9D-81580F05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宏可以压缩程序，不能隐藏无法解释的“万能函数”</a:t>
            </a:r>
          </a:p>
        </p:txBody>
      </p:sp>
    </p:spTree>
    <p:extLst>
      <p:ext uri="{BB962C8B-B14F-4D97-AF65-F5344CB8AC3E}">
        <p14:creationId xmlns:p14="http://schemas.microsoft.com/office/powerpoint/2010/main" val="1713117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001_第二条主线：传递怎样学习">
            <a:extLst xmlns:a="http://schemas.openxmlformats.org/drawingml/2006/main">
              <a:ext uri="{FF2B5EF4-FFF2-40B4-BE49-F238E27FC236}">
                <a16:creationId xmlns:a16="http://schemas.microsoft.com/office/drawing/2014/main" id="{FBA2D0F4-F587-45B8-ACE1-DE19F3CD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第二条主线：传递怎样学习</a:t>
            </a:r>
          </a:p>
        </p:txBody>
      </p:sp>
      <p:sp>
        <p:nvSpPr>
          <p:cNvPr id="2" name="e002_知识之外，还能交换改进方向与规则">
            <a:extLst xmlns:a="http://schemas.openxmlformats.org/drawingml/2006/main">
              <a:ext uri="{FF2B5EF4-FFF2-40B4-BE49-F238E27FC236}">
                <a16:creationId xmlns:a16="http://schemas.microsoft.com/office/drawing/2014/main" id="{483EB3E2-1D06-416F-AD36-ECCEE040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知识之外，还能交换改进方向与规则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A98AF264-019E-457A-8B96-F2EC5B55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CCB1692B-0005-420D-843C-CEA4E707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6 / 12">
            <a:extLst xmlns:a="http://schemas.openxmlformats.org/drawingml/2006/main">
              <a:ext uri="{FF2B5EF4-FFF2-40B4-BE49-F238E27FC236}">
                <a16:creationId xmlns:a16="http://schemas.microsoft.com/office/drawing/2014/main" id="{62423EEF-84C0-4658-AAE0-FFE4FFC9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06 / 12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56D70BE4-07DB-4C65-BA25-422A822E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454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7" name="e007_答案消息">
            <a:extLst xmlns:a="http://schemas.openxmlformats.org/drawingml/2006/main">
              <a:ext uri="{FF2B5EF4-FFF2-40B4-BE49-F238E27FC236}">
                <a16:creationId xmlns:a16="http://schemas.microsoft.com/office/drawing/2014/main" id="{D4B561B1-223D-49E2-998E-54E5CE5D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62250"/>
            <a:ext cx="31686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答案消息</a:t>
            </a:r>
          </a:p>
        </p:txBody>
      </p:sp>
      <p:sp>
        <p:nvSpPr>
          <p:cNvPr id="8" name="e008_当前问题的输出">
            <a:extLst xmlns:a="http://schemas.openxmlformats.org/drawingml/2006/main">
              <a:ext uri="{FF2B5EF4-FFF2-40B4-BE49-F238E27FC236}">
                <a16:creationId xmlns:a16="http://schemas.microsoft.com/office/drawing/2014/main" id="{2B02AD3F-5E37-433B-84AE-32546FE0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67075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当前问题的输出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5653DCA2-BAA8-4B3D-BA18-544F0F58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35242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D972C4D2-E184-4BA1-9C6F-B06DF586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476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228A6D4D-C032-4137-9803-C9369798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19375"/>
            <a:ext cx="3454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2" name="e012_行为方向">
            <a:extLst xmlns:a="http://schemas.openxmlformats.org/drawingml/2006/main">
              <a:ext uri="{FF2B5EF4-FFF2-40B4-BE49-F238E27FC236}">
                <a16:creationId xmlns:a16="http://schemas.microsoft.com/office/drawing/2014/main" id="{81C1F0FC-E4BC-4436-ACCF-6E0E2D04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762250"/>
            <a:ext cx="31686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行为方向</a:t>
            </a:r>
          </a:p>
        </p:txBody>
      </p:sp>
      <p:sp>
        <p:nvSpPr>
          <p:cNvPr id="13" name="e013_改变哪些可观察行为">
            <a:extLst xmlns:a="http://schemas.openxmlformats.org/drawingml/2006/main">
              <a:ext uri="{FF2B5EF4-FFF2-40B4-BE49-F238E27FC236}">
                <a16:creationId xmlns:a16="http://schemas.microsoft.com/office/drawing/2014/main" id="{EC97C7E2-54FF-4EFF-B75A-DA39BE79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3267075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改变哪些可观察行为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8ED70D71-9CCD-45B1-861D-05A321C6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35242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DF480AA4-8B58-45B7-B48C-03CB9308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476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C83131D9-2E3B-4961-84CA-8CF02357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19375"/>
            <a:ext cx="3454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7" name="e017_更新规则">
            <a:extLst xmlns:a="http://schemas.openxmlformats.org/drawingml/2006/main">
              <a:ext uri="{FF2B5EF4-FFF2-40B4-BE49-F238E27FC236}">
                <a16:creationId xmlns:a16="http://schemas.microsoft.com/office/drawing/2014/main" id="{F9DC23D8-D1F1-4F08-A83C-9FA4B627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762250"/>
            <a:ext cx="31686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更新规则</a:t>
            </a:r>
          </a:p>
        </p:txBody>
      </p:sp>
      <p:sp>
        <p:nvSpPr>
          <p:cNvPr id="18" name="e018_怎样产生局部修改">
            <a:extLst xmlns:a="http://schemas.openxmlformats.org/drawingml/2006/main">
              <a:ext uri="{FF2B5EF4-FFF2-40B4-BE49-F238E27FC236}">
                <a16:creationId xmlns:a16="http://schemas.microsoft.com/office/drawing/2014/main" id="{ABF9C258-D692-4E74-8BF5-EBEC64FB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3267075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怎样产生局部修改</a:t>
            </a:r>
          </a:p>
        </p:txBody>
      </p:sp>
      <p:sp>
        <p:nvSpPr>
          <p:cNvPr id="19" name="e019_共同可观察行为是桥梁；参数空间无需相同">
            <a:extLst xmlns:a="http://schemas.openxmlformats.org/drawingml/2006/main">
              <a:ext uri="{FF2B5EF4-FFF2-40B4-BE49-F238E27FC236}">
                <a16:creationId xmlns:a16="http://schemas.microsoft.com/office/drawing/2014/main" id="{0422E624-EDF4-48A9-8C75-0C0F0681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共同可观察行为是桥梁；参数空间无需相同</a:t>
            </a:r>
          </a:p>
        </p:txBody>
      </p:sp>
    </p:spTree>
    <p:extLst>
      <p:ext uri="{BB962C8B-B14F-4D97-AF65-F5344CB8AC3E}">
        <p14:creationId xmlns:p14="http://schemas.microsoft.com/office/powerpoint/2010/main" val="1873206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001_C13：可塑性网络">
            <a:extLst xmlns:a="http://schemas.openxmlformats.org/drawingml/2006/main">
              <a:ext uri="{FF2B5EF4-FFF2-40B4-BE49-F238E27FC236}">
                <a16:creationId xmlns:a16="http://schemas.microsoft.com/office/drawing/2014/main" id="{15011231-091E-4683-8D6C-4E9420AD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C13：可塑性网络</a:t>
            </a:r>
          </a:p>
        </p:txBody>
      </p:sp>
      <p:sp>
        <p:nvSpPr>
          <p:cNvPr id="2" name="e002_行为锚＋方向运输＋更新规则">
            <a:extLst xmlns:a="http://schemas.openxmlformats.org/drawingml/2006/main">
              <a:ext uri="{FF2B5EF4-FFF2-40B4-BE49-F238E27FC236}">
                <a16:creationId xmlns:a16="http://schemas.microsoft.com/office/drawing/2014/main" id="{BEE57C03-C062-47B5-974B-0C667C3D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行为锚＋方向运输＋更新规则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EFD72A65-A3CC-4D43-8924-9B22F919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4E418277-8855-466C-8D17-83DE2F8C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7 / 12">
            <a:extLst xmlns:a="http://schemas.openxmlformats.org/drawingml/2006/main">
              <a:ext uri="{FF2B5EF4-FFF2-40B4-BE49-F238E27FC236}">
                <a16:creationId xmlns:a16="http://schemas.microsoft.com/office/drawing/2014/main" id="{20B3D373-692D-4344-ABED-A81ED6D2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07 / 12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0A17FFB3-E73C-4464-85BB-85139959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7" name="e007_共同有限行为锚">
            <a:extLst xmlns:a="http://schemas.openxmlformats.org/drawingml/2006/main">
              <a:ext uri="{FF2B5EF4-FFF2-40B4-BE49-F238E27FC236}">
                <a16:creationId xmlns:a16="http://schemas.microsoft.com/office/drawing/2014/main" id="{8F5FEC34-5B5A-4C68-85B9-5997795D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31686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共同有限行为锚</a:t>
            </a:r>
          </a:p>
        </p:txBody>
      </p:sp>
      <p:sp>
        <p:nvSpPr>
          <p:cNvPr id="8" name="e008_规定可比较的变化">
            <a:extLst xmlns:a="http://schemas.openxmlformats.org/drawingml/2006/main">
              <a:ext uri="{FF2B5EF4-FFF2-40B4-BE49-F238E27FC236}">
                <a16:creationId xmlns:a16="http://schemas.microsoft.com/office/drawing/2014/main" id="{594B9589-F825-4D7A-99D8-02407415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64669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规定可比较的变化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F246D0F0-DEEE-44EC-B49B-C2169922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328612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15CB1C86-DFA6-4FFC-870F-54DECCF1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2385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BCEFBAC9-3D3D-493D-978A-A2BDF81E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4765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2" name="e012_方向运输 H37">
            <a:extLst xmlns:a="http://schemas.openxmlformats.org/drawingml/2006/main">
              <a:ext uri="{FF2B5EF4-FFF2-40B4-BE49-F238E27FC236}">
                <a16:creationId xmlns:a16="http://schemas.microsoft.com/office/drawing/2014/main" id="{62F884C4-04B4-4CBD-A090-CA1B4C2A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619375"/>
            <a:ext cx="31686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方向运输 H37</a:t>
            </a:r>
          </a:p>
        </p:txBody>
      </p:sp>
      <p:sp>
        <p:nvSpPr>
          <p:cNvPr id="13" name="e013_可实现部分与残差">
            <a:extLst xmlns:a="http://schemas.openxmlformats.org/drawingml/2006/main">
              <a:ext uri="{FF2B5EF4-FFF2-40B4-BE49-F238E27FC236}">
                <a16:creationId xmlns:a16="http://schemas.microsoft.com/office/drawing/2014/main" id="{7EBFCABA-81E3-48F8-BB13-0C17DC42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3064669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可实现部分与残差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88B01F4E-CA21-41C4-9E9D-486B0D70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328612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CC351842-F241-42B0-A260-43FB43F9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2385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F766A390-CEE5-466D-B4E6-313FE9D0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476500"/>
            <a:ext cx="3454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7" name="e017_规则协议 H38">
            <a:extLst xmlns:a="http://schemas.openxmlformats.org/drawingml/2006/main">
              <a:ext uri="{FF2B5EF4-FFF2-40B4-BE49-F238E27FC236}">
                <a16:creationId xmlns:a16="http://schemas.microsoft.com/office/drawing/2014/main" id="{C54EDD80-5AC6-46E8-9DDF-532A4CAD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619375"/>
            <a:ext cx="3168650" cy="422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规则协议 H38</a:t>
            </a:r>
          </a:p>
        </p:txBody>
      </p:sp>
      <p:sp>
        <p:nvSpPr>
          <p:cNvPr id="18" name="e018_生成受限局部更新">
            <a:extLst xmlns:a="http://schemas.openxmlformats.org/drawingml/2006/main">
              <a:ext uri="{FF2B5EF4-FFF2-40B4-BE49-F238E27FC236}">
                <a16:creationId xmlns:a16="http://schemas.microsoft.com/office/drawing/2014/main" id="{7978685E-B0A7-4281-AD62-7F813976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3064669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生成受限局部更新</a:t>
            </a:r>
          </a:p>
        </p:txBody>
      </p:sp>
      <p:sp>
        <p:nvSpPr>
          <p:cNvPr id="19" name="e019_rect">
            <a:extLst xmlns:a="http://schemas.openxmlformats.org/drawingml/2006/main">
              <a:ext uri="{FF2B5EF4-FFF2-40B4-BE49-F238E27FC236}">
                <a16:creationId xmlns:a16="http://schemas.microsoft.com/office/drawing/2014/main" id="{61E39333-1D0A-469F-A8C5-9BB5BF4D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4540"/>
            </a:solidFill>
            <a:prstDash val="dash"/>
          </a:ln>
        </p:spPr>
      </p:sp>
      <p:sp>
        <p:nvSpPr>
          <p:cNvPr id="20" name="e020_研究入口锁定：模型初始化、前向、训练、评测均 NOT_RUN">
            <a:extLst xmlns:a="http://schemas.openxmlformats.org/drawingml/2006/main">
              <a:ext uri="{FF2B5EF4-FFF2-40B4-BE49-F238E27FC236}">
                <a16:creationId xmlns:a16="http://schemas.microsoft.com/office/drawing/2014/main" id="{CCD1FF43-3B3A-4104-82E2-1C98E57E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52975"/>
            <a:ext cx="1047750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rPr>
              <a:t>研究入口锁定：模型初始化、前向、训练、评测均 NOT_RUN</a:t>
            </a:r>
          </a:p>
        </p:txBody>
      </p:sp>
      <p:sp>
        <p:nvSpPr>
          <p:cNvPr id="21" name="e021_C13 的远期目标：交流形成能力的方法，而非直接叠加参数">
            <a:extLst xmlns:a="http://schemas.openxmlformats.org/drawingml/2006/main">
              <a:ext uri="{FF2B5EF4-FFF2-40B4-BE49-F238E27FC236}">
                <a16:creationId xmlns:a16="http://schemas.microsoft.com/office/drawing/2014/main" id="{2D879E1D-8C68-4B8C-A9BC-D19BEF40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C13 的远期目标：交流形成能力的方法，而非直接叠加参数</a:t>
            </a:r>
          </a:p>
        </p:txBody>
      </p:sp>
    </p:spTree>
    <p:extLst>
      <p:ext uri="{BB962C8B-B14F-4D97-AF65-F5344CB8AC3E}">
        <p14:creationId xmlns:p14="http://schemas.microsoft.com/office/powerpoint/2010/main" val="11250331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001_第三条主线：共同制造世界">
            <a:extLst xmlns:a="http://schemas.openxmlformats.org/drawingml/2006/main">
              <a:ext uri="{FF2B5EF4-FFF2-40B4-BE49-F238E27FC236}">
                <a16:creationId xmlns:a16="http://schemas.microsoft.com/office/drawing/2014/main" id="{924C8AD2-4FC5-431B-B3E5-5C5BFC25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第三条主线：共同制造世界</a:t>
            </a:r>
          </a:p>
        </p:txBody>
      </p:sp>
      <p:sp>
        <p:nvSpPr>
          <p:cNvPr id="2" name="e002_消息可以是一小块可行动的动力学">
            <a:extLst xmlns:a="http://schemas.openxmlformats.org/drawingml/2006/main">
              <a:ext uri="{FF2B5EF4-FFF2-40B4-BE49-F238E27FC236}">
                <a16:creationId xmlns:a16="http://schemas.microsoft.com/office/drawing/2014/main" id="{1054D3FD-D13D-42D8-85C8-26759F9E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消息可以是一小块可行动的动力学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C25C592E-9226-4931-8BBD-5FCB54CF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8FB2002C-C553-43AA-826D-1D060A42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8 / 12">
            <a:extLst xmlns:a="http://schemas.openxmlformats.org/drawingml/2006/main">
              <a:ext uri="{FF2B5EF4-FFF2-40B4-BE49-F238E27FC236}">
                <a16:creationId xmlns:a16="http://schemas.microsoft.com/office/drawing/2014/main" id="{87919990-BF7E-4D2E-86FD-978344F3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08 / 12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981C8ADE-89B1-459B-A71D-CE5392BA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4544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7" name="e007_局部核 A">
            <a:extLst xmlns:a="http://schemas.openxmlformats.org/drawingml/2006/main">
              <a:ext uri="{FF2B5EF4-FFF2-40B4-BE49-F238E27FC236}">
                <a16:creationId xmlns:a16="http://schemas.microsoft.com/office/drawing/2014/main" id="{D20647EC-DE06-4708-8CCF-E77BFA6E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14625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局部核 A</a:t>
            </a:r>
          </a:p>
        </p:txBody>
      </p:sp>
      <p:sp>
        <p:nvSpPr>
          <p:cNvPr id="8" name="e008_状态、动作与转移">
            <a:extLst xmlns:a="http://schemas.openxmlformats.org/drawingml/2006/main">
              <a:ext uri="{FF2B5EF4-FFF2-40B4-BE49-F238E27FC236}">
                <a16:creationId xmlns:a16="http://schemas.microsoft.com/office/drawing/2014/main" id="{C3AD62CF-DF65-4E15-B194-C059419E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83731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状态、动作与转移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3B1B1E0F-6E3F-4B1C-8A5A-61F4A8DF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3405188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9FD81DFB-C8D7-4085-B69F-87B0E87C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357563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5CF63B62-0904-4044-80AC-7F4D467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571750"/>
            <a:ext cx="34544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12" name="e012_局部核 B">
            <a:extLst xmlns:a="http://schemas.openxmlformats.org/drawingml/2006/main">
              <a:ext uri="{FF2B5EF4-FFF2-40B4-BE49-F238E27FC236}">
                <a16:creationId xmlns:a16="http://schemas.microsoft.com/office/drawing/2014/main" id="{90D11F8C-6098-48A0-B26C-B3734B61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714625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局部核 B</a:t>
            </a:r>
          </a:p>
        </p:txBody>
      </p:sp>
      <p:sp>
        <p:nvSpPr>
          <p:cNvPr id="13" name="e013_观测与依赖语义">
            <a:extLst xmlns:a="http://schemas.openxmlformats.org/drawingml/2006/main">
              <a:ext uri="{FF2B5EF4-FFF2-40B4-BE49-F238E27FC236}">
                <a16:creationId xmlns:a16="http://schemas.microsoft.com/office/drawing/2014/main" id="{FF4C482C-F459-4081-9977-5A83CB2B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3183731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观测与依赖语义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705F2DD4-DA7D-4781-95D9-33BD09BD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3405188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8ECF2661-FF8E-4935-A0BB-F56749F1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357563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DDB10D7E-F5B9-4A73-9FF6-C944C2EE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571750"/>
            <a:ext cx="34544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17" name="e017_可行动的新世界">
            <a:extLst xmlns:a="http://schemas.openxmlformats.org/drawingml/2006/main">
              <a:ext uri="{FF2B5EF4-FFF2-40B4-BE49-F238E27FC236}">
                <a16:creationId xmlns:a16="http://schemas.microsoft.com/office/drawing/2014/main" id="{802B2A19-AEDE-4B4F-BD7B-18193B2E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714625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可行动的新世界</a:t>
            </a:r>
          </a:p>
        </p:txBody>
      </p:sp>
      <p:sp>
        <p:nvSpPr>
          <p:cNvPr id="18" name="e018_synthetic，保留谱系">
            <a:extLst xmlns:a="http://schemas.openxmlformats.org/drawingml/2006/main">
              <a:ext uri="{FF2B5EF4-FFF2-40B4-BE49-F238E27FC236}">
                <a16:creationId xmlns:a16="http://schemas.microsoft.com/office/drawing/2014/main" id="{D8008F01-3B62-4406-9A85-4933671F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3183731"/>
            <a:ext cx="31686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synthetic，保留谱系</a:t>
            </a:r>
          </a:p>
        </p:txBody>
      </p:sp>
      <p:sp>
        <p:nvSpPr>
          <p:cNvPr id="19" name="e019_消息的对象：一小块可执行动力学">
            <a:extLst xmlns:a="http://schemas.openxmlformats.org/drawingml/2006/main">
              <a:ext uri="{FF2B5EF4-FFF2-40B4-BE49-F238E27FC236}">
                <a16:creationId xmlns:a16="http://schemas.microsoft.com/office/drawing/2014/main" id="{75BA2A50-46A3-4600-A10C-09B791E4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76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消息的对象：一小块可执行动力学</a:t>
            </a:r>
          </a:p>
        </p:txBody>
      </p:sp>
      <p:sp>
        <p:nvSpPr>
          <p:cNvPr id="20" name="e020_合成世界能提出新问题，不能自行制造现实证据">
            <a:extLst xmlns:a="http://schemas.openxmlformats.org/drawingml/2006/main">
              <a:ext uri="{FF2B5EF4-FFF2-40B4-BE49-F238E27FC236}">
                <a16:creationId xmlns:a16="http://schemas.microsoft.com/office/drawing/2014/main" id="{F03EF316-C55F-4926-8176-AC9108D7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合成世界能提出新问题，不能自行制造现实证据</a:t>
            </a:r>
          </a:p>
        </p:txBody>
      </p:sp>
    </p:spTree>
    <p:extLst>
      <p:ext uri="{BB962C8B-B14F-4D97-AF65-F5344CB8AC3E}">
        <p14:creationId xmlns:p14="http://schemas.microsoft.com/office/powerpoint/2010/main" val="536593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001_C16：从梦境到研究生态">
            <a:extLst xmlns:a="http://schemas.openxmlformats.org/drawingml/2006/main">
              <a:ext uri="{FF2B5EF4-FFF2-40B4-BE49-F238E27FC236}">
                <a16:creationId xmlns:a16="http://schemas.microsoft.com/office/drawing/2014/main" id="{9CBEDCF0-5C92-4ECD-9235-C5F1A226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C16：从梦境到研究生态</a:t>
            </a:r>
          </a:p>
        </p:txBody>
      </p:sp>
      <p:sp>
        <p:nvSpPr>
          <p:cNvPr id="2" name="e002_核组合→问题→语言变异→归档">
            <a:extLst xmlns:a="http://schemas.openxmlformats.org/drawingml/2006/main">
              <a:ext uri="{FF2B5EF4-FFF2-40B4-BE49-F238E27FC236}">
                <a16:creationId xmlns:a16="http://schemas.microsoft.com/office/drawing/2014/main" id="{5C328F70-E7C1-454F-96E8-95897008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核组合→问题→语言变异→归档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38239FF4-125D-486A-A091-897BB1F4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1193EBBF-B5AD-43F9-85CB-475C3004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09 / 12">
            <a:extLst xmlns:a="http://schemas.openxmlformats.org/drawingml/2006/main">
              <a:ext uri="{FF2B5EF4-FFF2-40B4-BE49-F238E27FC236}">
                <a16:creationId xmlns:a16="http://schemas.microsoft.com/office/drawing/2014/main" id="{FFE3F31A-B753-4B8D-8331-B62FA131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09 / 12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45B1D20C-D33F-4A13-8570-6010B9A0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95072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7" name="e007_世界核">
            <a:extLst xmlns:a="http://schemas.openxmlformats.org/drawingml/2006/main">
              <a:ext uri="{FF2B5EF4-FFF2-40B4-BE49-F238E27FC236}">
                <a16:creationId xmlns:a16="http://schemas.microsoft.com/office/drawing/2014/main" id="{ECF7ABA8-6D40-4F5B-AC1D-5681C2B2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14625"/>
            <a:ext cx="166497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世界核</a:t>
            </a:r>
          </a:p>
        </p:txBody>
      </p:sp>
      <p:sp>
        <p:nvSpPr>
          <p:cNvPr id="8" name="e008_保留依赖">
            <a:extLst xmlns:a="http://schemas.openxmlformats.org/drawingml/2006/main">
              <a:ext uri="{FF2B5EF4-FFF2-40B4-BE49-F238E27FC236}">
                <a16:creationId xmlns:a16="http://schemas.microsoft.com/office/drawing/2014/main" id="{D214C29B-682E-44F2-A7F7-19FC3C85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24200"/>
            <a:ext cx="166497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保留依赖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7C6DEA98-8EBE-4EE6-B2BA-63F9621F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33337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F3D08F65-2FB9-47D6-914F-EAD7DA91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70" y="3286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A6CA933B-B928-4C0E-BE7C-683CFC4B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2571750"/>
            <a:ext cx="195072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2" name="e012_新问题">
            <a:extLst xmlns:a="http://schemas.openxmlformats.org/drawingml/2006/main">
              <a:ext uri="{FF2B5EF4-FFF2-40B4-BE49-F238E27FC236}">
                <a16:creationId xmlns:a16="http://schemas.microsoft.com/office/drawing/2014/main" id="{FED3B50E-036E-4B4E-B8D8-4F0E9FC1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2714625"/>
            <a:ext cx="166497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新问题</a:t>
            </a:r>
          </a:p>
        </p:txBody>
      </p:sp>
      <p:sp>
        <p:nvSpPr>
          <p:cNvPr id="13" name="e013_带答案关系">
            <a:extLst xmlns:a="http://schemas.openxmlformats.org/drawingml/2006/main">
              <a:ext uri="{FF2B5EF4-FFF2-40B4-BE49-F238E27FC236}">
                <a16:creationId xmlns:a16="http://schemas.microsoft.com/office/drawing/2014/main" id="{C2978B6E-7C16-4E5B-911E-0E870978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3124200"/>
            <a:ext cx="166497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带答案关系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70EDCBEE-1BFC-43E3-92E2-AD3FC00A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3337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9B607496-290D-4B97-911B-C0BB36BB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190" y="3286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394A1C36-3739-40B0-8617-27F91070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571750"/>
            <a:ext cx="195072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7" name="e017_语言变异">
            <a:extLst xmlns:a="http://schemas.openxmlformats.org/drawingml/2006/main">
              <a:ext uri="{FF2B5EF4-FFF2-40B4-BE49-F238E27FC236}">
                <a16:creationId xmlns:a16="http://schemas.microsoft.com/office/drawing/2014/main" id="{1F868B76-992E-41E3-A710-78109E9C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2714625"/>
            <a:ext cx="166497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语言变异</a:t>
            </a:r>
          </a:p>
        </p:txBody>
      </p:sp>
      <p:sp>
        <p:nvSpPr>
          <p:cNvPr id="18" name="e018_可执行定义">
            <a:extLst xmlns:a="http://schemas.openxmlformats.org/drawingml/2006/main">
              <a:ext uri="{FF2B5EF4-FFF2-40B4-BE49-F238E27FC236}">
                <a16:creationId xmlns:a16="http://schemas.microsoft.com/office/drawing/2014/main" id="{744CD12D-B4DD-4FBA-A8EE-71D8F27E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5" y="3124200"/>
            <a:ext cx="166497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可执行定义</a:t>
            </a:r>
          </a:p>
        </p:txBody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74115C77-59BF-434C-A8E2-F4B0BDBA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3337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07486296-91BF-4276-83CC-2DD2A210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3286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1" name="e021_rect">
            <a:extLst xmlns:a="http://schemas.openxmlformats.org/drawingml/2006/main">
              <a:ext uri="{FF2B5EF4-FFF2-40B4-BE49-F238E27FC236}">
                <a16:creationId xmlns:a16="http://schemas.microsoft.com/office/drawing/2014/main" id="{A8FF7E83-21E7-4FD4-901F-EC0C150E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2571750"/>
            <a:ext cx="195072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22" name="e022_有限检查">
            <a:extLst xmlns:a="http://schemas.openxmlformats.org/drawingml/2006/main">
              <a:ext uri="{FF2B5EF4-FFF2-40B4-BE49-F238E27FC236}">
                <a16:creationId xmlns:a16="http://schemas.microsoft.com/office/drawing/2014/main" id="{096CC4E1-3696-42BE-B102-8E9AC6EA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35" y="2714625"/>
            <a:ext cx="166497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有限检查</a:t>
            </a:r>
          </a:p>
        </p:txBody>
      </p:sp>
      <p:sp>
        <p:nvSpPr>
          <p:cNvPr id="23" name="e023_预算内见证">
            <a:extLst xmlns:a="http://schemas.openxmlformats.org/drawingml/2006/main">
              <a:ext uri="{FF2B5EF4-FFF2-40B4-BE49-F238E27FC236}">
                <a16:creationId xmlns:a16="http://schemas.microsoft.com/office/drawing/2014/main" id="{E2A75D0E-5973-46BD-ADEF-BE5615B3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35" y="3124200"/>
            <a:ext cx="166497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预算内见证</a:t>
            </a:r>
          </a:p>
        </p:txBody>
      </p:sp>
      <p:sp>
        <p:nvSpPr>
          <p:cNvPr id="24" name="e024_polyline">
            <a:extLst xmlns:a="http://schemas.openxmlformats.org/drawingml/2006/main">
              <a:ext uri="{FF2B5EF4-FFF2-40B4-BE49-F238E27FC236}">
                <a16:creationId xmlns:a16="http://schemas.microsoft.com/office/drawing/2014/main" id="{079DC0B0-CA2C-499D-9F43-06A00048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030" y="33337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5" name="e025_polyline">
            <a:extLst xmlns:a="http://schemas.openxmlformats.org/drawingml/2006/main">
              <a:ext uri="{FF2B5EF4-FFF2-40B4-BE49-F238E27FC236}">
                <a16:creationId xmlns:a16="http://schemas.microsoft.com/office/drawing/2014/main" id="{BAE10E23-716B-4922-8735-A8E8A53B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3286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6" name="e026_rect">
            <a:extLst xmlns:a="http://schemas.openxmlformats.org/drawingml/2006/main">
              <a:ext uri="{FF2B5EF4-FFF2-40B4-BE49-F238E27FC236}">
                <a16:creationId xmlns:a16="http://schemas.microsoft.com/office/drawing/2014/main" id="{04502624-617C-46EE-ABE3-975E5570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571750"/>
            <a:ext cx="195072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27" name="e027_归档">
            <a:extLst xmlns:a="http://schemas.openxmlformats.org/drawingml/2006/main">
              <a:ext uri="{FF2B5EF4-FFF2-40B4-BE49-F238E27FC236}">
                <a16:creationId xmlns:a16="http://schemas.microsoft.com/office/drawing/2014/main" id="{C38AE429-2299-46EB-ABD6-12E01ECF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555" y="2714625"/>
            <a:ext cx="166497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归档</a:t>
            </a:r>
          </a:p>
        </p:txBody>
      </p:sp>
      <p:sp>
        <p:nvSpPr>
          <p:cNvPr id="28" name="e028_版本与来源">
            <a:extLst xmlns:a="http://schemas.openxmlformats.org/drawingml/2006/main">
              <a:ext uri="{FF2B5EF4-FFF2-40B4-BE49-F238E27FC236}">
                <a16:creationId xmlns:a16="http://schemas.microsoft.com/office/drawing/2014/main" id="{6ACAA6C1-CF42-442D-AA45-A76EC9C1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555" y="3124200"/>
            <a:ext cx="166497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版本与来源</a:t>
            </a:r>
          </a:p>
        </p:txBody>
      </p:sp>
      <p:sp>
        <p:nvSpPr>
          <p:cNvPr id="29" name="e029_synthetic / real：命名空间和证据边界始终分离">
            <a:extLst xmlns:a="http://schemas.openxmlformats.org/drawingml/2006/main">
              <a:ext uri="{FF2B5EF4-FFF2-40B4-BE49-F238E27FC236}">
                <a16:creationId xmlns:a16="http://schemas.microsoft.com/office/drawing/2014/main" id="{765D7D1E-7CEF-4AD9-BE58-C212B91C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9C4540"/>
                </a:solidFill>
                <a:latin typeface="Noto Sans CJK SC"/>
                <a:ea typeface="Noto Sans CJK SC"/>
                <a:cs typeface="Noto Sans CJK SC"/>
              </a:rPr>
              <a:t>synthetic / real：命名空间和证据边界始终分离</a:t>
            </a:r>
          </a:p>
        </p:txBody>
      </p:sp>
      <p:sp>
        <p:nvSpPr>
          <p:cNvPr id="30" name="e030_C16 研究能生产问题空间的生态，而非自动生成现实“事实”">
            <a:extLst xmlns:a="http://schemas.openxmlformats.org/drawingml/2006/main">
              <a:ext uri="{FF2B5EF4-FFF2-40B4-BE49-F238E27FC236}">
                <a16:creationId xmlns:a16="http://schemas.microsoft.com/office/drawing/2014/main" id="{9CEA57E2-2DA6-4EA8-8CDB-BE4F67C6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C16 研究能生产问题空间的生态，而非自动生成现实“事实”</a:t>
            </a:r>
          </a:p>
        </p:txBody>
      </p:sp>
    </p:spTree>
    <p:extLst>
      <p:ext uri="{BB962C8B-B14F-4D97-AF65-F5344CB8AC3E}">
        <p14:creationId xmlns:p14="http://schemas.microsoft.com/office/powerpoint/2010/main" val="1639324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001_H33与H34：思想可能在轨迹里">
            <a:extLst xmlns:a="http://schemas.openxmlformats.org/drawingml/2006/main">
              <a:ext uri="{FF2B5EF4-FFF2-40B4-BE49-F238E27FC236}">
                <a16:creationId xmlns:a16="http://schemas.microsoft.com/office/drawing/2014/main" id="{193FFA13-95A0-4C8F-B099-ECF49865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H33与H34：思想可能在轨迹里</a:t>
            </a:r>
          </a:p>
        </p:txBody>
      </p:sp>
      <p:sp>
        <p:nvSpPr>
          <p:cNvPr id="2" name="e002_终点不是唯一的读出对象">
            <a:extLst xmlns:a="http://schemas.openxmlformats.org/drawingml/2006/main">
              <a:ext uri="{FF2B5EF4-FFF2-40B4-BE49-F238E27FC236}">
                <a16:creationId xmlns:a16="http://schemas.microsoft.com/office/drawing/2014/main" id="{7BE0C8A8-CFF7-44A9-8819-78AED15B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终点不是唯一的读出对象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FB507DAF-55A9-45FF-A14C-33369ED2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解析示意 / 数学示意 · 无模型实测">
            <a:extLst xmlns:a="http://schemas.openxmlformats.org/drawingml/2006/main">
              <a:ext uri="{FF2B5EF4-FFF2-40B4-BE49-F238E27FC236}">
                <a16:creationId xmlns:a16="http://schemas.microsoft.com/office/drawing/2014/main" id="{CAD8B5A3-DC1E-4B83-AEB3-15BD4AE4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解析示意 / 数学示意 · 无模型实测</a:t>
            </a:r>
          </a:p>
        </p:txBody>
      </p:sp>
      <p:sp>
        <p:nvSpPr>
          <p:cNvPr id="5" name="e005_10 / 12">
            <a:extLst xmlns:a="http://schemas.openxmlformats.org/drawingml/2006/main">
              <a:ext uri="{FF2B5EF4-FFF2-40B4-BE49-F238E27FC236}">
                <a16:creationId xmlns:a16="http://schemas.microsoft.com/office/drawing/2014/main" id="{6AE786EC-06E3-42A7-9202-49072B5A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10 / 12</a:t>
            </a:r>
          </a:p>
        </p:txBody>
      </p:sp>
      <p:sp>
        <p:nvSpPr>
          <p:cNvPr id="6" name="e006_polyline">
            <a:extLst xmlns:a="http://schemas.openxmlformats.org/drawingml/2006/main">
              <a:ext uri="{FF2B5EF4-FFF2-40B4-BE49-F238E27FC236}">
                <a16:creationId xmlns:a16="http://schemas.microsoft.com/office/drawing/2014/main" id="{14F95EA7-EF06-4A87-B8CD-1F3A0092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09825"/>
            <a:ext cx="2324100" cy="2324100"/>
          </a:xfrm>
          <a:custGeom xmlns:a="http://schemas.openxmlformats.org/drawingml/2006/main">
            <a:pathLst>
              <a:path w="2324100" h="2324100">
                <a:moveTo>
                  <a:pt x="2324100" y="1162050"/>
                </a:moveTo>
                <a:lnTo>
                  <a:pt x="2317734" y="1283517"/>
                </a:lnTo>
                <a:lnTo>
                  <a:pt x="2298706" y="1403654"/>
                </a:lnTo>
                <a:lnTo>
                  <a:pt x="2267225" y="1521143"/>
                </a:lnTo>
                <a:lnTo>
                  <a:pt x="2223635" y="1634698"/>
                </a:lnTo>
                <a:lnTo>
                  <a:pt x="2168415" y="1743075"/>
                </a:lnTo>
                <a:lnTo>
                  <a:pt x="2102168" y="1845086"/>
                </a:lnTo>
                <a:lnTo>
                  <a:pt x="2025621" y="1939613"/>
                </a:lnTo>
                <a:lnTo>
                  <a:pt x="1939613" y="2025621"/>
                </a:lnTo>
                <a:lnTo>
                  <a:pt x="1845086" y="2102168"/>
                </a:lnTo>
                <a:lnTo>
                  <a:pt x="1743075" y="2168415"/>
                </a:lnTo>
                <a:lnTo>
                  <a:pt x="1634698" y="2223635"/>
                </a:lnTo>
                <a:lnTo>
                  <a:pt x="1521143" y="2267225"/>
                </a:lnTo>
                <a:lnTo>
                  <a:pt x="1403654" y="2298706"/>
                </a:lnTo>
                <a:lnTo>
                  <a:pt x="1283517" y="2317734"/>
                </a:lnTo>
                <a:lnTo>
                  <a:pt x="1162050" y="2324100"/>
                </a:lnTo>
                <a:lnTo>
                  <a:pt x="1040583" y="2317734"/>
                </a:lnTo>
                <a:lnTo>
                  <a:pt x="920446" y="2298706"/>
                </a:lnTo>
                <a:lnTo>
                  <a:pt x="802957" y="2267225"/>
                </a:lnTo>
                <a:lnTo>
                  <a:pt x="689402" y="2223635"/>
                </a:lnTo>
                <a:lnTo>
                  <a:pt x="581025" y="2168415"/>
                </a:lnTo>
                <a:lnTo>
                  <a:pt x="479014" y="2102168"/>
                </a:lnTo>
                <a:lnTo>
                  <a:pt x="384487" y="2025621"/>
                </a:lnTo>
                <a:lnTo>
                  <a:pt x="298479" y="1939613"/>
                </a:lnTo>
                <a:lnTo>
                  <a:pt x="221932" y="1845086"/>
                </a:lnTo>
                <a:lnTo>
                  <a:pt x="155685" y="1743075"/>
                </a:lnTo>
                <a:lnTo>
                  <a:pt x="100465" y="1634698"/>
                </a:lnTo>
                <a:lnTo>
                  <a:pt x="56875" y="1521143"/>
                </a:lnTo>
                <a:lnTo>
                  <a:pt x="25394" y="1403654"/>
                </a:lnTo>
                <a:lnTo>
                  <a:pt x="6366" y="1283517"/>
                </a:lnTo>
                <a:lnTo>
                  <a:pt x="0" y="1162050"/>
                </a:lnTo>
                <a:lnTo>
                  <a:pt x="6366" y="1040583"/>
                </a:lnTo>
                <a:lnTo>
                  <a:pt x="25394" y="920446"/>
                </a:lnTo>
                <a:lnTo>
                  <a:pt x="56875" y="802957"/>
                </a:lnTo>
                <a:lnTo>
                  <a:pt x="100465" y="689402"/>
                </a:lnTo>
                <a:lnTo>
                  <a:pt x="155685" y="581025"/>
                </a:lnTo>
                <a:lnTo>
                  <a:pt x="221932" y="479014"/>
                </a:lnTo>
                <a:lnTo>
                  <a:pt x="298479" y="384487"/>
                </a:lnTo>
                <a:lnTo>
                  <a:pt x="384487" y="298479"/>
                </a:lnTo>
                <a:lnTo>
                  <a:pt x="479014" y="221932"/>
                </a:lnTo>
                <a:lnTo>
                  <a:pt x="581025" y="155685"/>
                </a:lnTo>
                <a:lnTo>
                  <a:pt x="689402" y="100465"/>
                </a:lnTo>
                <a:lnTo>
                  <a:pt x="802957" y="56875"/>
                </a:lnTo>
                <a:lnTo>
                  <a:pt x="920446" y="25394"/>
                </a:lnTo>
                <a:lnTo>
                  <a:pt x="1040583" y="6366"/>
                </a:lnTo>
                <a:lnTo>
                  <a:pt x="1162050" y="0"/>
                </a:lnTo>
                <a:lnTo>
                  <a:pt x="1283517" y="6366"/>
                </a:lnTo>
                <a:lnTo>
                  <a:pt x="1403654" y="25394"/>
                </a:lnTo>
                <a:lnTo>
                  <a:pt x="1521143" y="56875"/>
                </a:lnTo>
                <a:lnTo>
                  <a:pt x="1634698" y="100465"/>
                </a:lnTo>
                <a:lnTo>
                  <a:pt x="1743075" y="155685"/>
                </a:lnTo>
                <a:lnTo>
                  <a:pt x="1845086" y="221932"/>
                </a:lnTo>
                <a:lnTo>
                  <a:pt x="1939613" y="298479"/>
                </a:lnTo>
                <a:lnTo>
                  <a:pt x="2025621" y="384487"/>
                </a:lnTo>
                <a:lnTo>
                  <a:pt x="2102168" y="479014"/>
                </a:lnTo>
                <a:lnTo>
                  <a:pt x="2168415" y="581025"/>
                </a:lnTo>
                <a:lnTo>
                  <a:pt x="2223635" y="689402"/>
                </a:lnTo>
                <a:lnTo>
                  <a:pt x="2267225" y="802957"/>
                </a:lnTo>
                <a:lnTo>
                  <a:pt x="2298706" y="920446"/>
                </a:lnTo>
                <a:lnTo>
                  <a:pt x="2317734" y="1040583"/>
                </a:lnTo>
                <a:lnTo>
                  <a:pt x="2324100" y="1162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36647"/>
            </a:solidFill>
            <a:prstDash val="solid"/>
          </a:ln>
        </p:spPr>
      </p:sp>
      <p:sp>
        <p:nvSpPr>
          <p:cNvPr id="7" name="e007_ellipse">
            <a:extLst xmlns:a="http://schemas.openxmlformats.org/drawingml/2006/main">
              <a:ext uri="{FF2B5EF4-FFF2-40B4-BE49-F238E27FC236}">
                <a16:creationId xmlns:a16="http://schemas.microsoft.com/office/drawing/2014/main" id="{7F4E6C8B-8CA9-4239-91E8-85A87D4D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86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6647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8" name="e008_相位 / 顺序 / 事件读出">
            <a:extLst xmlns:a="http://schemas.openxmlformats.org/drawingml/2006/main">
              <a:ext uri="{FF2B5EF4-FFF2-40B4-BE49-F238E27FC236}">
                <a16:creationId xmlns:a16="http://schemas.microsoft.com/office/drawing/2014/main" id="{DD21C34E-A0D6-4018-BD2D-D6F48B3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95875"/>
            <a:ext cx="4381500" cy="395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相位 / 顺序 / 事件读出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52FFA26B-F210-420B-B906-61C94909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0861"/>
            <a:ext cx="3714750" cy="1492902"/>
          </a:xfrm>
          <a:custGeom xmlns:a="http://schemas.openxmlformats.org/drawingml/2006/main">
            <a:pathLst>
              <a:path w="3714750" h="1492902">
                <a:moveTo>
                  <a:pt x="0" y="1491139"/>
                </a:moveTo>
                <a:lnTo>
                  <a:pt x="61913" y="1492252"/>
                </a:lnTo>
                <a:lnTo>
                  <a:pt x="123825" y="1492902"/>
                </a:lnTo>
                <a:lnTo>
                  <a:pt x="185738" y="1492632"/>
                </a:lnTo>
                <a:lnTo>
                  <a:pt x="247650" y="1491002"/>
                </a:lnTo>
                <a:lnTo>
                  <a:pt x="309563" y="1487590"/>
                </a:lnTo>
                <a:lnTo>
                  <a:pt x="371475" y="1482004"/>
                </a:lnTo>
                <a:lnTo>
                  <a:pt x="433388" y="1473885"/>
                </a:lnTo>
                <a:lnTo>
                  <a:pt x="495300" y="1462914"/>
                </a:lnTo>
                <a:lnTo>
                  <a:pt x="557213" y="1448816"/>
                </a:lnTo>
                <a:lnTo>
                  <a:pt x="619125" y="1431366"/>
                </a:lnTo>
                <a:lnTo>
                  <a:pt x="681038" y="1410389"/>
                </a:lnTo>
                <a:lnTo>
                  <a:pt x="742950" y="1385767"/>
                </a:lnTo>
                <a:lnTo>
                  <a:pt x="804863" y="1357439"/>
                </a:lnTo>
                <a:lnTo>
                  <a:pt x="866775" y="1325400"/>
                </a:lnTo>
                <a:lnTo>
                  <a:pt x="928688" y="1289705"/>
                </a:lnTo>
                <a:lnTo>
                  <a:pt x="990600" y="1250465"/>
                </a:lnTo>
                <a:lnTo>
                  <a:pt x="1052513" y="1207846"/>
                </a:lnTo>
                <a:lnTo>
                  <a:pt x="1114425" y="1162067"/>
                </a:lnTo>
                <a:lnTo>
                  <a:pt x="1176338" y="1113398"/>
                </a:lnTo>
                <a:lnTo>
                  <a:pt x="1238250" y="1062150"/>
                </a:lnTo>
                <a:lnTo>
                  <a:pt x="1300163" y="1008679"/>
                </a:lnTo>
                <a:lnTo>
                  <a:pt x="1362075" y="953372"/>
                </a:lnTo>
                <a:lnTo>
                  <a:pt x="1423988" y="896647"/>
                </a:lnTo>
                <a:lnTo>
                  <a:pt x="1485900" y="838943"/>
                </a:lnTo>
                <a:lnTo>
                  <a:pt x="1547813" y="780715"/>
                </a:lnTo>
                <a:lnTo>
                  <a:pt x="1609725" y="722425"/>
                </a:lnTo>
                <a:lnTo>
                  <a:pt x="1671638" y="664537"/>
                </a:lnTo>
                <a:lnTo>
                  <a:pt x="1733550" y="607508"/>
                </a:lnTo>
                <a:lnTo>
                  <a:pt x="1795463" y="551784"/>
                </a:lnTo>
                <a:lnTo>
                  <a:pt x="1857375" y="497786"/>
                </a:lnTo>
                <a:lnTo>
                  <a:pt x="1919288" y="445912"/>
                </a:lnTo>
                <a:lnTo>
                  <a:pt x="1981200" y="396525"/>
                </a:lnTo>
                <a:lnTo>
                  <a:pt x="2043113" y="349951"/>
                </a:lnTo>
                <a:lnTo>
                  <a:pt x="2105025" y="306469"/>
                </a:lnTo>
                <a:lnTo>
                  <a:pt x="2166938" y="266314"/>
                </a:lnTo>
                <a:lnTo>
                  <a:pt x="2228850" y="229664"/>
                </a:lnTo>
                <a:lnTo>
                  <a:pt x="2290763" y="196647"/>
                </a:lnTo>
                <a:lnTo>
                  <a:pt x="2352675" y="167332"/>
                </a:lnTo>
                <a:lnTo>
                  <a:pt x="2414588" y="141730"/>
                </a:lnTo>
                <a:lnTo>
                  <a:pt x="2476500" y="119795"/>
                </a:lnTo>
                <a:lnTo>
                  <a:pt x="2538413" y="101423"/>
                </a:lnTo>
                <a:lnTo>
                  <a:pt x="2600325" y="86455"/>
                </a:lnTo>
                <a:lnTo>
                  <a:pt x="2662238" y="74679"/>
                </a:lnTo>
                <a:lnTo>
                  <a:pt x="2724150" y="65832"/>
                </a:lnTo>
                <a:lnTo>
                  <a:pt x="2786063" y="59607"/>
                </a:lnTo>
                <a:lnTo>
                  <a:pt x="2847975" y="55655"/>
                </a:lnTo>
                <a:lnTo>
                  <a:pt x="2909888" y="53591"/>
                </a:lnTo>
                <a:lnTo>
                  <a:pt x="2971800" y="53003"/>
                </a:lnTo>
                <a:lnTo>
                  <a:pt x="3033713" y="53453"/>
                </a:lnTo>
                <a:lnTo>
                  <a:pt x="3095625" y="54488"/>
                </a:lnTo>
                <a:lnTo>
                  <a:pt x="3157538" y="55646"/>
                </a:lnTo>
                <a:lnTo>
                  <a:pt x="3219450" y="56464"/>
                </a:lnTo>
                <a:lnTo>
                  <a:pt x="3281363" y="56483"/>
                </a:lnTo>
                <a:lnTo>
                  <a:pt x="3343275" y="55256"/>
                </a:lnTo>
                <a:lnTo>
                  <a:pt x="3405188" y="52356"/>
                </a:lnTo>
                <a:lnTo>
                  <a:pt x="3467100" y="47384"/>
                </a:lnTo>
                <a:lnTo>
                  <a:pt x="3529013" y="39970"/>
                </a:lnTo>
                <a:lnTo>
                  <a:pt x="3590925" y="29785"/>
                </a:lnTo>
                <a:lnTo>
                  <a:pt x="3652838" y="16541"/>
                </a:lnTo>
                <a:lnTo>
                  <a:pt x="371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96974"/>
            </a:solidFill>
            <a:prstDash val="solid"/>
          </a:ln>
        </p:spPr>
      </p:sp>
      <p:sp>
        <p:nvSpPr>
          <p:cNvPr id="10" name="e010_ellipse">
            <a:extLst xmlns:a="http://schemas.openxmlformats.org/drawingml/2006/main">
              <a:ext uri="{FF2B5EF4-FFF2-40B4-BE49-F238E27FC236}">
                <a16:creationId xmlns:a16="http://schemas.microsoft.com/office/drawing/2014/main" id="{A4C001B1-CE99-49DA-8F60-FAD6EEE1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95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974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1" name="e011_ellipse">
            <a:extLst xmlns:a="http://schemas.openxmlformats.org/drawingml/2006/main">
              <a:ext uri="{FF2B5EF4-FFF2-40B4-BE49-F238E27FC236}">
                <a16:creationId xmlns:a16="http://schemas.microsoft.com/office/drawing/2014/main" id="{8D589AD5-64BE-49C6-8799-18E90515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004661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138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2" name="e012_双端约束，不偷用未来信息">
            <a:extLst xmlns:a="http://schemas.openxmlformats.org/drawingml/2006/main">
              <a:ext uri="{FF2B5EF4-FFF2-40B4-BE49-F238E27FC236}">
                <a16:creationId xmlns:a16="http://schemas.microsoft.com/office/drawing/2014/main" id="{B8849C49-9BD4-40C8-BF65-AD19E25C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76250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双端约束，不偷用未来信息</a:t>
            </a:r>
          </a:p>
        </p:txBody>
      </p:sp>
      <p:sp>
        <p:nvSpPr>
          <p:cNvPr id="13" name="e013_有界非收敛轨迹可有意义；数值发散仍是失败，而非更深的智能">
            <a:extLst xmlns:a="http://schemas.openxmlformats.org/drawingml/2006/main">
              <a:ext uri="{FF2B5EF4-FFF2-40B4-BE49-F238E27FC236}">
                <a16:creationId xmlns:a16="http://schemas.microsoft.com/office/drawing/2014/main" id="{0A3D63E6-3710-49FC-84AA-E1A71583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有界非收敛轨迹可有意义；数值发散仍是失败，而非更深的智能</a:t>
            </a:r>
          </a:p>
        </p:txBody>
      </p:sp>
    </p:spTree>
    <p:extLst>
      <p:ext uri="{BB962C8B-B14F-4D97-AF65-F5344CB8AC3E}">
        <p14:creationId xmlns:p14="http://schemas.microsoft.com/office/powerpoint/2010/main" val="6552014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001_完整程序怎样组织">
            <a:extLst xmlns:a="http://schemas.openxmlformats.org/drawingml/2006/main">
              <a:ext uri="{FF2B5EF4-FFF2-40B4-BE49-F238E27FC236}">
                <a16:creationId xmlns:a16="http://schemas.microsoft.com/office/drawing/2014/main" id="{F6236739-BD38-4F8F-ACAF-29F02BD3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完整程序怎样组织</a:t>
            </a:r>
          </a:p>
        </p:txBody>
      </p:sp>
      <p:sp>
        <p:nvSpPr>
          <p:cNvPr id="2" name="e002_48机制＋20组合＋12世界＋13学习阶段">
            <a:extLst xmlns:a="http://schemas.openxmlformats.org/drawingml/2006/main">
              <a:ext uri="{FF2B5EF4-FFF2-40B4-BE49-F238E27FC236}">
                <a16:creationId xmlns:a16="http://schemas.microsoft.com/office/drawing/2014/main" id="{0FE5E270-0639-47B7-BB9A-759EE4E0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48机制＋20组合＋12世界＋13学习阶段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E6AF3F85-A4CC-4919-A7EC-F1EC0351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FF7041BF-CFDA-497E-886B-CBE149F5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11 / 12">
            <a:extLst xmlns:a="http://schemas.openxmlformats.org/drawingml/2006/main">
              <a:ext uri="{FF2B5EF4-FFF2-40B4-BE49-F238E27FC236}">
                <a16:creationId xmlns:a16="http://schemas.microsoft.com/office/drawing/2014/main" id="{E3E030A5-4F56-4D4A-B1B0-2714E5FA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11 / 12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3F978C05-828D-4208-963F-6A905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4544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7" name="e007_目标源码">
            <a:extLst xmlns:a="http://schemas.openxmlformats.org/drawingml/2006/main">
              <a:ext uri="{FF2B5EF4-FFF2-40B4-BE49-F238E27FC236}">
                <a16:creationId xmlns:a16="http://schemas.microsoft.com/office/drawing/2014/main" id="{A7DC13A8-C3FF-449F-88F9-2A1BB187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71750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目标源码</a:t>
            </a:r>
          </a:p>
        </p:txBody>
      </p:sp>
      <p:sp>
        <p:nvSpPr>
          <p:cNvPr id="8" name="e008_48 机制 / 20 组合&#10;12 世界 / 13 学习阶段">
            <a:extLst xmlns:a="http://schemas.openxmlformats.org/drawingml/2006/main">
              <a:ext uri="{FF2B5EF4-FFF2-40B4-BE49-F238E27FC236}">
                <a16:creationId xmlns:a16="http://schemas.microsoft.com/office/drawing/2014/main" id="{B781D439-4CAE-46E9-BE51-5C9A03ED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40856"/>
            <a:ext cx="3168650" cy="62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48 机制 / 20 组合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12 世界 / 13 学习阶段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17475B44-E250-4300-9C0E-71A8685F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34290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128197C7-8EBF-49CD-8571-9CF6EBAC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381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CA07D613-0079-427B-827C-5CE640D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428875"/>
            <a:ext cx="34544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2" name="e012_Typed IR">
            <a:extLst xmlns:a="http://schemas.openxmlformats.org/drawingml/2006/main">
              <a:ext uri="{FF2B5EF4-FFF2-40B4-BE49-F238E27FC236}">
                <a16:creationId xmlns:a16="http://schemas.microsoft.com/office/drawing/2014/main" id="{BC49AC7F-A231-4444-8818-B1BDFC8C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2571750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Typed IR</a:t>
            </a:r>
          </a:p>
        </p:txBody>
      </p:sp>
      <p:sp>
        <p:nvSpPr>
          <p:cNvPr id="13" name="e013_未来研究计算图&#10;类型、依赖与权限">
            <a:extLst xmlns:a="http://schemas.openxmlformats.org/drawingml/2006/main">
              <a:ext uri="{FF2B5EF4-FFF2-40B4-BE49-F238E27FC236}">
                <a16:creationId xmlns:a16="http://schemas.microsoft.com/office/drawing/2014/main" id="{1F23BBBD-C976-470E-95FB-750D8561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675" y="3040856"/>
            <a:ext cx="3168650" cy="62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未来研究计算图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类型、依赖与权限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0265F634-86F3-4B07-AB3D-D3265831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34290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931A3284-6B2C-4390-B2FC-167EF7E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381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D57EEF78-FB96-4D5B-B035-325379DD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428875"/>
            <a:ext cx="34544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7" name="e017_任务 DAG">
            <a:extLst xmlns:a="http://schemas.openxmlformats.org/drawingml/2006/main">
              <a:ext uri="{FF2B5EF4-FFF2-40B4-BE49-F238E27FC236}">
                <a16:creationId xmlns:a16="http://schemas.microsoft.com/office/drawing/2014/main" id="{B2CF4FC3-F6FB-41EA-B5E4-6197C62B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2571750"/>
            <a:ext cx="316865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任务 DAG</a:t>
            </a:r>
          </a:p>
        </p:txBody>
      </p:sp>
      <p:sp>
        <p:nvSpPr>
          <p:cNvPr id="18" name="e018_当前生产调度&#10;文件 owner 与回执">
            <a:extLst xmlns:a="http://schemas.openxmlformats.org/drawingml/2006/main">
              <a:ext uri="{FF2B5EF4-FFF2-40B4-BE49-F238E27FC236}">
                <a16:creationId xmlns:a16="http://schemas.microsoft.com/office/drawing/2014/main" id="{1D2803BF-1CA9-43E8-8DA0-764347A4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75" y="3040856"/>
            <a:ext cx="3168650" cy="62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当前生产调度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文件 owner 与回执</a:t>
            </a:r>
          </a:p>
        </p:txBody>
      </p:sp>
      <p:sp>
        <p:nvSpPr>
          <p:cNvPr id="19" name="e019_研究计算图 ≠ 产物生产任务图">
            <a:extLst xmlns:a="http://schemas.openxmlformats.org/drawingml/2006/main">
              <a:ext uri="{FF2B5EF4-FFF2-40B4-BE49-F238E27FC236}">
                <a16:creationId xmlns:a16="http://schemas.microsoft.com/office/drawing/2014/main" id="{3461082E-4376-42BA-89EA-0A40551A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研究计算图 ≠ 产物生产任务图</a:t>
            </a:r>
          </a:p>
        </p:txBody>
      </p:sp>
      <p:sp>
        <p:nvSpPr>
          <p:cNvPr id="20" name="e020_源码准备与静态检查不推出模型研究结果">
            <a:extLst xmlns:a="http://schemas.openxmlformats.org/drawingml/2006/main">
              <a:ext uri="{FF2B5EF4-FFF2-40B4-BE49-F238E27FC236}">
                <a16:creationId xmlns:a16="http://schemas.microsoft.com/office/drawing/2014/main" id="{3BC1223A-2A3B-45C2-9902-11039DEE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源码准备与静态检查不推出模型研究结果</a:t>
            </a:r>
          </a:p>
        </p:txBody>
      </p:sp>
    </p:spTree>
    <p:extLst>
      <p:ext uri="{BB962C8B-B14F-4D97-AF65-F5344CB8AC3E}">
        <p14:creationId xmlns:p14="http://schemas.microsoft.com/office/powerpoint/2010/main" val="19420432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001_最终问题：交流能否创造新的认知可能">
            <a:extLst xmlns:a="http://schemas.openxmlformats.org/drawingml/2006/main">
              <a:ext uri="{FF2B5EF4-FFF2-40B4-BE49-F238E27FC236}">
                <a16:creationId xmlns:a16="http://schemas.microsoft.com/office/drawing/2014/main" id="{9901CE7A-3C42-4379-A1D1-53AC6D2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62A25"/>
                </a:solidFill>
                <a:latin typeface="Noto Serif CJK SC"/>
                <a:ea typeface="Noto Serif CJK SC"/>
                <a:cs typeface="Noto Serif CJK SC"/>
              </a:rPr>
              <a:t>最终问题：交流能否创造新的认知可能</a:t>
            </a:r>
          </a:p>
        </p:txBody>
      </p:sp>
      <p:sp>
        <p:nvSpPr>
          <p:cNvPr id="2" name="e002_从交换已有知识，走向产生新的表达与学习方式">
            <a:extLst xmlns:a="http://schemas.openxmlformats.org/drawingml/2006/main">
              <a:ext uri="{FF2B5EF4-FFF2-40B4-BE49-F238E27FC236}">
                <a16:creationId xmlns:a16="http://schemas.microsoft.com/office/drawing/2014/main" id="{66E3A4EF-BE8F-419A-B585-5E0CDB5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49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从交换已有知识，走向产生新的表达与学习方式</a:t>
            </a:r>
          </a:p>
        </p:txBody>
      </p:sp>
      <p:sp>
        <p:nvSpPr>
          <p:cNvPr id="3" name="e003_polyline">
            <a:extLst xmlns:a="http://schemas.openxmlformats.org/drawingml/2006/main">
              <a:ext uri="{FF2B5EF4-FFF2-40B4-BE49-F238E27FC236}">
                <a16:creationId xmlns:a16="http://schemas.microsoft.com/office/drawing/2014/main" id="{308D7E86-5E09-4191-9AA7-FA723F3B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ECDBF"/>
            </a:solidFill>
            <a:prstDash val="solid"/>
          </a:ln>
        </p:spPr>
      </p:sp>
      <p:sp>
        <p:nvSpPr>
          <p:cNvPr id="4" name="e004_前沿机制提案 / 无模型实测">
            <a:extLst xmlns:a="http://schemas.openxmlformats.org/drawingml/2006/main">
              <a:ext uri="{FF2B5EF4-FFF2-40B4-BE49-F238E27FC236}">
                <a16:creationId xmlns:a16="http://schemas.microsoft.com/office/drawing/2014/main" id="{FE9FAA3A-A75F-431E-89D2-CC346944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前沿机制提案 / 无模型实测</a:t>
            </a:r>
          </a:p>
        </p:txBody>
      </p:sp>
      <p:sp>
        <p:nvSpPr>
          <p:cNvPr id="5" name="e005_12 / 12">
            <a:extLst xmlns:a="http://schemas.openxmlformats.org/drawingml/2006/main">
              <a:ext uri="{FF2B5EF4-FFF2-40B4-BE49-F238E27FC236}">
                <a16:creationId xmlns:a16="http://schemas.microsoft.com/office/drawing/2014/main" id="{0B05ABBC-13F2-4ACA-81CF-04B489BD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45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258"/>
                </a:solidFill>
                <a:latin typeface="Noto Sans CJK SC"/>
                <a:ea typeface="Noto Sans CJK SC"/>
                <a:cs typeface="Noto Sans CJK SC"/>
              </a:rPr>
              <a:t>12 / 12</a:t>
            </a:r>
          </a:p>
        </p:txBody>
      </p:sp>
      <p:sp>
        <p:nvSpPr>
          <p:cNvPr id="6" name="e006_rect">
            <a:extLst xmlns:a="http://schemas.openxmlformats.org/drawingml/2006/main">
              <a:ext uri="{FF2B5EF4-FFF2-40B4-BE49-F238E27FC236}">
                <a16:creationId xmlns:a16="http://schemas.microsoft.com/office/drawing/2014/main" id="{93B29EDD-A0AB-4686-8A11-BB4958A7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4EAD9"/>
          </a:solidFill>
          <a:ln xmlns:a="http://schemas.openxmlformats.org/drawingml/2006/main" w="19050">
            <a:solidFill>
              <a:srgbClr val="536647"/>
            </a:solidFill>
            <a:prstDash val="solid"/>
          </a:ln>
        </p:spPr>
      </p:sp>
      <p:sp>
        <p:nvSpPr>
          <p:cNvPr id="7" name="e007_概念">
            <a:extLst xmlns:a="http://schemas.openxmlformats.org/drawingml/2006/main">
              <a:ext uri="{FF2B5EF4-FFF2-40B4-BE49-F238E27FC236}">
                <a16:creationId xmlns:a16="http://schemas.microsoft.com/office/drawing/2014/main" id="{CD82F6E1-8695-45CA-93D5-FB39C6D7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86125"/>
            <a:ext cx="21907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536647"/>
                </a:solidFill>
                <a:latin typeface="Noto Sans CJK SC"/>
                <a:ea typeface="Noto Sans CJK SC"/>
                <a:cs typeface="Noto Sans CJK SC"/>
              </a:rPr>
              <a:t>概念</a:t>
            </a:r>
          </a:p>
        </p:txBody>
      </p:sp>
      <p:sp>
        <p:nvSpPr>
          <p:cNvPr id="8" name="e008_新谓词">
            <a:extLst xmlns:a="http://schemas.openxmlformats.org/drawingml/2006/main">
              <a:ext uri="{FF2B5EF4-FFF2-40B4-BE49-F238E27FC236}">
                <a16:creationId xmlns:a16="http://schemas.microsoft.com/office/drawing/2014/main" id="{DA0B762F-E360-4978-A8FB-BA4E5DEE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90950"/>
            <a:ext cx="2190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新谓词</a:t>
            </a:r>
          </a:p>
        </p:txBody>
      </p:sp>
      <p:sp>
        <p:nvSpPr>
          <p:cNvPr id="9" name="e009_polyline">
            <a:extLst xmlns:a="http://schemas.openxmlformats.org/drawingml/2006/main">
              <a:ext uri="{FF2B5EF4-FFF2-40B4-BE49-F238E27FC236}">
                <a16:creationId xmlns:a16="http://schemas.microsoft.com/office/drawing/2014/main" id="{513CB32D-CC9D-4BC2-89C5-323F5EDD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781425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0" name="e010_polyline">
            <a:extLst xmlns:a="http://schemas.openxmlformats.org/drawingml/2006/main">
              <a:ext uri="{FF2B5EF4-FFF2-40B4-BE49-F238E27FC236}">
                <a16:creationId xmlns:a16="http://schemas.microsoft.com/office/drawing/2014/main" id="{CF57DC0D-A177-47C3-AF34-4E38877F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1" name="e011_rect">
            <a:extLst xmlns:a="http://schemas.openxmlformats.org/drawingml/2006/main">
              <a:ext uri="{FF2B5EF4-FFF2-40B4-BE49-F238E27FC236}">
                <a16:creationId xmlns:a16="http://schemas.microsoft.com/office/drawing/2014/main" id="{9A88C6DB-8A8B-4E75-830B-ADC3B736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432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0DDD1"/>
          </a:solidFill>
          <a:ln xmlns:a="http://schemas.openxmlformats.org/drawingml/2006/main" w="19050">
            <a:solidFill>
              <a:srgbClr val="9C5138"/>
            </a:solidFill>
            <a:prstDash val="solid"/>
          </a:ln>
        </p:spPr>
      </p:sp>
      <p:sp>
        <p:nvSpPr>
          <p:cNvPr id="12" name="e012_问题">
            <a:extLst xmlns:a="http://schemas.openxmlformats.org/drawingml/2006/main">
              <a:ext uri="{FF2B5EF4-FFF2-40B4-BE49-F238E27FC236}">
                <a16:creationId xmlns:a16="http://schemas.microsoft.com/office/drawing/2014/main" id="{EE83872F-D256-464D-A2D9-EDAC6A35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86125"/>
            <a:ext cx="21907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3" name="e013_解关系">
            <a:extLst xmlns:a="http://schemas.openxmlformats.org/drawingml/2006/main">
              <a:ext uri="{FF2B5EF4-FFF2-40B4-BE49-F238E27FC236}">
                <a16:creationId xmlns:a16="http://schemas.microsoft.com/office/drawing/2014/main" id="{700A7C5C-507D-4612-91DB-E9D85052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90950"/>
            <a:ext cx="2190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解关系</a:t>
            </a:r>
          </a:p>
        </p:txBody>
      </p:sp>
      <p:sp>
        <p:nvSpPr>
          <p:cNvPr id="14" name="e014_polyline">
            <a:extLst xmlns:a="http://schemas.openxmlformats.org/drawingml/2006/main">
              <a:ext uri="{FF2B5EF4-FFF2-40B4-BE49-F238E27FC236}">
                <a16:creationId xmlns:a16="http://schemas.microsoft.com/office/drawing/2014/main" id="{B763CD04-6205-4B4D-A71C-951D031F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81425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5" name="e015_polyline">
            <a:extLst xmlns:a="http://schemas.openxmlformats.org/drawingml/2006/main">
              <a:ext uri="{FF2B5EF4-FFF2-40B4-BE49-F238E27FC236}">
                <a16:creationId xmlns:a16="http://schemas.microsoft.com/office/drawing/2014/main" id="{FEC0B899-9DCF-46A8-9AF4-9C5F4BFA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7338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16" name="e016_rect">
            <a:extLst xmlns:a="http://schemas.openxmlformats.org/drawingml/2006/main">
              <a:ext uri="{FF2B5EF4-FFF2-40B4-BE49-F238E27FC236}">
                <a16:creationId xmlns:a16="http://schemas.microsoft.com/office/drawing/2014/main" id="{ED21BDB1-2D97-4F7F-A7E3-AE91CB62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9EA"/>
          </a:solidFill>
          <a:ln xmlns:a="http://schemas.openxmlformats.org/drawingml/2006/main" w="19050">
            <a:solidFill>
              <a:srgbClr val="496974"/>
            </a:solidFill>
            <a:prstDash val="solid"/>
          </a:ln>
        </p:spPr>
      </p:sp>
      <p:sp>
        <p:nvSpPr>
          <p:cNvPr id="17" name="e017_学习">
            <a:extLst xmlns:a="http://schemas.openxmlformats.org/drawingml/2006/main">
              <a:ext uri="{FF2B5EF4-FFF2-40B4-BE49-F238E27FC236}">
                <a16:creationId xmlns:a16="http://schemas.microsoft.com/office/drawing/2014/main" id="{D882B807-0911-4AE4-832D-D17CDB22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86125"/>
            <a:ext cx="21907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496974"/>
                </a:solidFill>
                <a:latin typeface="Noto Sans CJK SC"/>
                <a:ea typeface="Noto Sans CJK SC"/>
                <a:cs typeface="Noto Sans CJK SC"/>
              </a:rPr>
              <a:t>学习</a:t>
            </a:r>
          </a:p>
        </p:txBody>
      </p:sp>
      <p:sp>
        <p:nvSpPr>
          <p:cNvPr id="18" name="e018_更新规则">
            <a:extLst xmlns:a="http://schemas.openxmlformats.org/drawingml/2006/main">
              <a:ext uri="{FF2B5EF4-FFF2-40B4-BE49-F238E27FC236}">
                <a16:creationId xmlns:a16="http://schemas.microsoft.com/office/drawing/2014/main" id="{3D1BAD8C-6CBB-4703-8812-6E7C4E68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90950"/>
            <a:ext cx="2190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更新规则</a:t>
            </a:r>
          </a:p>
        </p:txBody>
      </p:sp>
      <p:sp>
        <p:nvSpPr>
          <p:cNvPr id="19" name="e019_polyline">
            <a:extLst xmlns:a="http://schemas.openxmlformats.org/drawingml/2006/main">
              <a:ext uri="{FF2B5EF4-FFF2-40B4-BE49-F238E27FC236}">
                <a16:creationId xmlns:a16="http://schemas.microsoft.com/office/drawing/2014/main" id="{18B19839-F493-419B-B5EC-611ACC15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781425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0" name="e020_polyline">
            <a:extLst xmlns:a="http://schemas.openxmlformats.org/drawingml/2006/main">
              <a:ext uri="{FF2B5EF4-FFF2-40B4-BE49-F238E27FC236}">
                <a16:creationId xmlns:a16="http://schemas.microsoft.com/office/drawing/2014/main" id="{198CEB36-E896-41F7-BBA3-96DF153E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338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0"/>
                </a:moveTo>
                <a:lnTo>
                  <a:pt x="11430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258"/>
            </a:solidFill>
            <a:prstDash val="solid"/>
          </a:ln>
        </p:spPr>
      </p:sp>
      <p:sp>
        <p:nvSpPr>
          <p:cNvPr id="21" name="e021_rect">
            <a:extLst xmlns:a="http://schemas.openxmlformats.org/drawingml/2006/main">
              <a:ext uri="{FF2B5EF4-FFF2-40B4-BE49-F238E27FC236}">
                <a16:creationId xmlns:a16="http://schemas.microsoft.com/office/drawing/2014/main" id="{754544FC-7BB2-4C53-89B8-086EFD60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432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9E1EC"/>
          </a:solidFill>
          <a:ln xmlns:a="http://schemas.openxmlformats.org/drawingml/2006/main" w="19050">
            <a:solidFill>
              <a:srgbClr val="725D7C"/>
            </a:solidFill>
            <a:prstDash val="solid"/>
          </a:ln>
        </p:spPr>
      </p:sp>
      <p:sp>
        <p:nvSpPr>
          <p:cNvPr id="22" name="e022_世界">
            <a:extLst xmlns:a="http://schemas.openxmlformats.org/drawingml/2006/main">
              <a:ext uri="{FF2B5EF4-FFF2-40B4-BE49-F238E27FC236}">
                <a16:creationId xmlns:a16="http://schemas.microsoft.com/office/drawing/2014/main" id="{340E5588-76FC-459E-996B-738C75DE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86125"/>
            <a:ext cx="21907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725D7C"/>
                </a:solidFill>
                <a:latin typeface="Noto Sans CJK SC"/>
                <a:ea typeface="Noto Sans CJK SC"/>
                <a:cs typeface="Noto Sans CJK SC"/>
              </a:rPr>
              <a:t>世界</a:t>
            </a:r>
          </a:p>
        </p:txBody>
      </p:sp>
      <p:sp>
        <p:nvSpPr>
          <p:cNvPr id="23" name="e023_可执行动力学">
            <a:extLst xmlns:a="http://schemas.openxmlformats.org/drawingml/2006/main">
              <a:ext uri="{FF2B5EF4-FFF2-40B4-BE49-F238E27FC236}">
                <a16:creationId xmlns:a16="http://schemas.microsoft.com/office/drawing/2014/main" id="{B221C2FA-1E79-40E8-9803-DC412D47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90950"/>
            <a:ext cx="2190750" cy="313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62A25"/>
                </a:solidFill>
                <a:latin typeface="Noto Sans CJK SC"/>
                <a:ea typeface="Noto Sans CJK SC"/>
                <a:cs typeface="Noto Sans CJK SC"/>
              </a:rPr>
              <a:t>可执行动力学</a:t>
            </a:r>
          </a:p>
        </p:txBody>
      </p:sp>
      <p:sp>
        <p:nvSpPr>
          <p:cNvPr id="24" name="e024_可操作的认知对象">
            <a:extLst xmlns:a="http://schemas.openxmlformats.org/drawingml/2006/main">
              <a:ext uri="{FF2B5EF4-FFF2-40B4-BE49-F238E27FC236}">
                <a16:creationId xmlns:a16="http://schemas.microsoft.com/office/drawing/2014/main" id="{471C3646-DA3A-41D4-AA28-89FB34C0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572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9C5138"/>
                </a:solidFill>
                <a:latin typeface="Noto Serif CJK SC"/>
                <a:ea typeface="Noto Serif CJK SC"/>
                <a:cs typeface="Noto Serif CJK SC"/>
              </a:rPr>
              <a:t>可操作的认知对象</a:t>
            </a:r>
          </a:p>
        </p:txBody>
      </p:sp>
      <p:sp>
        <p:nvSpPr>
          <p:cNvPr id="25" name="e025_研究命题：交流能否扩展系统能够表达、提问和学习的对象集合？">
            <a:extLst xmlns:a="http://schemas.openxmlformats.org/drawingml/2006/main">
              <a:ext uri="{FF2B5EF4-FFF2-40B4-BE49-F238E27FC236}">
                <a16:creationId xmlns:a16="http://schemas.microsoft.com/office/drawing/2014/main" id="{5018A30C-2E72-4CD0-81E1-BEE7EEC4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54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9C5138"/>
                </a:solidFill>
                <a:latin typeface="Noto Sans CJK SC"/>
                <a:ea typeface="Noto Sans CJK SC"/>
                <a:cs typeface="Noto Sans CJK SC"/>
              </a:rPr>
              <a:t>研究命题：交流能否扩展系统能够表达、提问和学习的对象集合？</a:t>
            </a:r>
          </a:p>
        </p:txBody>
      </p:sp>
    </p:spTree>
    <p:extLst>
      <p:ext uri="{BB962C8B-B14F-4D97-AF65-F5344CB8AC3E}">
        <p14:creationId xmlns:p14="http://schemas.microsoft.com/office/powerpoint/2010/main" val="1217801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2026-10-24T17:08:46.0320000Z</dcterms:created>
  <dcterms:modified xsi:type="dcterms:W3CDTF">2026-10-24T17:08:46.0320000Z</dcterms:modified>
</coreProperties>
</file>